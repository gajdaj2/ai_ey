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Lst>
  <p:notesMasterIdLst>
    <p:notesMasterId r:id="rId10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notesMaster" Target="notesMasters/notesMaster1.xml"/><Relationship Id="rId110" Type="http://schemas.openxmlformats.org/officeDocument/2006/relationships/presProps" Target="presProps.xml"/><Relationship Id="rId111" Type="http://schemas.openxmlformats.org/officeDocument/2006/relationships/viewProps" Target="viewProps.xml"/><Relationship Id="rId112" Type="http://schemas.openxmlformats.org/officeDocument/2006/relationships/theme" Target="theme/theme1.xml"/><Relationship Id="rId1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Witam na dwudniowych warsztatach. Przez dwa dni przejdziemy pełną ścieżkę: od tego, jak w ogóle działa model językowy, aż po wdrożenie produkcyjnego systemu agentowego. To są warsztaty hands-on — każda sekcja kończy się labem, kod znajdziecie w repozytorium. Nie zakładam, że jesteście ekspertami od ML; zakładam, że umiecie programować w Pythonie i chcecie budować realne aplikacje na LLM. Cel jest praktyczny: po tych dwóch dniach macie umieć samodzielnie zaprojektować, zbudować i wdrożyć aplikację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Pięć konkretnych rezultatów. Pierwsze — zrozumienie wewnętrznego działania LLM, żeby nie traktować modelu jak czarnej skrzynki, tylko świadomie nim sterować. Drugie — prompt engineering, który realnie podnosi jakość odpowiedzi. Trzecie — własny, działający system RAG. Czwarte — agenci, czyli systemy, które same decydują, jakich narzędzi użyć. I piąte, często pomijane na szkoleniach: aspekty produkcyjne — monitoring, koszty, bezpieczeństwo. Bez tego nawet najlepszy prototyp nie trafi na produkcję.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 wygląda mapa drogowa. Dzień pierwszy to fundamenty: jak działa model, jak z nim rozmawiać przez prompty i jak podpiąć mu narzędzia przez function calling. Dzień drugi to budowanie: RAG, agenci w LangChain i LangGraph oraz produkcja. Rdzeniem drugiego dnia są agenci — poświęcimy im najwięcej czasu, bo to dziś najszybciej rozwijający się obszar. Po każdej dużej sekcji jest lab; łącznie cztery praktyczne ćwiczenia.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jest prosty: krótka teoria, potem od razu kod. Wszystko, co pokazuję na slajdach, jest też w repozytorium — w każdym katalogu labu znajdziecie README, kod startowy i gotowe rozwiązanie. Pytajcie na bieżąco, przerywajcie; to ma być dyskusja. Do labów potrzebny będzie klucz API — OpenAI albo Anthropic. Jeśli ktoś nie chce płacić za tokeny, pokażę też wariant z modelem lokalnym na Ollamie.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Zaczynamy od fundamentów. Żeby świadomie budować na modelach językowych, warto rozumieć, skąd one się wzięły i jak działają w środku. Nie będziemy wyprowadzać wzorów — zależy mi na intuicji inżynierskiej: dlaczego transformer wygrał, czym jest uwaga i co tak naprawdę robi model, gdy generuje tekst.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Zacznijmy od definicji, bo wokół LLM narosło dużo mitów. LLM to sieć neuronowa, której jedyne zadanie treningowe brzmi: przewiduj następny token. Brzmi trywialnie, ale właśnie z tej zasady, przy odpowiedniej skali, wyłaniają się zdolności emergentne — tłumaczenie, rozumowanie, programowanie. Kluczowa świadomość: model nie ma bazy danych faktów w środku. Ma nauczony rozkład prawdopodobieństwa nad słownictwem. To wyjaśnia jednocześnie jego siłę i jego słabości — halucynacje czy datę odcięcia wiedzy. Zapamiętajcie to zdanie, bo będzie wracać przy RAG i przy bezpieczeństwie.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Krótka historia, bo ona tłumaczy obecny stan. Najpierw były sieci rekurencyjne — RNN i LSTM — przetwarzające tekst słowo po słowie. Problem: przetwarzanie sekwencyjne jest wolne i model gubi długie zależności. W 2015 dołożono mechanizm uwagi jako dodatek do seq2seq. Przełom przyszedł w 2017 z pracą „Attention is all you need" — okazało się, że rekurencję można w ogóle wyrzucić i zostawić samą uwagę. To dało transformer, a na nim zbudowano całą erę LLM: BERT, GPT, Claude, Gemini. Każdy krok usuwał wąskie gardło poprzedniego.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Dlaczego porzucono RNN? Trzy fundamentalne problemy. Po pierwsze, przetwarzanie sekwencyjne — słowo po słowie — nie da się zrównoleglić, a to zabójcze przy treningu na bilionach tokenów. Po drugie, zanikający gradient: im dłuższa zależność, tym trudniej ją nauczyć. Po trzecie, całe znaczenie zdania trzeba ścisnąć w jeden wektor stanu — to wąskie gardło. Transformer rozwiązuje wszystkie trzy: przetwarza całą sekwencję równolegle, a uwaga pozwala dowolnym dwóm pozycjom połączyć się bezpośrednio, niezależnie od odległości. Dlatego skaluje się tak dobrze.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Warto docenić wagę tej jednej publikacji. W 2017 zespół z Google opublikował pracę o przewrotnym tytule „Uwaga to wszystko, czego potrzebujesz". Pokazali architekturę bez jednej warstwy rekurencyjnej — zbudowaną wyłącznie na mechanizmie uwagi i prostych warstwach feed-forward. To z tej architektury wyrosło praktycznie wszystko, czego dziś używamy: GPT, BERT, Claude, Gemini, Llama. Jeśli mielibyście przeczytać jedną pracę z NLP, to właśnie tę.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Spójrzmy na transformer od góry, w czterech krokach. Najpierw tekst jest tokenizowany — dzielony na sub-słowa, gdzie każde dostaje numer ze słownika. Potem każdy token zamieniany jest na wektor — embedding — i dokładamy informację o pozycji, bo sama uwaga nie wie, co było wcześniej a co później. Następnie sekwencja przechodzi przez wiele bloków: w każdym jest self-attention i warstwa feed-forward. Na końcu głowica wyjściowa zwraca rozkład prawdopodobieństwa nad całym słownikiem. I z tego rozkładu losujemy następny token. To jest cała maszyna.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Teraz serce transformera — uwaga. Intuicja jest taka: każdy token może spojrzeć na wszystkie inne i zdecydować, które są dla niego istotne. Klasyczny przykład: słowo „bank" — czy chodzi o instytucję, czy o brzeg rzeki? Token „bank" zwraca uwagę na „rzeki" i ujednoznacznia sens. Mechanicznie: każdy token tworzy trzy wektory — Query, czyli czego szukam, Key, czyli czym jestem, i Value, czyli co wnoszę. Dopasowujemy Query do wszystkich Key, dostajemy wagi, i robimy ważoną sumę Value. Wynik to nowa reprezentacja tokenu, już kontekstowa. Multi-head oznacza, że robimy to wielokrotnie równolegle — różne głowice łapią różne relacje.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Pokażę esencję w kilku linijkach — to nie jest kod produkcyjny, tylko destylacja idei. Liczymy iloczyn skalarny Query z wszystkimi Key — to mówi, jak bardzo każdy token pasuje do każdego. Dzielimy przez pierwiastek z wymiaru, żeby ustabilizować skalę. Przepuszczamy przez softmax — dostajemy wagi sumujące się do jedności. I na końcu mnożymy te wagi przez Value. To wszystko. W prawdziwym modelu dochodzą macierze, wiele głowic i maskowanie, ale serce mechanizmu to dosłownie te trzy operacje: dot-product, skalowanie, softmax.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Dwie rzeczy o wejściu modelu, które mają bezpośrednie konsekwencje praktyczne. Po pierwsze tokenizacja: model nie widzi liter ani słów, tylko tokeny — numery ze słownika sub-słów. Częste słowa to jeden token, rzadkie dzielone są na fragmenty. Po drugie embeddingi: każdy token zamieniany jest na gęsty wektor o setkach albo tysiącach wymiarów. Dlaczego to ważne w praktyce? Bo liczycie i płacicie za tokeny, nie za słowa. I uwaga — polski jest „droższy" tokenowo niż angielski, bo gorzej pokryty w słownikach. To realnie wpływa na koszty i na to, ile kontekstu się zmieści.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Jak model faktycznie generuje odpowiedź? To proces autoregresyjny — token po tokenie. Dajemy prompt jako tokeny wejściowe. Model robi forward pass i zwraca rozkład prawdopodobieństwa nad całym słownikiem. Wybieramy — samplujemy — jeden token. Doklejamy go do wejścia i powtarzamy całą procedurę dla następnego. I tak w pętli, aż padnie token końca albo limit długości. To dlatego odpowiedzi „strumieniują się" słowo po słowie i dlatego dłuższe odpowiedzi kosztują więcej — każdy token to osobny przebieg przez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są wasze pokrętła sterowania generacją — warto je znać, bo to często różnica między dobrą a złą odpowiedzią. Temperature to losowość: zero daje odpowiedzi deterministyczne, świetne do ekstrakcji danych; wyższe wartości — kreatywność. Top-p i top-k to dwa sposoby ograniczania puli kandydatów. Max-tokens to twardy limit długości, a więc i kosztu. Stop to sekwencje, na których generacja się urywa — przydatne przy structured outputs. A penalty zniechęcają model do zapętlania się. Reguła kciuka: zadania faktograficzne i ekstrakcja — temperatura nisko; pisanie kreatywne — wyżej.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Zanim przejdziemy do konkretnych modeli — kilka trendów, które definiują rynek w latach 2024–2026. Po pierwsze, eksplozja okien kontekstu: jeszcze niedawno kilka tysięcy tokenów, dziś setki tysięcy, a w niektórych modelach miliony. Po drugie, multimodalność stała się standardem — model rozumie obraz, audio, wideo, nie tylko tekst. Po trzecie, modele rozumujące, które przed odpowiedzią prowadzą długi wewnętrzny łańcuch myśli. I bardzo istotny trend: modele open-weight realnie dogoniły własnościowe, co zmienia kalkulację „budować czy kupować". Plus spadające koszty i renesans małych, wyspecjalizowanych modeli.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Druga sekcja: przegląd krajobrazu modeli. Celowo nie będę recytował benchmarków, bo zdezaktualizują się szybciej, niż skończymy warsztaty. Zamiast tego skupimy się na tym, jak myśleć o wyborze modelu: kiedy własnościowy, kiedy open-source, kiedy duży, a kiedy mały. To decyzja architektoniczna, nie tylko techniczna.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Pierwszy podział: własnościowe za API kontra open-source. Modele własnościowe — GPT, Claude, Gemini — dają najwyższą jakość z półki i zero utrzymania infrastruktury. Płacicie za token, ale dane wychodzą do dostawcy, chyba że macie wariant enterprise albo zero data retention. Open-source — Llama, Qwen, Mistral — daje pełną kontrolę: deployment we własnej chmurze albo on-prem, dane zostają u was, dowolny fine-tuning. Cena? Potrzebujecie GPU i kompetencji MLOps. W bankowości czy ochronie zdrowia ten drugi argument — dane zostają u nas — często przeważa. To nie jest wybór techniczny, to wybór ryzyka i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Krótko o głównych graczach. OpenAI — rodzina GPT-4 to wszechstronne modele czatu, dobre do generacji, kodu, analizy, z multimodalnością. Osobno seria „o", modele rozumujące, które przed odpowiedzią prowadzą długi wewnętrzny łańcuch myśli — sprawdzają się w matematyce, logice, trudnym kodzie, ale są wolniejsze i droższe. Z perspektywy inżyniera aplikacji najważniejsze jest dojrzałe API function calling i JSON mode — to fundament, na którym budujemy narzędzia i agentów. Pamiętajcie, że konkretne nazwy modeli zmieniają się co kilka miesięcy — patrzcie do dokumentacji.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Claude — modele z mocnym rozumowaniem i bardzo dobrą pracą z kodem, długim kontekstem i wyraźnym naciskiem na bezpieczeństwo, co w sektorze regulowanym ma znaczenie. Bardzo dobrze radzą sobie z analizą obszernych dokumentów i w scenariuszach agentowych. Google Gemini — natywna multimodalność, bardzo długie okna kontekstu i integracja z ekosystemem Google. W praktyce różnice między czołowymi modelami są dziś mniejsze niż dwa lata temu — często ważniejsze są cena, latencja i to, gdzie trafiają dane, niż drobne różnice w benchmarkach.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 stronie open-weight najważniejsza jest Llama od Mety — nie dlatego, że zawsze najlepsza, ale dlatego, że ma największy ekosystem: narzędzia, fine-tuny, dokumentację. Qwen od Alibaby to bardzo silne modele wielojęzyczne z dobrymi wariantami kodowymi i multimodalnymi. DeepSeek pokazał mocne rozumowanie przy zaskakująco niskim koszcie. Mistral — lekkie, wydajne modele europejskie, w tym warianty Mixture-of-Experts. Gemma od Google — małe modele idealne do lokalnego uruchamiania. A do uruchomienia tego wszystkiego lokalnie macie Ollamę, a serwerowo vLLM. To istotne dla labów — można je robić bez płacenia za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Multimodalność to dziś nie ciekawostka, tylko realne narzędzie aplikacyjne. Vision pozwala analizować obrazy, diagramy, zrzuty ekranu, robić OCR dokumentów — w praktyce zastępuje całe pipeline'y do przetwarzania dokumentów. Audio to transkrypcja i rozmowa głosowa. Wideo to rozumienie scen i streszczanie nagrań. Najciekawsze jest łączenie modalności w jednym zapytaniu: „popatrz na ten wykres i wyciągnij z niego dane do tabeli JSON". To otwiera klasy aplikacji, które jeszcze niedawno wymagały kilku osobnych systemów.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Najważniejsza decyzja inżynierska w tej sekcji: dobór modelu do zadania. Różnica kosztu między modelem flagowym a małym to często rząd wielkości albo więcej. A prawda jest taka, że spora część zadań — klasyfikacja, ekstrakcja, proste streszczenia — świetnie wychodzi na tańszym modelu. Dlatego dojrzałe systemy stosują routing: trudne zapytania idą do modelu flagowego, proste do małego. Patrzcie na trzy osie naraz — jakość, koszt i latencję — i, co najważniejsze, mierzcie na własnych danych, nie zgadujcie. Tani model, który załatwia osiemdziesiąt procent ruchu, potrafi zredukować rachunek dziesięciokrotnie.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Skoro mówimy o kosztach — oto mentalny cennik, czyli co realnie napędza rachunek. Tokeny wejścia: długie prompty kosztują, więc skracajcie kontekst. Tokeny wyjścia są zwykle droższe od wejścia, więc ograniczajcie max-tokens i proście o zwięzłość. Wybór modelu — wspomniany rząd wielkości. Okno kontekstu — nie wrzucajcie całej bazy do promptu, od tego jest RAG. I liczba wywołań — to pułapka agentów, które potrafią zrobić kilkanaście wywołań na jedno zapytanie użytkownika. Stąd caching, batching i twarde limity pętli. Sam caching promptu potrafi obciąć koszty powtarzalnych zapytań o kilkadziesiąt procent.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koniec tej sekcji apel o zdrowy sceptycyzm wobec benchmarków. Po pierwsze, benchmarki bywają „przeciekane" — zbiory testowe trafiają do danych treningowych i wyniki są zawyżone. Po drugie i ważniejsze: wasze zadanie to nie benchmark. Model świetny w MMLU może być przeciętny w waszym konkretnym use-case. Dlatego najlepsza rada z całych warsztatów: zbudujcie własny, mały zestaw ewaluacyjny — dziesięć do pięćdziesięciu reprezentatywnych przypadków z waszej domeny — i testujcie modele na nim. To zajmuje pół dnia, a oszczędza miesiące. I powtarzajcie ewaluację, bo modele i ceny zmieniają się błyskawicznie.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Wchodzimy w prompt engineering — i celowo nazywam tę sekcję „zaawansowaną", bo podstawy znacie. Chcę pokazać techniki, które realnie podnoszą jakość: jak zmusić model do rozumowania krok po kroku, jak wymusić ustrukturyzowane wyjście, jak rozbić trudne zadanie na łańcuch promptów. To najtańszy sposób na poprawę jakości — nie wymaga fine-tuningu, tylko lepszego formułowania zadania.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Zacznijmy od anatomii. Dobry prompt to nie zaklęcie, tylko jasna struktura. Pięć elementów: rola i kontekst — kim jest model i w jakiej sytuacji działa. Zadanie — precyzyjne, jeden cel naraz; rozmyte zadania dają rozmyte odpowiedzi. Dane wejściowe wyraźnie oddzielone od instrukcji, na przykład znacznikami albo sekcjami — to też pierwsza linia obrony przed prompt injection. Format wyjścia określony dokładnie. I ograniczenia plus przykłady. Jeśli zapamiętacie jedno: bądźcie konkretni co do formatu wyjścia. To najczęstsza przyczyna „model nie robi tego, co chcę".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Najprostsza dźwignia jakości: pokaż przykłady. Zero-shot to sama instrukcja, bez przykładów — działa dla prostych zadań. Few-shot to dołożenie jednego do pięciu wzorcowych przykładów wejście-wyjście. Multi-shot to więcej przykładów, gdy chcemy mocno ustabilizować format. Kluczowa intuicja: przykłady pokazują modelowi format i styl skuteczniej niż akapit opisu. Jeśli walczycie z tym, żeby model trzymał format, zwykle szybciej dołożyć dwa dobre przykłady niż pisać kolejne zdanie instrukcji. Ważne, żeby przykłady były reprezentatywne — w tym przypadki brzegowe.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Pierwsza technika rozumowania: Chain of Thought. Zamiast prosić od razu o odpowiedź, prosimy model, żeby „pomyślał na głos" — rozpisał kroki. To brzmi banalnie, ale dla zadań logicznych i matematycznych potrafi drastycznie podnieść trafność. Najprostszy wariant to dopisanie „Pomyśl krok po kroku". Na slajdzie widzicie przykład: model rozpisuje równanie, dochodzi do wyniku, a my prosimy o wyraźne oznaczenie ostatecznej odpowiedzi, żeby łatwo ją sparsować. Koszt: dłuższe wyjście, więcej tokenów. Ale dla trudnych zadań to się opłaca.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 of Thoughts to rozwinięcie CoT. Zamiast jednego łańcucha rozumowania budujemy drzewo: model generuje kilka wariantów następnego kroku, ocenia je i rozwija najlepszy. To przypomina przeszukiwanie przestrzeni rozwiązań i sprawdza się w planowaniu czy łamigłówkach, gdzie pojedyncza ścieżka łatwo prowadzi w ślepy zaułek. Cena jest wysoka — to wiele wywołań modelu na jedno zadanie. Dlatego w praktyce stosujcie ToT wybiórczo, tam gdzie zwykły CoT zawodzi. Dla większości zadań aplikacyjnych to przerost formy nad treścią.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to wzorzec, który spina rozumowanie z działaniem — i to fundament wszystkiego, co będziemy robić z agentami drugiego dnia. Cykl jest taki: Thought, czyli model planuje, co zrobić; Action, czyli wywołuje narzędzie, na przykład wyszukiwarkę albo kalkulator; Observation, czyli czyta wynik tego narzędzia; i powtarza. Myśl, działaj, obserwuj, znowu myśl — aż dojdzie do odpowiedzi. Zapamiętajcie ten schemat, bo gdy będziemy budować agenta w LangChain, zobaczycie dokładnie tę pętlę w logach. ReAct to most między „model, który tylko gada" a „model, który coś robi".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prompt to wasze główne narzędzie sterowania zachowaniem modelu. To trwałe „zasady gry": rola, ton, granice, domyślny format. Jest oddzielony od wiadomości użytkownika, co ma podwójne znaczenie — po pierwsze, nie musicie powtarzać reguł w każdym pytaniu; po drugie, to tu definiujecie politykę bezpieczeństwa aplikacji. Na przykładzie: asystent prawny banku, który odpowiada po polsku, jest ostrożny, przyznaje się do niepewności i nigdy nie udziela porad inwestycyjnych. To ostatnie zdanie to realna reguła compliance zaszyta w prompt. Dobrze napisany system prompt to często różnica między zabawką a produktem.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outputs to jedna z najważniejszych technik dla aplikacji produkcyjnych. Problem: model domyślnie zwraca prozę, a wy potrzebujecie danych. Rozwiązanie: wymuszacie dokładny schemat — w Pythonie najwygodniej przez Pydantic. Definiujecie klasę, na przykład Faktura z numerem, kwotą i terminem, przekazujecie ją jako format wyjścia, a w odpowiedzi dostajecie już zwalidowany obiekt, nie tekst do parsowania regexem. To eliminuje całą klasę błędów produkcyjnych. Zapamiętajcie: gdy budujecie cokolwiek, co integruje się z innym systemem, zaczynajcie od structured outputs. To też fundament function callingu, do którego zaraz przejdziemy.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chaining to zasada „dziel i zwyciężaj" zastosowana do promptów. Zamiast jednego gigantycznego promptu, który ma zrobić wszystko, rozbijamy zadanie na łańcuch kroków, gdzie wyjście jednego jest wejściem następnego. Na przykładzie: najpierw ekstrakcja faktów z tekstu, potem transformacja, potem weryfikacja spójności, na końcu złożenie wyniku. Każdy prompt robi jedną rzecz dobrze, jest łatwy do przetestowania i debugowania. To też tańsze, bo do prostych kroków możecie użyć mniejszego modelu. Reguła: jeśli prompt ma więcej niż dwa-trzy zadania, prawdopodobnie warto go rozbić.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Skoro przykłady są tak skuteczne, kilka praktycznych zasad, jak je dobierać. Najważniejsze: jakość bije ilość. Dwa przemyślane przykłady są lepsze niż dziesięć przypadkowych. Pokazujcie przypadki brzegowe — to one psują produkcję, nie te łatwe. Trzymajcie dokładnie ten format wyjścia, którego oczekujecie, bo model go skopiuje. Przy klasyfikacji balansujcie klasy, żeby nie zasugerować jednej „domyślnej" odpowiedzi. I technika zaawansowana: dynamiczny few-shot — zamiast stałych przykładów dobieracie je przez retrieval, wyszukując przypadki podobne do bieżącego zapytania. To łączy prompt engineering z RAG, o którym jutro.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Przejdźmy do zastosowań, bo prompt engineering ma sens dopiero w kontekście realnych zadań. Pierwsza grupa: ekstrakcja i klasyfikacja. Klasyfikacja — kategoryzacja zgłoszeń, rozpoznawanie intencji, sentyment, zawsze z zamkniętym, jasno podanym zbiorem etykiet. Ekstrakcja — faktury, umowy, maile zamieniane na ustrukturyzowany JSON ze schematem. To chleb powszedni aplikacji biznesowych. Klucz to połączenie niskiej temperatury, structured outputs i walidacji Pydantic, która odrzuca niepoprawne wyjścia i pozwala na retry z poprawką. Te dwa zadania to często najszybszy zwrot z inwestycji w LLM w firmie.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Druga grupa zastosowań: kod i dokumenty. Generowanie kodu — szkielety, testy, refaktoryzacja — działa najlepiej, gdy damy modelowi jasny kontekst i ograniczenia, na przykład styl, bibliotekę, wersję języka. Code review — model jako drugi recenzent wyłapujący błędy, podatności i antywzorce; nie zastępuje człowieka, ale podnosi poprzeczkę. I analiza dokumentów — streszczenia, ekstrakcja klauzul, pytania i odpowiedzi nad treścią. To ostatnie jest naturalnym mostem do RAG, bo gdy dokumentów jest dużo, nie zmieścicie ich w promptcie i trzeba je wyszukiwać. Jutro to rozwiniemy.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Kontrola outputu to umiejętność, której nie da się nauczyć z książki — jest empiryczna. Złota zasada: jeśli output nie jest taki, jak chcecie, to prawie zawsze problem promptu, nie modelu. Iterujcie: uruchom, zobacz, co poszło nie tak, dopnij regułę. Wymuszajcie format twardo — schemat plus walidacja plus retry, gdy model się nie zmieści. Sterujcie długością i stylem wprost: „maksymalnie trzy zdania", „zwróć tylko kod, bez komentarza". A gdy model uporczywie nie słucha jakiejś reguły, przenieście ją do system promptu i dodajcie przykład — to zwykle rozwiązuje sprawę. To są te „negocjacje z modelem" z agendy.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Zbierzmy antywzorce, bo łatwiej zapamiętać, czego nie robić. Po lewej typowe błędy: wiele zadań upchanych w jeden mglisty prompt; brak określonego formatu wyjścia; sprzeczne instrukcje w stylu „krótko, ale wyczerpująco" — model nie wie, co wybrać; zlanie danych z instrukcjami w jeden blok, co dodatkowo otwiera furtkę na injection; i założenie, że model domyśli się kontekstu. Po prawej lekarstwa: jeden prompt, jedno zadanie; dokładny schemat wyjścia; spójne reguły; wyraźne oddzielenie danych od instrukcji; i podawanie kontekstu wprost. Model jest świetny, ale nie czyta w myślach.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Pierwszy lab. Cel: zbudować niezawodny ekstraktor danych z maili reklamacyjnych do JSON ze schematem. Cztery kroki: napiszcie system prompt z rolą i formatem opartym na Pydantic; dodajcie dwa-trzy przykłady few-shot, koniecznie z przypadkami brzegowymi; zastosujcie structured outputs i walidację z obsługą retry; i na koniec porównajcie wyniki dla temperatury zero i temperatury 0.7 na pięciu przykładach, żeby zobaczyć różnicę na własne oczy. Kod startowy i dane są w katalogu labs/01. Macie około trzydziestu, czterdziestu minut. Wołajcie, jak coś nie działa.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Ostatnia sekcja dnia pierwszego i jednocześnie pomost do agentów. Function calling to mechanizm, dzięki któremu model przestaje być tylko generatorem tekstu, a zaczyna „robić rzeczy" — odpytywać API, czytać bazę, liczyć. To technicznie najważniejszy koncept przed agentami, bo agent to w gruncie rzeczy model w pętli function callingu z dostępem do narzędzi.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 co modelowi narzędzia? Bo model sam z siebie nie ma dostępu do aktualnych danych ani nie wykonuje akcji w świecie. Nie zna dzisiejszego kursu waluty, nie odczyta waszej bazy, nie wyśle maila. Narzędzia to zmieniają. Kluczowe i często mylone: model nie wykonuje funkcji. Model jedynie decyduje, że trzeba ją wywołać, i podaje argumenty — w ustrukturyzowanej formie. To wasz kod faktycznie wykonuje funkcję i zwraca wynik, z którego model komponuje odpowiedź. Zauważcie, że to dokładnie wzorzec ReAct ze slajdu wcześniej, tylko opakowany w API: model myśli, prosi o akcję, dostaje obserwację.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Przepływ w czterech krokach. Krok pierwszy: opisujecie modelowi dostępne narzędzia — nazwę, opis i schemat argumentów. Krok drugi: model dostaje pytanie użytkownika i decyduje, czy i które narzędzie wywołać oraz z jakimi argumentami; zwraca to jako ustrukturyzowane żądanie, nie jako tekst. Krok trzeci: wasz kod wykonuje tę funkcję — to wy kontrolujecie, co się faktycznie dzieje. Krok czwarty: oddajecie wynik modelowi, a on komponuje finalną odpowiedź. I uwaga: ta pętla może się powtórzyć. Model może poprosić o kolejne narzędzie po obejrzeniu pierwszego wyniku. To właśnie zalążek agenta.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Zobaczmy, jak zdefiniować narzędzie. Trzy elementy: nazwa, opis i schemat argumentów w formacie JSON Schema. Na przykładzie narzędzie „kurs_waluty" z jednym argumentem — symbolem waluty. Zwróćcie szczególną uwagę na opis. To nie jest komentarz dla programisty — to instrukcja dla modelu. Model czyta opis i na jego podstawie decyduje, kiedy użyć narzędzia. Dlatego dobry opis mówi nie tylko co narzędzie robi, ale też kiedy go użyć — tu: „użyj, gdy pytanie dotyczy przeliczeń walutowych". Im lepszy opis, tym trafniejszy wybór. Opis narzędzia to po prostu kolejny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macie pełną pętlę end-to-end, bo to wzorzec, który będziecie pisać dziesiątki razy. Pierwsze wywołanie modelu z listą narzędzi. Model może zwrócić żądania wywołań funkcji. Iterujecie po nich: parsujecie argumenty, wykonujecie odpowiednią funkcję w waszym kodzie, i dołączacie wynik z powrotem do historii wiadomości jako „function_call_output". Potem drugie wywołanie modelu — teraz, mając wyniki narzędzi, komponuje finalną odpowiedź. Zapamiętajcie ten rytm: wywołaj, wykonaj zwrócone funkcje, dołącz wyniki, wywołaj ponownie. Gdy obudujecie to pętlą while, dostaniecie agenta. Frameworki jak LangChain robią to za was, ale warto raz napisać ręcznie, żeby rozumieć, co się dzieje pod spodem.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 function calling to optymalizacja, którą warto znać. Model potrafi w jednym kroku poprosić o kilka niezależnych wywołań naraz. Klasyczny przykład: „jaka pogoda w Gdańsku i w Krakowie" — model zwraca dwa wywołania tego samego narzędzia. Zamiast robić je po kolei, wykonujecie je współbieżnie, przez asyncio albo wątki, i zwracacie wszystkie wyniki jednocześnie. To realnie skraca latencję przy zadaniach z wieloma niezależnymi krokami. Jeden warunek: równolegle puszczajcie tylko to, co faktycznie niezależne. Jeśli wynik jednego wywołania jest argumentem drugiego, muszą iść sekwencyjnie.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Niezawodność function callingu to cztery rzeczy, które oddzielają demo od produkcji. Po pierwsze, walidujcie argumenty — model bywa kreatywny i poda symbol waluty, którego nie ma; sprawdźcie typy i zakresy przed wykonaniem. Po drugie, gdy coś pójdzie nie tak, zwracajcie modelowi czytelny komunikat błędu, a nie wyjątek — model potrafi wtedy spróbować inaczej. Po trzecie, narzędzia z efektami ubocznymi — wysłanie maila, zapis do bazy — obudujcie uprawnieniami: whitelisty, limity, potwierdzenia użytkownika. I po czwarte, twardy limit liczby kroków pętli, który chroni przed zapętleniem i niekontrolowanymi kosztami. To wraca przy agentach ze zdwojoną siłą.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Drugi lab — i mój ulubiony, bo buduje fundament pod cały dzień drugi. Cel: zbudować mini-agenta z dwoma narzędziami, kursem waluty i kalkulatorem, w czystym SDK, bez frameworka. Cztery kroki: zdefiniujcie dwa narzędzia ze schematami; napiszcie pętlę wywołanie-wykonanie-ponowne wywołanie; dodajcie walidację argumentów i twardy limit kroków; i przetestujcie zapytanie wymagające obu narzędzi, na przykład „przelicz 100 euro na złotówki i dodaj 50". Gdy to zadziała, zrozumiecie agentów lepiej niż z niejednego tutoriala o frameworkach. Katalog labs/02, około czterdziestu minut.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Podsumujmy dzień pierwszy. Po pierwsze, rozumiecie już, jak działa LLM od środka — transformer, tokeny, autoregresja, parametry generacji. Po drugie, umiecie sterować modelem przez zaawansowane prompty — CoT, ReAct, structured outputs. Po trzecie, potraficie podłączyć modelowi narzędzia przez function calling i zbudować pętlę wykonania. To jest dokładnie fundament, na którym jutro zbudujemy realne aplikacje: system RAG i agentów w LangChain oraz LangGraph. Dziękuję za dziś, świetna robota — do zobaczenia jutro.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Dzień dobry, dzień drugi. Wczoraj zbudowaliśmy fundament — dziś budujemy na nim realne aplikacje. Plan: szybko przez narzędzia Pythonowe i frameworki, potem solidnie RAG, a następnie najobszerniejsza część całych warsztatów — agenci w LangChain i LangGraph. Na koniec aspekty produkcyjne. Tempo będzie żwawsze niż wczoraj, bo więcej kodu i więcej labów. Zaczynamy.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dnia w pięciu blokach. Najpierw Python dla AI — środowiska, SDK, zarządzanie kluczami. Potem frameworki — Streamlit do błyskawicznego prototypu i FastAPI do produkcji. Następnie RAG, czyli jak dać modelowi dostęp do waszej wiedzy. Potem rdzeń dnia — agenci: LangChain, narzędzia, LangGraph, systemy wieloagentowe, pamięć. I na końcu produkcja: monitoring, koszty, bezpieczeństwo, wdrożenie. Każdy blok kończy się labem albo demem. Lecimy.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Krótki, ale ważny blok narzędziowy. Nie będę uczył Pythona — zakładam, że go znacie. Pokażę tylko higienę pracy z projektami AI: jak izolować środowiska, jakie SDK instalować i, co najważniejsze, jak nie wyciec kluczem API. To ostatnie to nie teoria — klucze regularnie lądują w publicznych repozytoriach.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Środowiska — trzy opcje. venv to standard wbudowany w Pythona; lekki, wystarcza w większości projektów aplikacyjnych. conda przydaje się, gdy macie zależności natywne albo CUDA, dlatego jest popularna w czystym ML. A uv to nowy, bardzo szybki menedżer pakietów — instalacja i lockowanie zależności w sekundach zamiast minut; coraz częściej zastępuje pip i venv. Najważniejsza zasada, niezależnie od narzędzia: każdy projekt w osobnym, izolowanym środowisku. Nigdy globalnie. To oszczędza godziny debugowania konfliktów wersji.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Stos aplikacji AI stoi na trzech filarach. Pierwszy: SDK dostawców — openai i anthropic — dające bezpośredni dostęp do modeli. Drugi: warstwa orkiestracji — langchain i langgraph — która spina modele, narzędzia i pamięć. Trzeci: infrastruktura aplikacji — chromadb do wektorów, fastapi i streamlit do interfejsu. Na slajdzie macie komplet komend, tu akurat z uv. Jedna rada produkcyjna: trzymajcie wersje w pliku lock. Ekosystem LLM zmienia API częściej niż przeciętna biblioteka i aktualizacja „w ciemno" potrafi popsuć działający kod z dnia na dzień.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slajd, którego nie wolno pominąć, bo dotyczy realnych incydentów. Klucz API to hasło — daje dostęp do płatnej usługi na wasz rachunek. Zasady: nigdy w kodzie, nigdy w repozytorium. Lokalnie trzymajcie klucz w pliku .env, który jest w .gitignore. W kodzie wczytujcie go ze zmiennej środowiskowej, na przykład przez python-dotenv. Na produkcji — secret manager, nie plik. Rotujcie klucze i ograniczajcie uprawnienia. I ostrzeżenie z życia: klucz wrzucony do publicznego repo bywa wykorzystany w ciągu minut, bo boty skanują GitHub na bieżąco. To nie hipoteza, to codzienność.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Dwa frameworki, które pokrywają większość potrzeb interfejsowych w aplikacjach AI: Streamlit do błyskawicznego prototypu z UI oraz FastAPI do produkcyjnego API. To narzędzia komplementarne — pokażę, kiedy sięgać po który.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Streamlit to najszybsza droga od pomysłu do klikalnego demo. Piszecie czysty Python — żadnego HTML ani JavaScriptu — a dostajecie działający interfejs webowy. Na slajdzie kompletny czat z modelem w kilkunastu linijkach. To idealne narzędzie na proof of concept, na pokazanie pomysłu biznesowi, na wewnętrzne narzędzia dla zespołu. Ograniczenie: Streamlit przelicza skrypt od góry przy każdej interakcji, więc do dużego ruchu produkcyjnego się nie nadaje. Ale do prototypu i demo — bezkonkurencyjny. Wiele projektów zaczyna życie jako aplikacja Streamlit i to jest dobry wzorzec.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to z kolei standard backendu produkcyjnego dla usług AI w Pythonie. Jest asynchroniczny, szybki, a dzięki Pydantic daje kontrakt wejścia i wyjścia z walidacją za darmo. Bonus: automatyczna dokumentacja w standardzie OpenAPI, czyli interaktywny Swagger bez pisania. Na slajdzie minimalne API czatu: definiujecie model wejścia, endpoint asynchroniczny, zwracacie odpowiedź jako JSON. Zauważcie async — przy usługach, które głównie czekają na odpowiedź modelu, asynchroniczność drastycznie podnosi przepustowość. To jest framework, na którym zbudujecie realny serwis.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Jak wybrać? Streamlit wybieracie, gdy potrzebujecie interfejsu „na wczoraj" — proof of concept, demo dla zarządu, narzędzie wewnętrzne dla małej grupy, i gdy nie chcecie pisać frontendu. FastAPI wybieracie, gdy budujecie usługę dla innych systemów — gdy front, aplikacja mobilna albo inny backend ma się z wami integrować — i gdy potrzebujecie skali, wydajności, asynchroniczności i autentykacji. Częsty, zdrowy wzorzec: prototyp w Streamlit, a gdy pomysł się sprawdzi, logikę przenosicie za FastAPI i podpinacie pod właściwy frontend. Jedno nie wyklucza drugiego.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 Retrieval-Augmented Generation. To jedna z najważniejszych technik w całych warsztatach, bo rozwiązuje dwa kluczowe problemy LLM naraz: brak wiedzy o waszych danych i halucynacje. Pomysł jest prosty: zanim zapytacie model, wyszukajcie odpowiednie fragmenty z waszej bazy wiedzy i podajcie je w kontekście. Model odpowiada na podstawie dostarczonych dokumentów, a nie tylko swojej pamięci. Przejdziemy to od architektury, przez konkretny kod, po techniki zaawansowane.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Dlaczego RAG, a nie fine-tuning? Cztery powody. Po pierwsze, RAG daje modelowi dostęp do waszej, aktualnej i prywatnej wiedzy bez dotykania samego modelu. Po drugie, redukuje halucynacje, bo model odpowiada na podstawie konkretnych źródeł, które mu daliście. Po trzecie — i to bywa decydujące w bankowości — umożliwia cytowanie źródeł, więc odpowiedź jest weryfikowalna. Po czwarte, jest tańszy i szybszy niż dotrenowywanie, zwłaszcza gdy dane się zmieniają. Kluczowa konsekwencja operacyjna: aktualizacja wiedzy to aktualizacja bazy dokumentów, a nie kosztowny retrening. Dlatego RAG jest dziś domyślnym wyborem dla aplikacji opartych na wiedzy.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Architektura RAG dzieli się na dwie fazy. Faza offline, raz albo cyklicznie: bierzecie dokumenty, tniecie je na fragmenty, każdy fragment zamieniacie na embedding i zapisujecie w bazie wektorowej. To indeksacja. Faza online, przy każdym pytaniu: zamieniacie pytanie użytkownika na embedding, wyszukujecie w bazie najbardziej podobne fragmenty — to retrieval — a potem doklejacie te fragmenty do promptu razem z pytaniem i prosicie model o odpowiedź, najlepiej z cytatami. Te cztery kroki to cały RAG. Reszta dzisiejszej sekcji to ulepszanie każdego z nich, bo diabeł tkwi w szczegółach każdego etapu.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Krok pierwszy pipeline'u — ładowanie i preprocessing, często niedoceniany, a decydujący o jakości. Loadery ujednolicają różne formaty — PDF, DOCX, HTML, strony, bazy — do czystego tekstu. Potem czyszczenie: usunięcie szumu jak powtarzalne nagłówki i stopki, normalizacja, ale z zachowaniem struktury dokumentu. I najważniejsze: metadane. Do każdego fragmentu dołączcie źródło, datę, sekcję, a w systemach korporacyjnych również uprawnienia. Metadane są kluczowe dla dwóch rzeczy: filtrowania wyników i cytowania źródeł. Zasada „garbage in, garbage out" obowiązuje tu bezwzględnie — kiepski preprocessing zabija najlepszy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Krok drugi — chunkowanie, czyli jak pociąć dokumenty na fragmenty. To ma ogromny wpływ na jakość, bo wyszukujecie i podajecie modelowi właśnie te kawałki. Dwie główne strategie. Recursive, znakowy: dzieli rekurencyjnie po akapitach, zdaniach, słowach, do zadanego rozmiaru, zwykle z zakładką między sąsiednimi fragmentami, żeby nie gubić kontekstu na granicy. Prosty, szybki, dobry punkt startu — ale potrafi rozciąć myśl w pół zdania. Semantic, znaczeniowy: tnie tam, gdzie zmienia się temat, wyznaczając granice na podstawie embeddingów. Daje spójniejsze fragmenty i lepszy retrieval, ale jest wolniejszy i droższy. Praktyka: zacznijcie od recursive, przejdźcie na semantic, gdy jakość tego wymaga.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Krok trzeci — embeddingi, czyli serce wyszukiwania semantycznego. Embedding zamienia tekst w wektor tak, że bliskość w przestrzeni oznacza podobieństwo znaczeniowe. „Pies" i „szczeniak" leżą blisko siebie, „pies" i „faktura" daleko. Dzięki temu wyszukujecie po znaczeniu, nie po dopasowaniu słów. Trzy praktyczne zasady. Po pierwsze, ten sam model embeddingowy musi indeksować dokumenty i odpytywać — inaczej wektory są nieporównywalne. Po drugie, wymiar i jakość modelu wpływają na trafność i koszt. Po trzecie, i to ważne dla nas: wybierajcie modele dobrze wspierające polski albo wielojęzyczne, bo część popularnych embeddingów jest zoptymalizowana pod angielski.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Krok czwarty — gdzie trzymać wektory. Dwie popularne opcje do nauki i prototypów. ChromaDB: bardzo przyjazny start, czyste API w Pythonie, metadane i filtrowanie od ręki, persistencja na dysku. Świetne na development i średnią skalę — i tego użyjemy w labie. FAISS od Mety to z kolei biblioteka indeksów do przybliżonego wyszukiwania najbliższych sąsiadów; ekstremalnie szybka, lekka, in-memory, skaluje się do ogromnych zbiorów, ale daje mniej wygód bazodanowych. W produkcji na dużą skalę spotkacie też rozwiązania jak pgvector czy dedykowane bazy wektorowe, ale zasada jest ta sama. Na warsztacie: Chroma, bo najszybciej zacząć.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teraz cały RAG w kilkunastu linijkach, żeby pokazać, że to nie jest skomplikowane. Tniemy dokumenty splitterem na fragmenty po osiemset znaków z zakładką sto dwadzieścia. Tworzymy bazę Chroma, podając model embeddingów — to indeksuje wszystko. Robimy retriever, który zwróci cztery najlepsze fragmenty. Przy zapytaniu: wyszukujemy kontekst, doklejamy go do promptu razem z pytaniem i wołamy model. To wszystko. Pięć kroków: podziel, osadź, wyszukaj, doklej, wygeneruj. To jest działający szkielet, który rozbudujecie w labie. Wszystko, co teraz pokażę, to ulepszanie poszczególnych etapów tego szkieletu.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Szkielet RAG ze slajdu wcześniej działa na demo, ale na produkcji naiwny RAG szybko zawodzi i warto wiedzieć dlaczego. Po pierwsze, samo wyszukiwanie wektorowe gubi dopasowania dokładne — numer umowy, kod błędu, nazwę własną; embedding rozmywa to, co powinno być dosłowne. Po drugie, zapytanie użytkownika bywa źle sformułowane. Po trzecie, top-k zwraca fragmenty podobne, ale niekoniecznie najtrafniejsze. Po czwarte, brak filtrowania po metadanych wpuszcza fragmenty z nie tych dokumentów. I po piąte — brak ewaluacji oznacza, że nie wiecie, czy model odpowiada z kontekstu, czy halucynuje. Trzy lekarstwa po prawej rozbierzemy po kolei: hybrid search, reranking i filtrowanie po metadanych.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Pierwsze lekarstwo: wyszukiwanie hybrydowe, czyli połączenie dwóch światów. Wyszukiwanie gęste, wektorowe, rozumie znaczenie — poradzi sobie z parafrazą, synonimem, pytaniem opisowym, ale gubi dokładne tokeny: numer umowy czy kod błędu mu się rozmywa. Wyszukiwanie rzadkie, BM25, to klasyka pełnotekstowa — łapie dokładne dopasowania, nazwy własne, symbole, ale nie rozumie synonimów. Hybryda łączy oba wyniki, najczęściej algorytmem Reciprocal Rank Fusion, i bierze to, co najlepsze z obu. W bankowości to kluczowe — pytania mieszają język naturalny z numerami umów i kodami produktów.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Drugie lekarstwo: reranking, czyli dwustopniowa selekcja. W pierwszym kroku wyszukujemy szeroko i tanio — bierzemy nie cztery, a na przykład dwadzieścia kandydatów bi-encoderem, czyli zwykłym wyszukiwaniem wektorowym. W drugim kroku przepuszczamy te dwadzieścia przez reranker — cross-encoder, który ocenia każdą parę pytanie–fragment osobno i znacznie dokładniej. Z tego wybieramy finalne cztery najtrafniejsze do promptu. To kosztuje trochę więcej, ale dramatycznie poprawia jakość. Gotowe rerankery to Cohere Rerank albo otwarte cross-encodery z biblioteki sentence-transformers.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Trzecie lekarstwo działa po stronie zapytania — bo często problemem nie jest baza, tylko źle sformułowane pytanie. Multi-query: model generuje trzy-cztery warianty tego samego pytania, wyszukujemy każdym i łączymy wyniki — zwiększa pokrycie. HyDE, hypothetical document embeddings: prosimy model, żeby napisał hipotetyczną odpowiedź, i wyszukujemy embeddingiem tej odpowiedzi, a nie pytania — zaskakująco często trafniej, bo odpowiedź jest semantycznie bliżej dokumentów niż pytanie. Dekompozycja rozbija złożone pytanie na podpytania. Step-back cofa się do pytania ogólniejszego. A zwykły rewriting przepisuje potoczne zapytanie na precyzyjne. To tanie techniki — jedno dodatkowe wywołanie modelu, a duży zysk.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Czwarte lekarstwo, często najtańsze i najbardziej niedoceniane: filtrowanie po metadanych. Przy indeksowaniu doklejcie do każdego fragmentu metadane — źródło, datę, dział, typ dokumentu, rok obowiązywania. Wtedy przy wyszukiwaniu zakładacie twardy filtr: szukaj tylko w dokumentach bankowości detalicznej z dwa tysiące dwudziestego piątego roku. To nie jest ranking miękki — to twarde odcięcie, które usuwa szum, zanim w ogóle zaczniecie liczyć podobieństwo. W praktyce bankowej, gdzie regulaminy mają wersje i daty obowiązywania, samo poprawne filtrowanie po dacie eliminuje większość błędnych odpowiedzi.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piąte: ewaluacja, bez której wszystkie poprzednie usprawnienia są strzelaniem na ślepo. Cztery metryki, które warto znać. Faithfulness — czy odpowiedź faktycznie wynika z kontekstu, czyli czy model nie zmyśla. Answer relevance — czy odpowiedź dotyczy pytania. Context precision — czy pobrane fragmenty są trafne, czyli ile szumu wpada do kontekstu. I context recall — czy pobraliśmy wszystko, co potrzebne, czy coś istotnego pominęliśmy. Narzędzia takie jak RAGAS czy ewaluacje w LangSmith liczą to półautomatycznie, ale fundament jest ten sam co wczoraj: zbudujcie mały złoty zestaw, dwadzieścia do pięćdziesięciu par pytanie–odpowiedź z waszej domeny, i mierzcie na nim każdą zmianę.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Trzeci lab — pełny, działający RAG. Cel: asystent, który odpowiada na pytania o zestaw PDF-ów i podaje źródła. Cztery kroki. Najpierw załadujcie dokumenty, potnijcie recursive splitterem i zaindeksujcie w ChromaDB. Potem zbudujcie retriever na cztery fragmenty i prosty łańcuch Q&amp;A z promptem opartym o pobrany kontekst. Następnie — i to ważne — dodajcie zwracanie źródeł, nazwę pliku i stronę, bo bez cytowań nikt w banku tej odpowiedzi nie zaufa. Kto skończy, robi rozszerzenie: multi-query albo reranking i porównuje jakość. Katalog labs slash zero-trzy, około pięćdziesięciu minut. To jest serce dzisiejszego dnia, więc nie spieszcie się.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jest największa i najważniejsza sekcja całych warsztatów — agenci. Wszystko, co robiliśmy do tej pory, prowadziło do tego momentu. Prompt engineering, function calling, RAG — to klocki. Agent to system, który sam decyduje, których klocków i w jakiej kolejności użyć, żeby osiągnąć cel. Przejdziemy od definicji, przez ReAct i narzędzia, przez LangGraph i pamięć, aż po systemy wieloagentowe, human-in-the-loop i wdrożenie produkcyjne. To sekcja, w której teoria spotyka się z realnym inżynierskim rzemiosłem.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Zacznijmy od precyzyjnej definicji, bo słowo „agent" jest dziś mocno nadużywane. Agent to LLM, który w pętli decyduje o kolejnym działaniu, aż osiągnie cel. Kluczowe są trzy rzeczy. Ma dostęp do narzędzi i sam wybiera, które i kiedy wywołać — to nie my piszemy if-y. Obserwuje wynik narzędzia i na tej podstawie planuje następny krok. I co najważniejsze: liczba kroków nie jest z góry znana — to model decyduje, kiedy ma dość informacji, żeby odpowiedzieć. Trzy słowa do zapamiętania: rozumuje, działa, obserwuje — w pętli. Jeśli tego nie ma, to nie jest agent, tylko łańcuch.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Najważniejsze rozróżnienie inżynierskie tej sekcji. Chain — to programista ustala stałą ścieżkę kroków; używamy, gdy zadanie jest znane i powtarzalne. Workflow — programista dodaje warunki i gałęzie, ale całość jest przewidywalna. Agent — to model dynamicznie, w pętli, decyduje o krokach; używamy, gdy ścieżki nie da się ustalić z góry. I teraz reguła kciuka, którą chcę, żebyście zapamiętali: jeśli potraficie narysować przepływ z góry na kartce — użyjcie chaina albo workflow, nie agenta. Agent jest droższy, wolniejszy i trudniejszy do kontroli. Sięgamy po niego dopiero, gdy naprawdę nie wiemy z góry, jak będzie wyglądać rozwiązanie.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Fundamentem działania agentów jest wzorzec ReAct — od reasoning plus acting. Pętla ma cztery fazy. Thought, myśl — model rozumuje na głos, czego potrzebuje, żeby odpowiedzieć. Action, działanie — wybiera konkretne narzędzie i argumenty. Observation, obserwacja — dostaje i czyta wynik tego narzędzia. I decyzja: jeśli ma dość informacji, formułuje odpowiedź; jeśli nie — wraca do fazy myśli i pętla się powtarza. To jest dokładnie ta pętla wywołanie-wykonanie-ponowne wywołanie, którą budowaliście ręcznie w drugim labie wczoraj. Frameworki agentowe automatyzują tę pętlę, ale mechanika jest identyczna.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LangChain tę pętlę realizuje komponent Agent Executor — to silnik agenta. Dostaje cel użytkownika, woła LLM, który decyduje: użyć narzędzia czy już zakończyć. Jeśli narzędzie — executor je wykonuje, zbiera wynik i wraca do modelu z tym wynikiem. I tak w kółko, aż model uzna, że ma odpowiedź, albo aż przekroczymy limit kroków. To ostatnie jest krytyczne produkcyjnie: Agent Executor pilnuje twardego limitu iteracji, żeby agent nie wpadł w nieskończoną pętlę i nie spalił budżetu na tokeny. Zawsze ustawiajcie max-iterations.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Zobaczmy, jak mało kodu trzeba na działającego agenta w LangChain. Tworzymy model z temperaturą zero, bo chcemy deterministycznych decyzji. Definiujemy listę narzędzi. Wołamy create-react-agent, podając model, narzędzia i prompt. Owijamy to w Agent Executor — i tu zwróćcie uwagę na dwa parametry, które nie są ozdobą, tylko bezpiecznikami produkcyjnymi. Max-iterations sześć: twardy limit pętli. Handle-parsing-errors: gdy model wypluje źle sformatowaną decyzję, executor to obsłuży zamiast się wywrócić. Na końcu invoke z pytaniem użytkownika i agent sam zdecyduje, czy i które narzędzie wywołać. To jest minimalny szkielet, który rozbudujecie w czwartym labie.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Czym agent może operować? Narzędzia dzielą się na kilka rodzin. Wyszukiwanie i RAG — dostęp do bazy wiedzy, dokumentów, sieci. Zapytania do baz — SQL, wewnętrzne API. Obliczenia — kalkulator, wykonanie kodu, analizy. Wykonanie kodu w sandboxie — potężne, ale wymaga izolacji. Akcje, które zmieniają stan świata — wysłanie maila, założenie ticketu, zapis do bazy; tu uwaga, bo to są działania nieodwracalne i wymagają kontroli. I wreszcie integracje przez MCP — Model Context Protocol — czyli zewnętrzne serwery narzędzi, temat, którym zajmuję się na co dzień. Dobór narzędzi to projektowanie zakresu możliwości agenta — im więcej, tym potężniejszy, ale i trudniejszy do okiełznania.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Najczęstsza rzecz, którą będziecie robić, to własne narzędzia. W LangChain to dosłownie jedna linijka dekoratora at-tool nad zwykłą funkcją Pythona. I teraz najważniejsze, co chcę, żebyście wynieśli: docstring i type hints to nie dokumentacja dla was — to instrukcja obsługi dla modelu. Model czyta opis w docstringu, żeby wiedzieć, kiedy użyć narzędzia, i czyta type hints, żeby wiedzieć, jakie argumenty podać. Dlatego docstring piszcie precyzyjnie, jakbyście tłumaczyli koledze, kiedy i jak tego użyć. Nazwa funkcji staje się nazwą narzędzia. I zwracajcie zwięzły, czytelny wynik — bo to wraca do kontekstu modelu i kosztuje tokeny.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Trzy sposoby definiowania narzędzi, w kolejności rosnącej kontroli. At-tool i StructuredTool — szybkie, deklaratywne; StructuredTool dodaje pełny schemat argumentów oparty o Pydantic, gdy narzędzie ma wiele parametrów. To pokrywa jakieś dziewięćdziesiąt procent przypadków i tu zostańcie tak długo, jak się da. BaseTool, czyli własna klasa — sięgacie po nią, gdy narzędzie potrzebuje stanu, inicjalizacji zasobów, połączenia z bazą trzymanego między wywołaniami, albo osobnych wersji synchronicznej i asynchronicznej. To opcja dla złożonych integracji produkcyjnych. Reguła: zaczynajcie od at-tool, wchodźcie w BaseTool tylko, gdy naprawdę potrzebujecie kontroli.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Executor jest wygodny, ale to czarna skrzynka — mało kontroli nad przepływem. Gdy potrzebujecie więcej, wchodzi LangGraph. Idea: modelujemy agenta jako graf. Węzły to kroki, krawędzie to przejścia, a wszystko dzieli wspólny stan. Cztery rzeczy, które LangGraph daje, a zwykły executor nie. Krawędzie warunkowe — przepływ zależy od wyniku węzła, jak instrukcja if w grafie. Cykle — agent może wracać do wcześniejszych węzłów, co naturalnie realizuje pętlę ReAct. Persistence i checkpointing — stan przeżywa restart, możecie pauzować i wznawiać. I wbudowany human-in-the-loop — zatrzymanie grafu, czekanie na decyzję człowieka, wznowienie. To jest framework, którego sam używam do produkcyjnych agentów.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Sercem LangGraph jest stan — wspólna pamięć robocza, którą widzą wszystkie węzły. Definiujemy go jako typowany słownik, TypedDict. Każdy węzeł dostaje stan, czyta go i zwraca aktualizację. Zwróćcie uwagę na adnotację add-messages przy polu messages — to specjalny reduktor, który mówi grafowi: nowe wiadomości dokładaj do listy, a nie nadpisuj. To dzięki niemu agent pamięta całą rozmowę. Reszta pól stanu jest dowolna — tu trzymam licznik kroków. Stan jest typowany, co daje jednocześnie dokumentację i bezpieczeństwo. To jest fundament, na którym budujemy węzły i krawędzie.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Mając stan, budujemy graf. Dodajemy węzły: węzeł agenta, który woła model, i węzeł narzędzi, który wykonuje wybrane narzędzia. Ustawiamy punkt wejścia na agenta. I teraz clou: krawędź warunkowa. Z węzła agenta funkcja decydująca patrzy na stan i kieruje przepływ — albo do narzędzi, albo do końca. A z węzła narzędzi krawędź wraca do agenta. Ten powrót tworzy cykl — i to jest pętla ReAct wyrażona jako graf. Na końcu kompilujemy graf, podając checkpointer, czyli mechanizm zapisu stanu. Zobaczcie, jak czytelny jest ten przepływ w porównaniu z czarną skrzynką executora — każde przejście jest jawne.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Persistence to cecha, która odróżnia zabawkę od systemu produkcyjnego. Checkpointer zapisuje stan grafu po każdym kroku — w pamięci na demo, w SQLite lub Postgresie na produkcji. Każda konwersacja ma swój thread-id, więc obsługujecie wiele równoległych sesji bez mieszania kontekstów. Gdy serwer się zrestartuje, nie gubicie rozmowy — wznawiacie z ostatniego checkpointu. Możecie nawet cofnąć czas, wrócić do wcześniejszego stanu i puścić agenta inną ścieżką — to nieoceniony debugowanie. I co najważniejsze: persistence to fundament pod dwie kolejne rzeczy — pamięć długotrwałą i human-in-the-loop, o których teraz.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Human-in-the-loop to mechanizm, bez którego nie wyobrażam sobie agenta w banku. Scenariusz: agent planuje akcję wrażliwą — przelew, zamknięcie rachunku, wysłanie pisma do klienta. Zamiast ją wykonać, graf zatrzymuje się na zaplanowanym przerwaniu, interrupt. Stan jest zapisany w checkpoincie, więc agent może czekać dowolnie długo. Człowiek dostaje propozycję i decyduje — zatwierdza, poprawia argumenty albo odrzuca. Po decyzji graf wznawia się dokładnie od miejsca przerwania. To pozwala oddać agentowi inicjatywę, zachowując ludzką kontrolę nad nieodwracalnymi działaniami. W regulowanym środowisku to nie luksus, to wymóg.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Pamięć agenta dzieli się na krótkotrwałą i długotrwałą. Cztery typy, które warto znać. Buffer trzyma pełną historię rozmowy — proste, ale na długich sesjach wysadza okno kontekstu. Window trzyma tylko ostatnie k wiadomości — dobre dla długich czatów, gdzie pilnujemy budżetu tokenów. Summary streszcza starszą część rozmowy i dokleja ostatnie wiadomości w pełnej formie — dla bardzo długich konwersacji. I vector store memory — najważniejszy dla pamięci długotrwałej: zapisuje fakty i wyszukuje je semantycznie, gdy są potrzebne. Reguła: pamięć krótkotrwała to kontekst bieżącej sesji, pamięć długotrwała to wiedza, która przeżywa między sesjami i mieszka w bazie wektorowej.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Gdy zadanie jest zbyt złożone dla jednego agenta, dzielimy je między wyspecjalizowanych agentów. Najpopularniejszy wzorzec to supervisor — agent-koordynator, który rozdziela zadania i zbiera wyniki. Pod nim pracują specjaliści: agent badawczy wyszukuje i streszcza, agent analityczny liczy i wyciąga wnioski, agent piszący składa finalną odpowiedź. Zaleta tego podejścia jest taka sama jak w architekturze mikroserwisów — każdy agent ma wąski, dobrze zdefiniowany zakres, prostszy prompt i mniejszy zestaw narzędzi, przez co jest bardziej niezawodny. Supervisor to mózg orkiestrujący. To naturalnie buduje się w LangGraph, bo każdy agent to po prostu węzeł grafu.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Kilka zaawansowanych wzorców, żebyście wiedzieli, co istnieje, gdy supervisor to za mało. Hierarchical to supervisorzy nad supervisorami — warstwy koordynacji dla bardzo złożonych domen. Handoffs to przekazywanie sterowania między agentami, dokładnie jak eskalacja w call center: agent pierwszej linii oddaje sprawę specjaliście. Plan-and-Execute to ważny wzorzec oszczędnościowy — agent najpierw układa plan kroków, a potem go wykonuje, zamiast improwizować na każdym kroku; mniej błądzenia, niższy koszt, łatwiej debugować. Reflexion, czyli self-reflection — agent krytykuje własny wynik i poprawia go w kolejnej iteracji, co podnosi jakość przy trudnych zadaniach. Ale przestroga, która wraca jak refren: każdy poziom złożoności to więcej wywołań, więcej kosztu i więcej punktów awarii. Złożoność dokładajcie tylko wtedy, gdy prostsze rozwiązanie udowodniło, że nie wystarcza.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to system rozproszony w czasie — robi wiele kroków, z których każdy może pójść nie tak. Bez obserwowalności debugujecie po omacku. LangSmith pokazuje pełny ślad każdego uruchomienia: każdy krok, każdy prompt, każde wywołanie narzędzia, z czasem i kosztem. Widzicie, dlaczego agent podjął daną decyzję — cały łańcuch myśli i obserwacji jest jak na dłoni. Znajdujecie wąskie gardła: który krok jest wolny, które narzędzie zawodzi. Widzicie koszt jednego requestu w tokenach i złotówkach. I możecie budować zestawy testowe oraz ewaluacje, żeby porównywać wersje agenta. To jest narzędzie numer jeden, które wdrażam zanim agent w ogóle dotknie produkcji.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Produkcyjny agent musi zakładać, że wszystko zawiedzie — bo zawiedzie. Narzędzia wołają zewnętrzne API, a te bywają wolne albo niedostępne. Cztery mechanizmy odporności. Retry z wykładniczym backoffem na błędy przejściowe — biblioteka tenacity robi to jednym dekoratorem, jak w przykładzie. Fallback — gdy główna ścieżka padnie, agent schodzi na prostszą, na przykład odpowiada z ostrzeżeniem zamiast się wywracać. Twarde limity — max-iterations i max-execution-time w executorze, żeby agent nie kręcił się w nieskończoność. Zasada jest brutalnie prosta: agent jest tak niezawodny, jak jego najsłabsze narzędzie. Projektujcie każde narzędzie na awarię, nie na szczęśliwą ścieżkę.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Cztery zastosowania agentów, które dziś realnie działają w firmach. Research Assistant — wyszukuje w wielu źródłach, streszcza i syntetyzuje raport z cytowaniami; oszczędza analitykowi godziny. Data Analysis — agent pisze kod Pythona, wykonuje go w sandboxie, analizuje dane i wyciąga wnioski; to demokratyzuje analizę dla osób nietechnicznych. Customer Service — odpowiada na pytania, sięga do systemów wewnętrznych po dane klienta i eskaluje do człowieka, gdy trzeba; tu human-in-the-loop jest kluczowy. I Code Generation — agent generuje kod, uruchamia testy, czyta błędy i naprawia w pętli, aż zadziała. Wspólny mianownik: wszędzie tam, gdzie zadanie wymaga wielu kroków i sięgania po narzędzia, a ścieżki nie da się ustalić z góry.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Jak wdrożyć agenta produkcyjnie. Pierwsza zasada: stan trzymajcie poza procesem — w Postgresie albo Redisie przez checkpointer, nigdy w pamięci workera, bo restart go zabije i nie zeskalujecie poziomo. Po drugie skalowanie: bezstanowe workery plus współdzielony checkpointer i kolejka — wtedy dokładacie workery dowolnie. Po trzecie asynchroniczność: agent potrafi pracować minutami, więc długie zadania puszczajcie przez kolejkę zadań, a nie synchroniczny request HTTP, który się timeoutuje. Integracja trójwarstwowa: REST API dla szybkich zapytań, kolejki dla zadań w tle, MCP dla podłączania narzędzi. I koniecznie limity per użytkownik — budżet tokenów, rate limiting, timeouty — bo jeden zapętlony agent potrafi wygenerować rachunek, który zapamiętacie.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Bezpieczeństwo agentów jest poważniejsze niż zwykłego chatbota, bo agent nie tylko mówi — on działa, zmienia stan świata. Pięć guardraili. Zasada najmniejszych uprawnień: agent dostaje wyłącznie narzędzia, których naprawdę potrzebuje — nie dawajcie mu dostępu do bazy produkcyjnej, jeśli wystarczy odczyt. Akcje nieodwracalne zawsze za zgodą człowieka. Walidacja argumentów narzędzi, bo model może podać wartość błędną albo — przy prompt injection — złośliwą. Sandbox dla wykonania kodu, z izolacją, bez dostępu do sieci i plików hosta. I filtrowanie wejścia oraz wyjścia pod kątem prompt injection i danych wrażliwych. W banku to jest różnica między pilotażem a katastrofą, więc traktujcie guardrails jako część projektu, nie dodatek na końcu.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Czwarty i ostatni lab — kulminacja całych warsztatów. Budujemy pełnego agenta w LangGraph, który łączy wszystko, czego się nauczyliśmy. Cztery kroki. Definiujemy stan jako TypedDict z add-messages oraz dwa narzędzia — retriever RAG z labu trzeciego i kalkulator z labu drugiego. Budujemy graf: węzeł agenta, węzeł narzędzi, krawędź warunkowa i cykl ReAct. Dodajemy checkpointer, żeby agent pamiętał rozmowę, i thread-id dla sesji. I na koniec dokładamy interrupt przed akcją wrażliwą oraz wznowienie po zatwierdzeniu przez człowieka. Po tym labie macie kompletny szkielet produkcyjnego agenta. To najdłuższy lab — około godziny — więc rozłóżcie siły i wołajcie, jak coś się zatnie.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Ostatnia sekcja — i ta, która odróżnia inżyniera od entuzjasty. Prototyp na laptopie potrafi zbudować dziś każdy. Sztuką jest postawić aplikację AI, która działa niezawodnie, jest tania, bezpieczna i obserwowalna. Przejdziemy przez monitoring, koszty, bezpieczeństwo i wreszcie złożymy to wszystko w plan budowy produkcyjnego mikroserwisu. To są tematy, na których codziennie skupiam się w Santanderze, więc będzie sporo praktyki z pola walki.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Cztery filary monitoringu aplikacji LLM. Pierwszy — ślady i logi: pełny przebieg każdego requestu, prompty, wywołania narzędzi, czasy; tu LangSmith albo Weights and Biases. Drugi — koszt i tokeny: zużycie w rozbiciu na request, użytkownika i endpoint, z alertami na anomalie, bo koszt LLM potrafi wybuchnąć z dnia na dzień. Trzeci — latencja i błędy: percentyle p pięćdziesiąt i p dziewięćdziesiąt pięć, rate błędów narzędzi i modelu, timeouty. I czwarty, najtrudniejszy — jakość odpowiedzi: feedback użytkowników w postaci kciuków, ewaluacje offline na złotym zestawie, i obserwacja dryfu jakości w czasie. Bo model się nie psuje sam, ale świat wokół niego się zmienia — i to widać tylko, jeśli mierzycie.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Optymalizacja kosztów — temat, który decyduje, czy projekt AI dostanie zielone światło na skalę. Pięć dźwigni, w kolejności wpływu. Routing modeli — najpotężniejsza: tani model do prostych zapytań, mocny tylko do trudnych; klasyfikator na wejściu potrafi obciąć rachunek o połowę. Prompt caching — powtarzalny kontekst, jak długie instrukcje czy dokumenty, cache'ujcie. Skracanie kontekstu — to znowu argument za RAG: nie wrzucajcie całej bazy do promptu, podajcie cztery trafne fragmenty. Ograniczanie wyjścia — max-tokens i prośba o zwięzłość, bo tokeny wyjścia są zwykle droższe od wejścia. I batching oraz twarde limity pętli agenta — to najczęstsze źródło niespodzianek na fakturze. Mierzcie koszt od pierwszego dnia, nie po pierwszym szoku.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Bezpieczeństwo — i zaczynamy od ataku numer jeden: prompt injection. Mechanizm: złośliwe instrukcje wstrzyknięte w dane wejściowe przejmują zachowanie modelu, bo model nie odróżnia z natury instrukcji od danych. Dwa warianty. Bezpośredni — użytkownik wpisuje wprost „zignoruj poprzednie instrukcje i zrób co innego". Pośredni, groźniejszy — instrukcja ukryta w dokumencie, mailu albo na stronie, którą agent czyta jako kontekst; ofiara nawet o tym nie wie. Przy agentach skutki są poważne: nieautoryzowane akcje, wyciek danych, eksfiltracja. Obrona jest warstwowa: oddzielajcie instrukcje od danych, walidujcie wejście, ograniczajcie uprawnienia agenta i — złota zasada — nigdy nie ufajcie treści pochodzącej z zewnątrz, traktujcie ją jak dane, nie jak polecenia.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Druga warstwa bezpieczeństwa to podstawowa higiena, na której łatwo się potknąć. Klucze API wyłącznie w zmiennych środowiskowych albo sekret managerze — nigdy w kodzie, nigdy w repozytorium; przypomnę wczorajszy apel o dot-env w gitignore. Rotacja kluczy i osobne klucze per środowisko, żeby wyciek z deva nie otwierał produkcji. Maskowanie PII przed wysłaniem do modelu — jeśli nie musicie wysyłać numeru PESEL do zewnętrznego API, anonimizujcie go. Sanityzacja wejścia i wyjścia — escapujcie to, co trafia do narzędzi i do interfejsu, żeby uniknąć wstrzyknięć i XSS. I uwaga na logi oraz tracing: bardzo łatwo nieświadomie zapisać sekret albo dane wrażliwe w śladzie LangSmith. To nuda, ale to ona przechodzi audyt.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Złóżmy to wszystko w jedną ścieżkę: od pomysłu do produkcji. Pięć etapów. Prototyp w notebooku lub skrypcie — najpierw udowodnijcie, że pomysł w ogóle działa na waszych danych, zanim cokolwiek zbudujecie. Usługa — owijacie logikę w FastAPI: endpoint, walidacja wejścia Pydantic, obsługa błędów, konfiguracja. Hardening — dokładacie to, o czym mówiliśmy: limity, retry, guardrails, sekrety w managerze, porządne logowanie. Konteneryzacja — Docker ze zmiennymi środowiskowymi i health-checkiem, żeby usługa była przenośna i skalowalna. I wreszcie deploy z monitoringiem — wdrożenie plus tracing, śledzenie kosztów, alerty i ewaluacje. Zauważcie, że samo „działa" to dopiero etap drugi z pięciu. Trzy ostatnie etapy to właśnie inżynieria, za którą wam płacą.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zamknięcie sekcji — praktyczny checklist, który możecie wydrukować i odhaczać przed każdym wdrożeniem. Sekrety poza kodem, klucze per środowisko, rotacja zapięta. Limity wszelkiego rodzaju — tokeny, iteracje, timeouty, rate limiting per użytkownik. Retry i fallback na każdym wywołaniu zewnętrznym, z łagodną degradacją zamiast twardego upadku. Pełna obserwowalność — tracing, logi bez PII, metryki kosztu i latencji, alerty. Guardrails — walidacja wejścia i wyjścia, sandbox, human-in-the-loop na akcje wrażliwe. I złoty zestaw ewaluacyjny z planem re-ewaluacji, bo dostawcy modeli aktualizują je pod spodem i wasza jakość może się zmienić bez ostrzeżenia. Jeśli odhaczycie te sześć punktów, śpicie spokojnie.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Zanim się pożegnamy — co dalej, żeby te dwa dni nie poszły w zapomnienie. Po pierwsze i najważniejsze: zbudujcie jeden realny projekt, najlepiej z waszej pracy. RAG nad firmowymi dokumentami albo agent do konkretnego procesu — cokolwiek, co rozwiązuje wasz prawdziwy problem. Wiedza ulatnia się w tydzień, jeśli jej nie użyjecie. Po drugie, pogłębcie LangGraph i ewaluację — to dwa obszary, które najszybciej odróżnią inżyniera od entuzjasty. Po trzecie, wejdźcie w bezpieczeństwo i MCP — to rosnące pole, na którym warto być wcześnie. I po czwarte, uczcie się w społeczności — dzielcie się, czytajcie cudzy kod, śledźcie zmiany, bo ten obszar zmienia się dosłownie co miesiąc. Najlepszy sposób na naukę to budować i pokazywać.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Wszystko, co dziś i wczoraj robiliśmy, zostaje z wami w repozytorium warsztatowym. Znajdziecie tam cztery laby, każdy z kodem startowym, gotowym rozwiązaniem i README po polsku. Lab pierwszy — ekstrakcja danych do JSON ze schematem. Lab drugi — mini-agent z narzędziami w czystym SDK, fundament pod resztę. Lab trzeci — RAG z Q&amp;A nad dokumentami i cytowaniem źródeł. Lab czwarty — pełny agent w LangGraph z pamięcią i human-in-the-loop. Do tego linki do dokumentacji LangChain, LangGraph i LangSmith, oraz ten deck jako referencja, do której będziecie wracać. Zachęcam, żebyście potraktowali repozytorium jako punkt startowy własnych projektów, a nie tylko materiał z kursu.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już koniec naszych dwóch dni. Przeszliśmy razem ogromną drogę: od tego, jak działa transformer, przez prompt engineering i function calling, przez RAG od podstaw po reranking, aż po agentów w LangGraph, systemy wieloagentowe i pełne wdrożenie produkcyjne. Mam nadzieję, że wychodzicie nie tylko z wiedzą, ale z konkretnym pomysłem, co zbudować w poniedziałek. Jeśli będziecie mieli pytania, utkniecie w projekcie albo zechcecie pogadać o współpracy — piszcie śmiało, kontakt macie na slajdzie. Dziękuję za uwagę, za świetne pytania i za energię przez te dwa dni. Powodzenia w budowaniu aplikacji AI — i do zobaczenia!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1.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1.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1.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1.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slideLayout" Target="../slideLayouts/slideLayout1.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slideLayout" Target="../slideLayouts/slideLayout1.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slideLayout" Target="../slideLayouts/slideLayout1.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slideLayout" Target="../slideLayouts/slideLayout1.xml"/><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slideLayout" Target="../slideLayouts/slideLayout1.xml"/><Relationship Id="rId5"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slideLayout" Target="../slideLayouts/slideLayout1.xml"/><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image" Target="../media/image-79-3.png"/><Relationship Id="rId4" Type="http://schemas.openxmlformats.org/officeDocument/2006/relationships/image" Target="../media/image-79-4.png"/><Relationship Id="rId5" Type="http://schemas.openxmlformats.org/officeDocument/2006/relationships/slideLayout" Target="../slideLayouts/slideLayout1.xml"/><Relationship Id="rId6"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image" Target="../media/image-81-5.png"/><Relationship Id="rId6" Type="http://schemas.openxmlformats.org/officeDocument/2006/relationships/image" Target="../media/image-81-6.png"/><Relationship Id="rId7" Type="http://schemas.openxmlformats.org/officeDocument/2006/relationships/slideLayout" Target="../slideLayouts/slideLayout1.xml"/><Relationship Id="rId8"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slideLayout" Target="../slideLayouts/slideLayout1.xml"/><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slideLayout" Target="../slideLayouts/slideLayout1.xml"/><Relationship Id="rId5"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image" Target="../media/image-88-3.png"/><Relationship Id="rId4" Type="http://schemas.openxmlformats.org/officeDocument/2006/relationships/image" Target="../media/image-88-4.png"/><Relationship Id="rId5" Type="http://schemas.openxmlformats.org/officeDocument/2006/relationships/slideLayout" Target="../slideLayouts/slideLayout1.xml"/><Relationship Id="rId6"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image" Target="../media/image-91-3.png"/><Relationship Id="rId4" Type="http://schemas.openxmlformats.org/officeDocument/2006/relationships/slideLayout" Target="../slideLayouts/slideLayout1.xml"/><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slideLayout" Target="../slideLayouts/slideLayout1.xml"/><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image" Target="../media/image-94-3.png"/><Relationship Id="rId4" Type="http://schemas.openxmlformats.org/officeDocument/2006/relationships/image" Target="../media/image-94-4.png"/><Relationship Id="rId5" Type="http://schemas.openxmlformats.org/officeDocument/2006/relationships/slideLayout" Target="../slideLayouts/slideLayout1.xml"/><Relationship Id="rId6"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image" Target="../media/image-95-3.png"/><Relationship Id="rId4" Type="http://schemas.openxmlformats.org/officeDocument/2006/relationships/slideLayout" Target="../slideLayouts/slideLayout1.xml"/><Relationship Id="rId5"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image" Target="../media/image-96-2.png"/><Relationship Id="rId3" Type="http://schemas.openxmlformats.org/officeDocument/2006/relationships/image" Target="../media/image-96-3.png"/><Relationship Id="rId4" Type="http://schemas.openxmlformats.org/officeDocument/2006/relationships/slideLayout" Target="../slideLayouts/slideLayout1.xml"/><Relationship Id="rId5"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image" Target="../media/image-99-3.png"/><Relationship Id="rId4" Type="http://schemas.openxmlformats.org/officeDocument/2006/relationships/image" Target="../media/image-99-4.png"/><Relationship Id="rId5" Type="http://schemas.openxmlformats.org/officeDocument/2006/relationships/slideLayout" Target="../slideLayouts/slideLayout1.xml"/><Relationship Id="rId6"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image" Target="../media/image-100-2.png"/><Relationship Id="rId3" Type="http://schemas.openxmlformats.org/officeDocument/2006/relationships/image" Target="../media/image-100-3.png"/><Relationship Id="rId4" Type="http://schemas.openxmlformats.org/officeDocument/2006/relationships/slideLayout" Target="../slideLayouts/slideLayout1.xml"/><Relationship Id="rId5"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image" Target="../media/image-101-2.png"/><Relationship Id="rId3" Type="http://schemas.openxmlformats.org/officeDocument/2006/relationships/image" Target="../media/image-101-3.png"/><Relationship Id="rId4" Type="http://schemas.openxmlformats.org/officeDocument/2006/relationships/slideLayout" Target="../slideLayouts/slideLayout1.xml"/><Relationship Id="rId5"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image" Target="../media/image-102-2.png"/><Relationship Id="rId3" Type="http://schemas.openxmlformats.org/officeDocument/2006/relationships/image" Target="../media/image-102-3.png"/><Relationship Id="rId4" Type="http://schemas.openxmlformats.org/officeDocument/2006/relationships/slideLayout" Target="../slideLayouts/slideLayout1.xml"/><Relationship Id="rId5"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image" Target="../media/image-105-2.png"/><Relationship Id="rId3" Type="http://schemas.openxmlformats.org/officeDocument/2006/relationships/image" Target="../media/image-105-3.png"/><Relationship Id="rId4" Type="http://schemas.openxmlformats.org/officeDocument/2006/relationships/image" Target="../media/image-105-4.png"/><Relationship Id="rId5" Type="http://schemas.openxmlformats.org/officeDocument/2006/relationships/slideLayout" Target="../slideLayouts/slideLayout1.xml"/><Relationship Id="rId6"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image" Target="../media/image-106-3.png"/><Relationship Id="rId4" Type="http://schemas.openxmlformats.org/officeDocument/2006/relationships/slideLayout" Target="../slideLayouts/slideLayout1.xml"/><Relationship Id="rId5"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1080000">
            <a:off x="7040880" y="-1005840"/>
            <a:ext cx="3840480" cy="3840480"/>
          </a:xfrm>
          <a:prstGeom prst="roundRect">
            <a:avLst>
              <a:gd name="adj" fmla="val 9524"/>
            </a:avLst>
          </a:prstGeom>
          <a:solidFill>
            <a:srgbClr val="4F46E5">
              <a:alpha val="14000"/>
            </a:srgbClr>
          </a:solidFill>
          <a:ln/>
        </p:spPr>
      </p:sp>
      <p:sp>
        <p:nvSpPr>
          <p:cNvPr id="3" name="Shape 1"/>
          <p:cNvSpPr/>
          <p:nvPr/>
        </p:nvSpPr>
        <p:spPr>
          <a:xfrm rot="720000">
            <a:off x="7955280" y="2468880"/>
            <a:ext cx="3108960" cy="3108960"/>
          </a:xfrm>
          <a:prstGeom prst="roundRect">
            <a:avLst>
              <a:gd name="adj" fmla="val 11765"/>
            </a:avLst>
          </a:prstGeom>
          <a:solidFill>
            <a:srgbClr val="14B8A6">
              <a:alpha val="12000"/>
            </a:srgbClr>
          </a:solidFill>
          <a:ln/>
        </p:spPr>
      </p:sp>
      <p:sp>
        <p:nvSpPr>
          <p:cNvPr id="4" name="Shape 2"/>
          <p:cNvSpPr/>
          <p:nvPr/>
        </p:nvSpPr>
        <p:spPr>
          <a:xfrm>
            <a:off x="548640" y="566928"/>
            <a:ext cx="822960" cy="822960"/>
          </a:xfrm>
          <a:prstGeom prst="roundRect">
            <a:avLst>
              <a:gd name="adj" fmla="val 20000"/>
            </a:avLst>
          </a:prstGeom>
          <a:solidFill>
            <a:srgbClr val="4F46E5"/>
          </a:solidFill>
          <a:ln/>
        </p:spPr>
      </p:sp>
      <p:pic>
        <p:nvPicPr>
          <p:cNvPr id="5" name="Image 0" descr="preencoded.png">    </p:cNvPr>
          <p:cNvPicPr>
            <a:picLocks noChangeAspect="1"/>
          </p:cNvPicPr>
          <p:nvPr/>
        </p:nvPicPr>
        <p:blipFill>
          <a:blip r:embed="rId1"/>
          <a:stretch>
            <a:fillRect/>
          </a:stretch>
        </p:blipFill>
        <p:spPr>
          <a:xfrm>
            <a:off x="729691" y="747979"/>
            <a:ext cx="460858" cy="460858"/>
          </a:xfrm>
          <a:prstGeom prst="rect">
            <a:avLst/>
          </a:prstGeom>
        </p:spPr>
      </p:pic>
      <p:sp>
        <p:nvSpPr>
          <p:cNvPr id="6" name="Text 3"/>
          <p:cNvSpPr/>
          <p:nvPr/>
        </p:nvSpPr>
        <p:spPr>
          <a:xfrm>
            <a:off x="1554480" y="713232"/>
            <a:ext cx="6400800" cy="457200"/>
          </a:xfrm>
          <a:prstGeom prst="rect">
            <a:avLst/>
          </a:prstGeom>
          <a:noFill/>
          <a:ln/>
        </p:spPr>
        <p:txBody>
          <a:bodyPr wrap="square" lIns="0" tIns="0" rIns="0" bIns="0" rtlCol="0" anchor="ctr"/>
          <a:lstStyle/>
          <a:p>
            <a:pPr indent="0" marL="0">
              <a:buNone/>
            </a:pPr>
            <a:r>
              <a:rPr lang="en-US" sz="1300" b="1" spc="200" kern="0" dirty="0">
                <a:solidFill>
                  <a:srgbClr val="14B8A6"/>
                </a:solidFill>
                <a:latin typeface="Calibri" pitchFamily="34" charset="0"/>
                <a:ea typeface="Calibri" pitchFamily="34" charset="-122"/>
                <a:cs typeface="Calibri" pitchFamily="34" charset="-120"/>
              </a:rPr>
              <a:t>WARSZTATY • 2 DNI • HANDS-ON</a:t>
            </a:r>
            <a:endParaRPr lang="en-US" sz="1300" dirty="0"/>
          </a:p>
        </p:txBody>
      </p:sp>
      <p:sp>
        <p:nvSpPr>
          <p:cNvPr id="7" name="Text 4"/>
          <p:cNvSpPr/>
          <p:nvPr/>
        </p:nvSpPr>
        <p:spPr>
          <a:xfrm>
            <a:off x="548640" y="1783080"/>
            <a:ext cx="8595360" cy="1737360"/>
          </a:xfrm>
          <a:prstGeom prst="rect">
            <a:avLst/>
          </a:prstGeom>
          <a:noFill/>
          <a:ln/>
        </p:spPr>
        <p:txBody>
          <a:bodyPr wrap="square" lIns="0" tIns="0" rIns="0" bIns="0" rtlCol="0" anchor="ctr"/>
          <a:lstStyle/>
          <a:p>
            <a:pPr indent="0" marL="0">
              <a:lnSpc>
                <a:spcPct val="98000"/>
              </a:lnSpc>
              <a:buNone/>
            </a:pPr>
            <a:r>
              <a:rPr lang="en-US" sz="4400" b="1" dirty="0">
                <a:solidFill>
                  <a:srgbClr val="FFFFFF"/>
                </a:solidFill>
                <a:latin typeface="Cambria" pitchFamily="34" charset="0"/>
                <a:ea typeface="Cambria" pitchFamily="34" charset="-122"/>
                <a:cs typeface="Cambria" pitchFamily="34" charset="-120"/>
              </a:rPr>
              <a:t>Inżynieria Aplikacji AI</a:t>
            </a:r>
            <a:endParaRPr lang="en-US" sz="4400" dirty="0"/>
          </a:p>
          <a:p>
            <a:pPr indent="0" marL="0">
              <a:lnSpc>
                <a:spcPct val="98000"/>
              </a:lnSpc>
              <a:buNone/>
            </a:pPr>
            <a:r>
              <a:rPr lang="en-US" sz="4400" b="1" dirty="0">
                <a:solidFill>
                  <a:srgbClr val="FFFFFF"/>
                </a:solidFill>
                <a:latin typeface="Cambria" pitchFamily="34" charset="0"/>
                <a:ea typeface="Cambria" pitchFamily="34" charset="-122"/>
                <a:cs typeface="Cambria" pitchFamily="34" charset="-120"/>
              </a:rPr>
              <a:t>i Agentów LLM</a:t>
            </a:r>
            <a:endParaRPr lang="en-US" sz="4400" dirty="0"/>
          </a:p>
        </p:txBody>
      </p:sp>
      <p:sp>
        <p:nvSpPr>
          <p:cNvPr id="8" name="Text 5"/>
          <p:cNvSpPr/>
          <p:nvPr/>
        </p:nvSpPr>
        <p:spPr>
          <a:xfrm>
            <a:off x="566928" y="3611880"/>
            <a:ext cx="8046720" cy="73152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Od fundamentów modeli językowych po produkcyjne systemy agentowe</a:t>
            </a:r>
            <a:endParaRPr lang="en-US" sz="1700" dirty="0"/>
          </a:p>
        </p:txBody>
      </p:sp>
      <p:sp>
        <p:nvSpPr>
          <p:cNvPr id="9" name="Text 6"/>
          <p:cNvSpPr/>
          <p:nvPr/>
        </p:nvSpPr>
        <p:spPr>
          <a:xfrm>
            <a:off x="566928" y="4572000"/>
            <a:ext cx="804672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Prowadzący: Jakub Gajda — AI Development Team Lead · Politechnika Gdańska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O WARSZTATACH</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Co wyniesiesz z tych dwóch dni</a:t>
            </a:r>
            <a:endParaRPr lang="en-US" sz="3000" dirty="0"/>
          </a:p>
        </p:txBody>
      </p:sp>
      <p:sp>
        <p:nvSpPr>
          <p:cNvPr id="4" name="Shape 2"/>
          <p:cNvSpPr/>
          <p:nvPr/>
        </p:nvSpPr>
        <p:spPr>
          <a:xfrm>
            <a:off x="566928" y="1632204"/>
            <a:ext cx="603504" cy="603504"/>
          </a:xfrm>
          <a:prstGeom prst="roundRect">
            <a:avLst>
              <a:gd name="adj" fmla="val 18182"/>
            </a:avLst>
          </a:prstGeom>
          <a:solidFill>
            <a:srgbClr val="EEF2FF"/>
          </a:solidFill>
          <a:ln/>
        </p:spPr>
      </p:sp>
      <p:pic>
        <p:nvPicPr>
          <p:cNvPr id="5" name="Image 0" descr="preencoded.png">    </p:cNvPr>
          <p:cNvPicPr>
            <a:picLocks noChangeAspect="1"/>
          </p:cNvPicPr>
          <p:nvPr/>
        </p:nvPicPr>
        <p:blipFill>
          <a:blip r:embed="rId1"/>
          <a:stretch>
            <a:fillRect/>
          </a:stretch>
        </p:blipFill>
        <p:spPr>
          <a:xfrm>
            <a:off x="699699" y="1764975"/>
            <a:ext cx="337962" cy="337962"/>
          </a:xfrm>
          <a:prstGeom prst="rect">
            <a:avLst/>
          </a:prstGeom>
        </p:spPr>
      </p:pic>
      <p:sp>
        <p:nvSpPr>
          <p:cNvPr id="6" name="Text 3"/>
          <p:cNvSpPr/>
          <p:nvPr/>
        </p:nvSpPr>
        <p:spPr>
          <a:xfrm>
            <a:off x="1371600" y="1645920"/>
            <a:ext cx="7315200" cy="576072"/>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Zrozumienie, jak działają LLM</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Transformery, tokeny, parametry generacji — bez magii, z intuicją inżynierską.</a:t>
            </a:r>
            <a:endParaRPr lang="en-US" sz="1550" dirty="0"/>
          </a:p>
        </p:txBody>
      </p:sp>
      <p:sp>
        <p:nvSpPr>
          <p:cNvPr id="7" name="Shape 4"/>
          <p:cNvSpPr/>
          <p:nvPr/>
        </p:nvSpPr>
        <p:spPr>
          <a:xfrm>
            <a:off x="566928" y="2208276"/>
            <a:ext cx="603504" cy="603504"/>
          </a:xfrm>
          <a:prstGeom prst="roundRect">
            <a:avLst>
              <a:gd name="adj" fmla="val 18182"/>
            </a:avLst>
          </a:prstGeom>
          <a:solidFill>
            <a:srgbClr val="E6FBF7"/>
          </a:solidFill>
          <a:ln/>
        </p:spPr>
      </p:sp>
      <p:pic>
        <p:nvPicPr>
          <p:cNvPr id="8" name="Image 1" descr="preencoded.png">    </p:cNvPr>
          <p:cNvPicPr>
            <a:picLocks noChangeAspect="1"/>
          </p:cNvPicPr>
          <p:nvPr/>
        </p:nvPicPr>
        <p:blipFill>
          <a:blip r:embed="rId2"/>
          <a:stretch>
            <a:fillRect/>
          </a:stretch>
        </p:blipFill>
        <p:spPr>
          <a:xfrm>
            <a:off x="699699" y="2341047"/>
            <a:ext cx="337962" cy="337962"/>
          </a:xfrm>
          <a:prstGeom prst="rect">
            <a:avLst/>
          </a:prstGeom>
        </p:spPr>
      </p:pic>
      <p:sp>
        <p:nvSpPr>
          <p:cNvPr id="9" name="Text 5"/>
          <p:cNvSpPr/>
          <p:nvPr/>
        </p:nvSpPr>
        <p:spPr>
          <a:xfrm>
            <a:off x="1371600" y="2221992"/>
            <a:ext cx="7315200" cy="576072"/>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Sprawny prompt engineering</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CoT, ReAct, structured outputs i function calling w praktyce.</a:t>
            </a:r>
            <a:endParaRPr lang="en-US" sz="1550" dirty="0"/>
          </a:p>
        </p:txBody>
      </p:sp>
      <p:sp>
        <p:nvSpPr>
          <p:cNvPr id="10" name="Shape 6"/>
          <p:cNvSpPr/>
          <p:nvPr/>
        </p:nvSpPr>
        <p:spPr>
          <a:xfrm>
            <a:off x="566928" y="2784348"/>
            <a:ext cx="603504" cy="603504"/>
          </a:xfrm>
          <a:prstGeom prst="roundRect">
            <a:avLst>
              <a:gd name="adj" fmla="val 18182"/>
            </a:avLst>
          </a:prstGeom>
          <a:solidFill>
            <a:srgbClr val="FEF3E2"/>
          </a:solidFill>
          <a:ln/>
        </p:spPr>
      </p:sp>
      <p:pic>
        <p:nvPicPr>
          <p:cNvPr id="11" name="Image 2" descr="preencoded.png">    </p:cNvPr>
          <p:cNvPicPr>
            <a:picLocks noChangeAspect="1"/>
          </p:cNvPicPr>
          <p:nvPr/>
        </p:nvPicPr>
        <p:blipFill>
          <a:blip r:embed="rId3"/>
          <a:stretch>
            <a:fillRect/>
          </a:stretch>
        </p:blipFill>
        <p:spPr>
          <a:xfrm>
            <a:off x="699699" y="2917119"/>
            <a:ext cx="337962" cy="337962"/>
          </a:xfrm>
          <a:prstGeom prst="rect">
            <a:avLst/>
          </a:prstGeom>
        </p:spPr>
      </p:pic>
      <p:sp>
        <p:nvSpPr>
          <p:cNvPr id="12" name="Text 7"/>
          <p:cNvSpPr/>
          <p:nvPr/>
        </p:nvSpPr>
        <p:spPr>
          <a:xfrm>
            <a:off x="1371600" y="2798064"/>
            <a:ext cx="7315200" cy="576072"/>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Działający system RAG</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Od ładowania dokumentów po hybrid search i reranking.</a:t>
            </a:r>
            <a:endParaRPr lang="en-US" sz="1550" dirty="0"/>
          </a:p>
        </p:txBody>
      </p:sp>
      <p:sp>
        <p:nvSpPr>
          <p:cNvPr id="13" name="Shape 8"/>
          <p:cNvSpPr/>
          <p:nvPr/>
        </p:nvSpPr>
        <p:spPr>
          <a:xfrm>
            <a:off x="566928" y="3360420"/>
            <a:ext cx="603504" cy="603504"/>
          </a:xfrm>
          <a:prstGeom prst="roundRect">
            <a:avLst>
              <a:gd name="adj" fmla="val 18182"/>
            </a:avLst>
          </a:prstGeom>
          <a:solidFill>
            <a:srgbClr val="FCE7F0"/>
          </a:solidFill>
          <a:ln/>
        </p:spPr>
      </p:sp>
      <p:pic>
        <p:nvPicPr>
          <p:cNvPr id="14" name="Image 3" descr="preencoded.png">    </p:cNvPr>
          <p:cNvPicPr>
            <a:picLocks noChangeAspect="1"/>
          </p:cNvPicPr>
          <p:nvPr/>
        </p:nvPicPr>
        <p:blipFill>
          <a:blip r:embed="rId4"/>
          <a:stretch>
            <a:fillRect/>
          </a:stretch>
        </p:blipFill>
        <p:spPr>
          <a:xfrm>
            <a:off x="699699" y="3493191"/>
            <a:ext cx="337962" cy="337962"/>
          </a:xfrm>
          <a:prstGeom prst="rect">
            <a:avLst/>
          </a:prstGeom>
        </p:spPr>
      </p:pic>
      <p:sp>
        <p:nvSpPr>
          <p:cNvPr id="15" name="Text 9"/>
          <p:cNvSpPr/>
          <p:nvPr/>
        </p:nvSpPr>
        <p:spPr>
          <a:xfrm>
            <a:off x="1371600" y="3374136"/>
            <a:ext cx="7315200" cy="576072"/>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Agenci w LangChain i LangGraph</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Pojedynczy agent, multi-agent, pamięć, human-in-the-loop.</a:t>
            </a:r>
            <a:endParaRPr lang="en-US" sz="1550" dirty="0"/>
          </a:p>
        </p:txBody>
      </p:sp>
      <p:sp>
        <p:nvSpPr>
          <p:cNvPr id="16" name="Shape 10"/>
          <p:cNvSpPr/>
          <p:nvPr/>
        </p:nvSpPr>
        <p:spPr>
          <a:xfrm>
            <a:off x="566928" y="3936492"/>
            <a:ext cx="603504" cy="603504"/>
          </a:xfrm>
          <a:prstGeom prst="roundRect">
            <a:avLst>
              <a:gd name="adj" fmla="val 18182"/>
            </a:avLst>
          </a:prstGeom>
          <a:solidFill>
            <a:srgbClr val="E7F6EC"/>
          </a:solidFill>
          <a:ln/>
        </p:spPr>
      </p:sp>
      <p:pic>
        <p:nvPicPr>
          <p:cNvPr id="17" name="Image 4" descr="preencoded.png">    </p:cNvPr>
          <p:cNvPicPr>
            <a:picLocks noChangeAspect="1"/>
          </p:cNvPicPr>
          <p:nvPr/>
        </p:nvPicPr>
        <p:blipFill>
          <a:blip r:embed="rId5"/>
          <a:stretch>
            <a:fillRect/>
          </a:stretch>
        </p:blipFill>
        <p:spPr>
          <a:xfrm>
            <a:off x="699699" y="4069263"/>
            <a:ext cx="337962" cy="337962"/>
          </a:xfrm>
          <a:prstGeom prst="rect">
            <a:avLst/>
          </a:prstGeom>
        </p:spPr>
      </p:pic>
      <p:sp>
        <p:nvSpPr>
          <p:cNvPr id="18" name="Text 11"/>
          <p:cNvSpPr/>
          <p:nvPr/>
        </p:nvSpPr>
        <p:spPr>
          <a:xfrm>
            <a:off x="1371600" y="3950208"/>
            <a:ext cx="7315200" cy="576072"/>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Gotowość produkcyjna</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Monitoring, koszty, bezpieczeństwo, wdrożenie mikroserwisu.</a:t>
            </a:r>
            <a:endParaRPr lang="en-US" sz="1550" dirty="0"/>
          </a:p>
        </p:txBody>
      </p:sp>
      <p:sp>
        <p:nvSpPr>
          <p:cNvPr id="19"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Mapa dwóch dni</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DZIEŃ 1 — Fundamenty AI i praca z modelami LLM</a:t>
            </a:r>
            <a:endParaRPr lang="en-US" sz="1450" dirty="0"/>
          </a:p>
          <a:p>
            <a:pPr lvl="1" marL="4064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Wprowadzenie do AI i LLM — od RNN do transformerów</a:t>
            </a:r>
            <a:endParaRPr lang="en-US" sz="1450" dirty="0"/>
          </a:p>
          <a:p>
            <a:pPr lvl="1" marL="4064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Współczesne modele: własnościowe i open-source</a:t>
            </a:r>
            <a:endParaRPr lang="en-US" sz="1450" dirty="0"/>
          </a:p>
          <a:p>
            <a:pPr lvl="1" marL="4064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Prompt engineering — techniki zaawansowane</a:t>
            </a:r>
            <a:endParaRPr lang="en-US" sz="1450" dirty="0"/>
          </a:p>
          <a:p>
            <a:pPr lvl="1" marL="4064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Function calling i tool use</a:t>
            </a:r>
            <a:endParaRPr lang="en-US" sz="1450" dirty="0"/>
          </a:p>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DZIEŃ 2 — Budowa aplikacji AI i systemy produkcyjne</a:t>
            </a:r>
            <a:endParaRPr lang="en-US" sz="1450" dirty="0"/>
          </a:p>
          <a:p>
            <a:pPr lvl="1" marL="4064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Python dla AI, Streamlit, FastAPI</a:t>
            </a:r>
            <a:endParaRPr lang="en-US" sz="1450" dirty="0"/>
          </a:p>
          <a:p>
            <a:pPr lvl="1" marL="4064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RAG — Retrieval-Augmented Generation</a:t>
            </a:r>
            <a:endParaRPr lang="en-US" sz="1450" dirty="0"/>
          </a:p>
          <a:p>
            <a:pPr lvl="1" marL="4064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AI Agents: LangChain i LangGraph (rdzeń dnia 2)</a:t>
            </a:r>
            <a:endParaRPr lang="en-US" sz="1450" dirty="0"/>
          </a:p>
          <a:p>
            <a:pPr lvl="1" marL="4064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Aspekty produkcyjne: monitoring, koszty, security</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Dzień 1</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Fundamenty + prompty</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Dzień 2</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Aplikacje + agenci</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4 laby</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Po jednym na sekcję</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JAK PRACUJEMY</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Format warsztatów</a:t>
            </a:r>
            <a:endParaRPr lang="en-US" sz="3000" dirty="0"/>
          </a:p>
        </p:txBody>
      </p:sp>
      <p:sp>
        <p:nvSpPr>
          <p:cNvPr id="4" name="Shape 2"/>
          <p:cNvSpPr/>
          <p:nvPr/>
        </p:nvSpPr>
        <p:spPr>
          <a:xfrm>
            <a:off x="566928" y="1704213"/>
            <a:ext cx="603504" cy="603504"/>
          </a:xfrm>
          <a:prstGeom prst="roundRect">
            <a:avLst>
              <a:gd name="adj" fmla="val 18182"/>
            </a:avLst>
          </a:prstGeom>
          <a:solidFill>
            <a:srgbClr val="EEF2FF"/>
          </a:solidFill>
          <a:ln/>
        </p:spPr>
      </p:sp>
      <p:pic>
        <p:nvPicPr>
          <p:cNvPr id="5" name="Image 0" descr="preencoded.png">    </p:cNvPr>
          <p:cNvPicPr>
            <a:picLocks noChangeAspect="1"/>
          </p:cNvPicPr>
          <p:nvPr/>
        </p:nvPicPr>
        <p:blipFill>
          <a:blip r:embed="rId1"/>
          <a:stretch>
            <a:fillRect/>
          </a:stretch>
        </p:blipFill>
        <p:spPr>
          <a:xfrm>
            <a:off x="699699" y="1836984"/>
            <a:ext cx="337962" cy="337962"/>
          </a:xfrm>
          <a:prstGeom prst="rect">
            <a:avLst/>
          </a:prstGeom>
        </p:spPr>
      </p:pic>
      <p:sp>
        <p:nvSpPr>
          <p:cNvPr id="6" name="Text 3"/>
          <p:cNvSpPr/>
          <p:nvPr/>
        </p:nvSpPr>
        <p:spPr>
          <a:xfrm>
            <a:off x="1371600" y="164592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Teoria w pigułce, potem kod</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Krótkie wprowadzenie i od razu działający przykład — uczymy się robiąc.</a:t>
            </a:r>
            <a:endParaRPr lang="en-US" sz="1550" dirty="0"/>
          </a:p>
        </p:txBody>
      </p:sp>
      <p:sp>
        <p:nvSpPr>
          <p:cNvPr id="7" name="Shape 4"/>
          <p:cNvSpPr/>
          <p:nvPr/>
        </p:nvSpPr>
        <p:spPr>
          <a:xfrm>
            <a:off x="566928" y="2424303"/>
            <a:ext cx="603504" cy="603504"/>
          </a:xfrm>
          <a:prstGeom prst="roundRect">
            <a:avLst>
              <a:gd name="adj" fmla="val 18182"/>
            </a:avLst>
          </a:prstGeom>
          <a:solidFill>
            <a:srgbClr val="E6FBF7"/>
          </a:solidFill>
          <a:ln/>
        </p:spPr>
      </p:sp>
      <p:pic>
        <p:nvPicPr>
          <p:cNvPr id="8" name="Image 1" descr="preencoded.png">    </p:cNvPr>
          <p:cNvPicPr>
            <a:picLocks noChangeAspect="1"/>
          </p:cNvPicPr>
          <p:nvPr/>
        </p:nvPicPr>
        <p:blipFill>
          <a:blip r:embed="rId2"/>
          <a:stretch>
            <a:fillRect/>
          </a:stretch>
        </p:blipFill>
        <p:spPr>
          <a:xfrm>
            <a:off x="699699" y="2557074"/>
            <a:ext cx="337962" cy="337962"/>
          </a:xfrm>
          <a:prstGeom prst="rect">
            <a:avLst/>
          </a:prstGeom>
        </p:spPr>
      </p:pic>
      <p:sp>
        <p:nvSpPr>
          <p:cNvPr id="9" name="Text 5"/>
          <p:cNvSpPr/>
          <p:nvPr/>
        </p:nvSpPr>
        <p:spPr>
          <a:xfrm>
            <a:off x="1371600" y="236601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Repozytorium z labami</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Sklonuj repo, w każdym katalogu masz README, kod startowy i rozwiązanie.</a:t>
            </a:r>
            <a:endParaRPr lang="en-US" sz="1550" dirty="0"/>
          </a:p>
        </p:txBody>
      </p:sp>
      <p:sp>
        <p:nvSpPr>
          <p:cNvPr id="10" name="Shape 6"/>
          <p:cNvSpPr/>
          <p:nvPr/>
        </p:nvSpPr>
        <p:spPr>
          <a:xfrm>
            <a:off x="566928" y="3144393"/>
            <a:ext cx="603504" cy="603504"/>
          </a:xfrm>
          <a:prstGeom prst="roundRect">
            <a:avLst>
              <a:gd name="adj" fmla="val 18182"/>
            </a:avLst>
          </a:prstGeom>
          <a:solidFill>
            <a:srgbClr val="FEF3E2"/>
          </a:solidFill>
          <a:ln/>
        </p:spPr>
      </p:sp>
      <p:pic>
        <p:nvPicPr>
          <p:cNvPr id="11" name="Image 2" descr="preencoded.png">    </p:cNvPr>
          <p:cNvPicPr>
            <a:picLocks noChangeAspect="1"/>
          </p:cNvPicPr>
          <p:nvPr/>
        </p:nvPicPr>
        <p:blipFill>
          <a:blip r:embed="rId3"/>
          <a:stretch>
            <a:fillRect/>
          </a:stretch>
        </p:blipFill>
        <p:spPr>
          <a:xfrm>
            <a:off x="699699" y="3277164"/>
            <a:ext cx="337962" cy="337962"/>
          </a:xfrm>
          <a:prstGeom prst="rect">
            <a:avLst/>
          </a:prstGeom>
        </p:spPr>
      </p:pic>
      <p:sp>
        <p:nvSpPr>
          <p:cNvPr id="12" name="Text 7"/>
          <p:cNvSpPr/>
          <p:nvPr/>
        </p:nvSpPr>
        <p:spPr>
          <a:xfrm>
            <a:off x="1371600" y="308610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Pytania na bieżąco</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Przerywajcie. Najlepsze warsztaty to dyskusja, nie monolog.</a:t>
            </a:r>
            <a:endParaRPr lang="en-US" sz="1550" dirty="0"/>
          </a:p>
        </p:txBody>
      </p:sp>
      <p:sp>
        <p:nvSpPr>
          <p:cNvPr id="13" name="Shape 8"/>
          <p:cNvSpPr/>
          <p:nvPr/>
        </p:nvSpPr>
        <p:spPr>
          <a:xfrm>
            <a:off x="566928" y="3864483"/>
            <a:ext cx="603504" cy="603504"/>
          </a:xfrm>
          <a:prstGeom prst="roundRect">
            <a:avLst>
              <a:gd name="adj" fmla="val 18182"/>
            </a:avLst>
          </a:prstGeom>
          <a:solidFill>
            <a:srgbClr val="FCE7F0"/>
          </a:solidFill>
          <a:ln/>
        </p:spPr>
      </p:sp>
      <p:pic>
        <p:nvPicPr>
          <p:cNvPr id="14" name="Image 3" descr="preencoded.png">    </p:cNvPr>
          <p:cNvPicPr>
            <a:picLocks noChangeAspect="1"/>
          </p:cNvPicPr>
          <p:nvPr/>
        </p:nvPicPr>
        <p:blipFill>
          <a:blip r:embed="rId4"/>
          <a:stretch>
            <a:fillRect/>
          </a:stretch>
        </p:blipFill>
        <p:spPr>
          <a:xfrm>
            <a:off x="699699" y="3997254"/>
            <a:ext cx="337962" cy="337962"/>
          </a:xfrm>
          <a:prstGeom prst="rect">
            <a:avLst/>
          </a:prstGeom>
        </p:spPr>
      </p:pic>
      <p:sp>
        <p:nvSpPr>
          <p:cNvPr id="15" name="Text 9"/>
          <p:cNvSpPr/>
          <p:nvPr/>
        </p:nvSpPr>
        <p:spPr>
          <a:xfrm>
            <a:off x="1371600" y="380619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Klucze API</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Potrzebny klucz OpenAI lub Anthropic; alternatywnie model lokalny (Ollama).</a:t>
            </a:r>
            <a:endParaRPr lang="en-US" sz="1550" dirty="0"/>
          </a:p>
        </p:txBody>
      </p:sp>
      <p:sp>
        <p:nvSpPr>
          <p:cNvPr id="16" name="Text 10"/>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960000">
            <a:off x="7498080" y="-1188720"/>
            <a:ext cx="4206240" cy="4206240"/>
          </a:xfrm>
          <a:prstGeom prst="roundRect">
            <a:avLst>
              <a:gd name="adj" fmla="val 10870"/>
            </a:avLst>
          </a:prstGeom>
          <a:solidFill>
            <a:srgbClr val="14B8A6">
              <a:alpha val="12000"/>
            </a:srgbClr>
          </a:solidFill>
          <a:ln/>
        </p:spPr>
      </p:sp>
      <p:sp>
        <p:nvSpPr>
          <p:cNvPr id="3" name="Shape 1"/>
          <p:cNvSpPr/>
          <p:nvPr/>
        </p:nvSpPr>
        <p:spPr>
          <a:xfrm>
            <a:off x="548640" y="1371600"/>
            <a:ext cx="914400" cy="914400"/>
          </a:xfrm>
          <a:prstGeom prst="roundRect">
            <a:avLst>
              <a:gd name="adj" fmla="val 20000"/>
            </a:avLst>
          </a:prstGeom>
          <a:solidFill>
            <a:srgbClr val="14B8A6"/>
          </a:solidFill>
          <a:ln/>
        </p:spPr>
      </p:sp>
      <p:pic>
        <p:nvPicPr>
          <p:cNvPr id="4" name="Image 0" descr="preencoded.png">    </p:cNvPr>
          <p:cNvPicPr>
            <a:picLocks noChangeAspect="1"/>
          </p:cNvPicPr>
          <p:nvPr/>
        </p:nvPicPr>
        <p:blipFill>
          <a:blip r:embed="rId1"/>
          <a:stretch>
            <a:fillRect/>
          </a:stretch>
        </p:blipFill>
        <p:spPr>
          <a:xfrm>
            <a:off x="749808" y="1572768"/>
            <a:ext cx="512064" cy="512064"/>
          </a:xfrm>
          <a:prstGeom prst="rect">
            <a:avLst/>
          </a:prstGeom>
        </p:spPr>
      </p:pic>
      <p:sp>
        <p:nvSpPr>
          <p:cNvPr id="5" name="Text 2"/>
          <p:cNvSpPr/>
          <p:nvPr/>
        </p:nvSpPr>
        <p:spPr>
          <a:xfrm>
            <a:off x="566928" y="640080"/>
            <a:ext cx="7315200" cy="365760"/>
          </a:xfrm>
          <a:prstGeom prst="rect">
            <a:avLst/>
          </a:prstGeom>
          <a:noFill/>
          <a:ln/>
        </p:spPr>
        <p:txBody>
          <a:bodyPr wrap="square" lIns="0" tIns="0" rIns="0" bIns="0"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DZIEŃ 1</a:t>
            </a:r>
            <a:endParaRPr lang="en-US" sz="1300" dirty="0"/>
          </a:p>
        </p:txBody>
      </p:sp>
      <p:sp>
        <p:nvSpPr>
          <p:cNvPr id="6" name="Text 3"/>
          <p:cNvSpPr/>
          <p:nvPr/>
        </p:nvSpPr>
        <p:spPr>
          <a:xfrm>
            <a:off x="548640" y="2514600"/>
            <a:ext cx="8229600" cy="1188720"/>
          </a:xfrm>
          <a:prstGeom prst="rect">
            <a:avLst/>
          </a:prstGeom>
          <a:noFill/>
          <a:ln/>
        </p:spPr>
        <p:txBody>
          <a:bodyPr wrap="square" lIns="0" tIns="0" rIns="0" bIns="0" rtlCol="0" anchor="ctr"/>
          <a:lstStyle/>
          <a:p>
            <a:pPr indent="0" marL="0">
              <a:lnSpc>
                <a:spcPct val="98000"/>
              </a:lnSpc>
              <a:buNone/>
            </a:pPr>
            <a:r>
              <a:rPr lang="en-US" sz="3300" b="1" dirty="0">
                <a:solidFill>
                  <a:srgbClr val="14B8A6"/>
                </a:solidFill>
                <a:latin typeface="Cambria" pitchFamily="34" charset="0"/>
                <a:ea typeface="Cambria" pitchFamily="34" charset="-122"/>
                <a:cs typeface="Cambria" pitchFamily="34" charset="-120"/>
              </a:rPr>
              <a:t>Sekcja 1  </a:t>
            </a:r>
            <a:pPr indent="0" marL="0">
              <a:lnSpc>
                <a:spcPct val="98000"/>
              </a:lnSpc>
              <a:buNone/>
            </a:pPr>
            <a:r>
              <a:rPr lang="en-US" sz="3300" b="1" dirty="0">
                <a:solidFill>
                  <a:srgbClr val="FFFFFF"/>
                </a:solidFill>
                <a:latin typeface="Cambria" pitchFamily="34" charset="0"/>
                <a:ea typeface="Cambria" pitchFamily="34" charset="-122"/>
                <a:cs typeface="Cambria" pitchFamily="34" charset="-120"/>
              </a:rPr>
              <a:t>Wprowadzenie do AI i LLM</a:t>
            </a:r>
            <a:endParaRPr lang="en-US" sz="3300" dirty="0"/>
          </a:p>
        </p:txBody>
      </p:sp>
      <p:sp>
        <p:nvSpPr>
          <p:cNvPr id="7" name="Text 4"/>
          <p:cNvSpPr/>
          <p:nvPr/>
        </p:nvSpPr>
        <p:spPr>
          <a:xfrm>
            <a:off x="585216" y="3794760"/>
            <a:ext cx="8229600" cy="1097280"/>
          </a:xfrm>
          <a:prstGeom prst="rect">
            <a:avLst/>
          </a:prstGeom>
          <a:noFill/>
          <a:ln/>
        </p:spPr>
        <p:txBody>
          <a:bodyPr wrap="square" lIns="0" tIns="0" rIns="0" bIns="0" rtlCol="0" anchor="ctr"/>
          <a:lstStyle/>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Ewolucja NLP: od RNN do transformerów</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Mechanizm uwagi i self-attention</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Jak LLM generuje tekst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DEFINICJA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Czym jest duży model językowy (LLM)?</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Sieć neuronowa wytrenowana na ogromnym korpusie tekstu, której zadaniem jest przewidzieć następny token.</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Z tej prostej zasady — przewidywania kolejnego tokenu — wyłaniają się złożone zdolności: tłumaczenie, rozumowanie, pisanie kodu.</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„Duży" odnosi się do liczby parametrów (miliardy) i rozmiaru danych treningowych.</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Model nie ma bazy faktów — ma rozkład prawdopodobieństwa nad słownictwem, nauczony statystycznych wzorców języka.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Stąd zarówno siła (uogólnianie), jak i słabości: halucynacje, brak wiedzy po dacie odcięcia, wrażliwość na prompt.</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Parametry</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Miliardy wag</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Korpus</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Biliony tokenów</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Predykcja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Następny token</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HISTORIA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Ewolucja NLP w pigułce</a:t>
            </a:r>
            <a:endParaRPr lang="en-US" sz="3000" dirty="0"/>
          </a:p>
        </p:txBody>
      </p:sp>
      <p:sp>
        <p:nvSpPr>
          <p:cNvPr id="4" name="Shape 2"/>
          <p:cNvSpPr/>
          <p:nvPr/>
        </p:nvSpPr>
        <p:spPr>
          <a:xfrm>
            <a:off x="566928"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1179576" y="2167128"/>
            <a:ext cx="566928" cy="566928"/>
          </a:xfrm>
          <a:prstGeom prst="roundRect">
            <a:avLst>
              <a:gd name="adj" fmla="val 22581"/>
            </a:avLst>
          </a:prstGeom>
          <a:solidFill>
            <a:srgbClr val="64748B"/>
          </a:solidFill>
          <a:ln/>
        </p:spPr>
      </p:sp>
      <p:pic>
        <p:nvPicPr>
          <p:cNvPr id="6" name="Image 0" descr="preencoded.png">    </p:cNvPr>
          <p:cNvPicPr>
            <a:picLocks noChangeAspect="1"/>
          </p:cNvPicPr>
          <p:nvPr/>
        </p:nvPicPr>
        <p:blipFill>
          <a:blip r:embed="rId1"/>
          <a:stretch>
            <a:fillRect/>
          </a:stretch>
        </p:blipFill>
        <p:spPr>
          <a:xfrm>
            <a:off x="1304300" y="2291852"/>
            <a:ext cx="317480" cy="317480"/>
          </a:xfrm>
          <a:prstGeom prst="rect">
            <a:avLst/>
          </a:prstGeom>
        </p:spPr>
      </p:pic>
      <p:sp>
        <p:nvSpPr>
          <p:cNvPr id="7" name="Text 4"/>
          <p:cNvSpPr/>
          <p:nvPr/>
        </p:nvSpPr>
        <p:spPr>
          <a:xfrm>
            <a:off x="658368"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1. RNN / LSTM</a:t>
            </a:r>
            <a:endParaRPr lang="en-US" sz="1250" dirty="0"/>
          </a:p>
        </p:txBody>
      </p:sp>
      <p:sp>
        <p:nvSpPr>
          <p:cNvPr id="8" name="Text 5"/>
          <p:cNvSpPr/>
          <p:nvPr/>
        </p:nvSpPr>
        <p:spPr>
          <a:xfrm>
            <a:off x="676656"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~2014: sekwencyjnie, pamięć krótka</a:t>
            </a:r>
            <a:endParaRPr lang="en-US" sz="950" dirty="0"/>
          </a:p>
        </p:txBody>
      </p:sp>
      <p:sp>
        <p:nvSpPr>
          <p:cNvPr id="9" name="Text 6"/>
          <p:cNvSpPr/>
          <p:nvPr/>
        </p:nvSpPr>
        <p:spPr>
          <a:xfrm>
            <a:off x="2340864"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0" name="Shape 7"/>
          <p:cNvSpPr/>
          <p:nvPr/>
        </p:nvSpPr>
        <p:spPr>
          <a:xfrm>
            <a:off x="2651760"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1" name="Shape 8"/>
          <p:cNvSpPr/>
          <p:nvPr/>
        </p:nvSpPr>
        <p:spPr>
          <a:xfrm>
            <a:off x="3264408" y="2167128"/>
            <a:ext cx="566928" cy="566928"/>
          </a:xfrm>
          <a:prstGeom prst="roundRect">
            <a:avLst>
              <a:gd name="adj" fmla="val 22581"/>
            </a:avLst>
          </a:prstGeom>
          <a:solidFill>
            <a:srgbClr val="4F46E5"/>
          </a:solidFill>
          <a:ln/>
        </p:spPr>
      </p:sp>
      <p:pic>
        <p:nvPicPr>
          <p:cNvPr id="12" name="Image 1" descr="preencoded.png">    </p:cNvPr>
          <p:cNvPicPr>
            <a:picLocks noChangeAspect="1"/>
          </p:cNvPicPr>
          <p:nvPr/>
        </p:nvPicPr>
        <p:blipFill>
          <a:blip r:embed="rId2"/>
          <a:stretch>
            <a:fillRect/>
          </a:stretch>
        </p:blipFill>
        <p:spPr>
          <a:xfrm>
            <a:off x="3389132" y="2291852"/>
            <a:ext cx="317480" cy="317480"/>
          </a:xfrm>
          <a:prstGeom prst="rect">
            <a:avLst/>
          </a:prstGeom>
        </p:spPr>
      </p:pic>
      <p:sp>
        <p:nvSpPr>
          <p:cNvPr id="13" name="Text 9"/>
          <p:cNvSpPr/>
          <p:nvPr/>
        </p:nvSpPr>
        <p:spPr>
          <a:xfrm>
            <a:off x="2743200"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2. Seq2Seq + Attention</a:t>
            </a:r>
            <a:endParaRPr lang="en-US" sz="1250" dirty="0"/>
          </a:p>
        </p:txBody>
      </p:sp>
      <p:sp>
        <p:nvSpPr>
          <p:cNvPr id="14" name="Text 10"/>
          <p:cNvSpPr/>
          <p:nvPr/>
        </p:nvSpPr>
        <p:spPr>
          <a:xfrm>
            <a:off x="2761488"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2015: uwaga jako dodatek</a:t>
            </a:r>
            <a:endParaRPr lang="en-US" sz="950" dirty="0"/>
          </a:p>
        </p:txBody>
      </p:sp>
      <p:sp>
        <p:nvSpPr>
          <p:cNvPr id="15" name="Text 11"/>
          <p:cNvSpPr/>
          <p:nvPr/>
        </p:nvSpPr>
        <p:spPr>
          <a:xfrm>
            <a:off x="4425696"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6" name="Shape 12"/>
          <p:cNvSpPr/>
          <p:nvPr/>
        </p:nvSpPr>
        <p:spPr>
          <a:xfrm>
            <a:off x="4736592"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7" name="Shape 13"/>
          <p:cNvSpPr/>
          <p:nvPr/>
        </p:nvSpPr>
        <p:spPr>
          <a:xfrm>
            <a:off x="5349240" y="2167128"/>
            <a:ext cx="566928" cy="566928"/>
          </a:xfrm>
          <a:prstGeom prst="roundRect">
            <a:avLst>
              <a:gd name="adj" fmla="val 22581"/>
            </a:avLst>
          </a:prstGeom>
          <a:solidFill>
            <a:srgbClr val="14B8A6"/>
          </a:solidFill>
          <a:ln/>
        </p:spPr>
      </p:sp>
      <p:pic>
        <p:nvPicPr>
          <p:cNvPr id="18" name="Image 2" descr="preencoded.png">    </p:cNvPr>
          <p:cNvPicPr>
            <a:picLocks noChangeAspect="1"/>
          </p:cNvPicPr>
          <p:nvPr/>
        </p:nvPicPr>
        <p:blipFill>
          <a:blip r:embed="rId3"/>
          <a:stretch>
            <a:fillRect/>
          </a:stretch>
        </p:blipFill>
        <p:spPr>
          <a:xfrm>
            <a:off x="5473964" y="2291852"/>
            <a:ext cx="317480" cy="317480"/>
          </a:xfrm>
          <a:prstGeom prst="rect">
            <a:avLst/>
          </a:prstGeom>
        </p:spPr>
      </p:pic>
      <p:sp>
        <p:nvSpPr>
          <p:cNvPr id="19" name="Text 14"/>
          <p:cNvSpPr/>
          <p:nvPr/>
        </p:nvSpPr>
        <p:spPr>
          <a:xfrm>
            <a:off x="4828032"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3. Transformer</a:t>
            </a:r>
            <a:endParaRPr lang="en-US" sz="1250" dirty="0"/>
          </a:p>
        </p:txBody>
      </p:sp>
      <p:sp>
        <p:nvSpPr>
          <p:cNvPr id="20" name="Text 15"/>
          <p:cNvSpPr/>
          <p:nvPr/>
        </p:nvSpPr>
        <p:spPr>
          <a:xfrm>
            <a:off x="4846320"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2017: „Attention is all you need"</a:t>
            </a:r>
            <a:endParaRPr lang="en-US" sz="950" dirty="0"/>
          </a:p>
        </p:txBody>
      </p:sp>
      <p:sp>
        <p:nvSpPr>
          <p:cNvPr id="21" name="Text 16"/>
          <p:cNvSpPr/>
          <p:nvPr/>
        </p:nvSpPr>
        <p:spPr>
          <a:xfrm>
            <a:off x="6510528"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22" name="Shape 17"/>
          <p:cNvSpPr/>
          <p:nvPr/>
        </p:nvSpPr>
        <p:spPr>
          <a:xfrm>
            <a:off x="6821424"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23" name="Shape 18"/>
          <p:cNvSpPr/>
          <p:nvPr/>
        </p:nvSpPr>
        <p:spPr>
          <a:xfrm>
            <a:off x="7434072" y="2167128"/>
            <a:ext cx="566928" cy="566928"/>
          </a:xfrm>
          <a:prstGeom prst="roundRect">
            <a:avLst>
              <a:gd name="adj" fmla="val 22581"/>
            </a:avLst>
          </a:prstGeom>
          <a:solidFill>
            <a:srgbClr val="F59E0B"/>
          </a:solidFill>
          <a:ln/>
        </p:spPr>
      </p:sp>
      <p:pic>
        <p:nvPicPr>
          <p:cNvPr id="24" name="Image 3" descr="preencoded.png">    </p:cNvPr>
          <p:cNvPicPr>
            <a:picLocks noChangeAspect="1"/>
          </p:cNvPicPr>
          <p:nvPr/>
        </p:nvPicPr>
        <p:blipFill>
          <a:blip r:embed="rId4"/>
          <a:stretch>
            <a:fillRect/>
          </a:stretch>
        </p:blipFill>
        <p:spPr>
          <a:xfrm>
            <a:off x="7558796" y="2291852"/>
            <a:ext cx="317480" cy="317480"/>
          </a:xfrm>
          <a:prstGeom prst="rect">
            <a:avLst/>
          </a:prstGeom>
        </p:spPr>
      </p:pic>
      <p:sp>
        <p:nvSpPr>
          <p:cNvPr id="25" name="Text 19"/>
          <p:cNvSpPr/>
          <p:nvPr/>
        </p:nvSpPr>
        <p:spPr>
          <a:xfrm>
            <a:off x="6912864"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4. Era LLM</a:t>
            </a:r>
            <a:endParaRPr lang="en-US" sz="1250" dirty="0"/>
          </a:p>
        </p:txBody>
      </p:sp>
      <p:sp>
        <p:nvSpPr>
          <p:cNvPr id="26" name="Text 20"/>
          <p:cNvSpPr/>
          <p:nvPr/>
        </p:nvSpPr>
        <p:spPr>
          <a:xfrm>
            <a:off x="6931152"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2018→: BERT, GPT, Claude…</a:t>
            </a:r>
            <a:endParaRPr lang="en-US" sz="950" dirty="0"/>
          </a:p>
        </p:txBody>
      </p:sp>
      <p:sp>
        <p:nvSpPr>
          <p:cNvPr id="27" name="Text 21"/>
          <p:cNvSpPr/>
          <p:nvPr/>
        </p:nvSpPr>
        <p:spPr>
          <a:xfrm>
            <a:off x="566928" y="4160520"/>
            <a:ext cx="8046720"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Każdy krok usuwał wąskie gardło poprzednika — aż uwaga zastąpiła rekurencję całkowicie.</a:t>
            </a:r>
            <a:endParaRPr lang="en-US" sz="1250" dirty="0"/>
          </a:p>
        </p:txBody>
      </p:sp>
      <p:sp>
        <p:nvSpPr>
          <p:cNvPr id="28" name="Text 2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DLACZEGO NIE RNN</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Ograniczenia sieci rekurencyjnych</a:t>
            </a:r>
            <a:endParaRPr lang="en-US" sz="3000" dirty="0"/>
          </a:p>
        </p:txBody>
      </p:sp>
      <p:sp>
        <p:nvSpPr>
          <p:cNvPr id="4" name="Shape 2"/>
          <p:cNvSpPr/>
          <p:nvPr/>
        </p:nvSpPr>
        <p:spPr>
          <a:xfrm>
            <a:off x="56692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566928" y="1645920"/>
            <a:ext cx="3977640" cy="640080"/>
          </a:xfrm>
          <a:prstGeom prst="roundRect">
            <a:avLst>
              <a:gd name="adj" fmla="val 14286"/>
            </a:avLst>
          </a:prstGeom>
          <a:solidFill>
            <a:srgbClr val="E11D6B"/>
          </a:solidFill>
          <a:ln/>
        </p:spPr>
      </p:sp>
      <p:sp>
        <p:nvSpPr>
          <p:cNvPr id="6" name="Shape 4"/>
          <p:cNvSpPr/>
          <p:nvPr/>
        </p:nvSpPr>
        <p:spPr>
          <a:xfrm>
            <a:off x="566928" y="1965960"/>
            <a:ext cx="3977640" cy="320040"/>
          </a:xfrm>
          <a:prstGeom prst="rect">
            <a:avLst/>
          </a:prstGeom>
          <a:solidFill>
            <a:srgbClr val="E11D6B"/>
          </a:solidFill>
          <a:ln/>
        </p:spPr>
      </p:sp>
      <p:sp>
        <p:nvSpPr>
          <p:cNvPr id="7" name="Text 5"/>
          <p:cNvSpPr/>
          <p:nvPr/>
        </p:nvSpPr>
        <p:spPr>
          <a:xfrm>
            <a:off x="74980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RNN / LSTM — problemy</a:t>
            </a:r>
            <a:endParaRPr lang="en-US" sz="1600" dirty="0"/>
          </a:p>
        </p:txBody>
      </p:sp>
      <p:sp>
        <p:nvSpPr>
          <p:cNvPr id="8" name="Text 6"/>
          <p:cNvSpPr/>
          <p:nvPr/>
        </p:nvSpPr>
        <p:spPr>
          <a:xfrm>
            <a:off x="76809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Przetwarzanie sekwencyjne — nie zrównoleglisz po długości sekwencji</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Zanikający gradient — trudne uczenie długich zależności</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Wąskie gardło kontekstu — cały sens ściśnięty w jeden wektor stanu</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Wolny trening na dużych korpusach</a:t>
            </a:r>
            <a:endParaRPr lang="en-US" sz="1250" dirty="0"/>
          </a:p>
        </p:txBody>
      </p:sp>
      <p:sp>
        <p:nvSpPr>
          <p:cNvPr id="9" name="Shape 7"/>
          <p:cNvSpPr/>
          <p:nvPr/>
        </p:nvSpPr>
        <p:spPr>
          <a:xfrm>
            <a:off x="481888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10" name="Shape 8"/>
          <p:cNvSpPr/>
          <p:nvPr/>
        </p:nvSpPr>
        <p:spPr>
          <a:xfrm>
            <a:off x="4818888" y="1645920"/>
            <a:ext cx="3977640" cy="640080"/>
          </a:xfrm>
          <a:prstGeom prst="roundRect">
            <a:avLst>
              <a:gd name="adj" fmla="val 14286"/>
            </a:avLst>
          </a:prstGeom>
          <a:solidFill>
            <a:srgbClr val="14B8A6"/>
          </a:solidFill>
          <a:ln/>
        </p:spPr>
      </p:sp>
      <p:sp>
        <p:nvSpPr>
          <p:cNvPr id="11" name="Shape 9"/>
          <p:cNvSpPr/>
          <p:nvPr/>
        </p:nvSpPr>
        <p:spPr>
          <a:xfrm>
            <a:off x="4818888" y="1965960"/>
            <a:ext cx="3977640" cy="320040"/>
          </a:xfrm>
          <a:prstGeom prst="rect">
            <a:avLst/>
          </a:prstGeom>
          <a:solidFill>
            <a:srgbClr val="14B8A6"/>
          </a:solidFill>
          <a:ln/>
        </p:spPr>
      </p:sp>
      <p:sp>
        <p:nvSpPr>
          <p:cNvPr id="12" name="Text 10"/>
          <p:cNvSpPr/>
          <p:nvPr/>
        </p:nvSpPr>
        <p:spPr>
          <a:xfrm>
            <a:off x="500176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Transformer — odpowiedź</a:t>
            </a:r>
            <a:endParaRPr lang="en-US" sz="1600" dirty="0"/>
          </a:p>
        </p:txBody>
      </p:sp>
      <p:sp>
        <p:nvSpPr>
          <p:cNvPr id="13" name="Text 11"/>
          <p:cNvSpPr/>
          <p:nvPr/>
        </p:nvSpPr>
        <p:spPr>
          <a:xfrm>
            <a:off x="502005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Pełna równoległość — cała sekwencja naraz na GPU</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Uwaga łączy dowolne dwie pozycje bezpośrednio</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Brak pojedynczego wąskiego gardła stanu</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Skaluje się z danymi i mocą obliczeniową</a:t>
            </a:r>
            <a:endParaRPr lang="en-US" sz="1250" dirty="0"/>
          </a:p>
        </p:txBody>
      </p:sp>
      <p:sp>
        <p:nvSpPr>
          <p:cNvPr id="14"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PRZEŁOM 2017</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"Attention Is All You Need"</a:t>
            </a:r>
            <a:endParaRPr lang="en-US" sz="3000" dirty="0"/>
          </a:p>
        </p:txBody>
      </p:sp>
      <p:sp>
        <p:nvSpPr>
          <p:cNvPr id="4" name="Shape 2"/>
          <p:cNvSpPr/>
          <p:nvPr/>
        </p:nvSpPr>
        <p:spPr>
          <a:xfrm>
            <a:off x="566928" y="1874520"/>
            <a:ext cx="2499360" cy="2103120"/>
          </a:xfrm>
          <a:prstGeom prst="roundRect">
            <a:avLst>
              <a:gd name="adj" fmla="val 4348"/>
            </a:avLst>
          </a:prstGeom>
          <a:solidFill>
            <a:srgbClr val="EEF2FF"/>
          </a:solidFill>
          <a:ln/>
          <a:effectLst>
            <a:outerShdw sx="100000" sy="100000" kx="0" ky="0" algn="bl" rotWithShape="0" blurRad="101600" dist="38100" dir="5400000">
              <a:srgbClr val="000000">
                <a:alpha val="12000"/>
              </a:srgbClr>
            </a:outerShdw>
          </a:effectLst>
        </p:spPr>
      </p:sp>
      <p:sp>
        <p:nvSpPr>
          <p:cNvPr id="5" name="Text 3"/>
          <p:cNvSpPr/>
          <p:nvPr/>
        </p:nvSpPr>
        <p:spPr>
          <a:xfrm>
            <a:off x="658368" y="2194560"/>
            <a:ext cx="2316480" cy="868680"/>
          </a:xfrm>
          <a:prstGeom prst="rect">
            <a:avLst/>
          </a:prstGeom>
          <a:noFill/>
          <a:ln/>
        </p:spPr>
        <p:txBody>
          <a:bodyPr wrap="square" lIns="0" tIns="0" rIns="0" bIns="0" rtlCol="0" anchor="ctr"/>
          <a:lstStyle/>
          <a:p>
            <a:pPr algn="ctr" indent="0" marL="0">
              <a:buNone/>
            </a:pPr>
            <a:r>
              <a:rPr lang="en-US" sz="4400" b="1" dirty="0">
                <a:solidFill>
                  <a:srgbClr val="4F46E5"/>
                </a:solidFill>
                <a:latin typeface="Cambria" pitchFamily="34" charset="0"/>
                <a:ea typeface="Cambria" pitchFamily="34" charset="-122"/>
                <a:cs typeface="Cambria" pitchFamily="34" charset="-120"/>
              </a:rPr>
              <a:t>2017</a:t>
            </a:r>
            <a:endParaRPr lang="en-US" sz="4400" dirty="0"/>
          </a:p>
        </p:txBody>
      </p:sp>
      <p:sp>
        <p:nvSpPr>
          <p:cNvPr id="6" name="Text 4"/>
          <p:cNvSpPr/>
          <p:nvPr/>
        </p:nvSpPr>
        <p:spPr>
          <a:xfrm>
            <a:off x="704088" y="3154680"/>
            <a:ext cx="2225040" cy="685800"/>
          </a:xfrm>
          <a:prstGeom prst="rect">
            <a:avLst/>
          </a:prstGeom>
          <a:noFill/>
          <a:ln/>
        </p:spPr>
        <p:txBody>
          <a:bodyPr wrap="square" lIns="0" tIns="0" rIns="0" bIns="0" rtlCol="0" anchor="t"/>
          <a:lstStyle/>
          <a:p>
            <a:pPr algn="ctr" indent="0" marL="0">
              <a:lnSpc>
                <a:spcPct val="95000"/>
              </a:lnSpc>
              <a:buNone/>
            </a:pPr>
            <a:r>
              <a:rPr lang="en-US" sz="1200" dirty="0">
                <a:solidFill>
                  <a:srgbClr val="64748B"/>
                </a:solidFill>
                <a:latin typeface="Calibri" pitchFamily="34" charset="0"/>
                <a:ea typeface="Calibri" pitchFamily="34" charset="-122"/>
                <a:cs typeface="Calibri" pitchFamily="34" charset="-120"/>
              </a:rPr>
              <a:t>Publikacja Vaswani i in. (Google)</a:t>
            </a:r>
            <a:endParaRPr lang="en-US" sz="1200" dirty="0"/>
          </a:p>
        </p:txBody>
      </p:sp>
      <p:sp>
        <p:nvSpPr>
          <p:cNvPr id="7" name="Shape 5"/>
          <p:cNvSpPr/>
          <p:nvPr/>
        </p:nvSpPr>
        <p:spPr>
          <a:xfrm>
            <a:off x="3340608" y="1874520"/>
            <a:ext cx="2499360" cy="2103120"/>
          </a:xfrm>
          <a:prstGeom prst="roundRect">
            <a:avLst>
              <a:gd name="adj" fmla="val 4348"/>
            </a:avLst>
          </a:prstGeom>
          <a:solidFill>
            <a:srgbClr val="E6FBF7"/>
          </a:solidFill>
          <a:ln/>
          <a:effectLst>
            <a:outerShdw sx="100000" sy="100000" kx="0" ky="0" algn="bl" rotWithShape="0" blurRad="101600" dist="38100" dir="5400000">
              <a:srgbClr val="000000">
                <a:alpha val="12000"/>
              </a:srgbClr>
            </a:outerShdw>
          </a:effectLst>
        </p:spPr>
      </p:sp>
      <p:sp>
        <p:nvSpPr>
          <p:cNvPr id="8" name="Text 6"/>
          <p:cNvSpPr/>
          <p:nvPr/>
        </p:nvSpPr>
        <p:spPr>
          <a:xfrm>
            <a:off x="3432048" y="2194560"/>
            <a:ext cx="2316480" cy="868680"/>
          </a:xfrm>
          <a:prstGeom prst="rect">
            <a:avLst/>
          </a:prstGeom>
          <a:noFill/>
          <a:ln/>
        </p:spPr>
        <p:txBody>
          <a:bodyPr wrap="square" lIns="0" tIns="0" rIns="0" bIns="0" rtlCol="0" anchor="ctr"/>
          <a:lstStyle/>
          <a:p>
            <a:pPr algn="ctr" indent="0" marL="0">
              <a:buNone/>
            </a:pPr>
            <a:r>
              <a:rPr lang="en-US" sz="4400" b="1" dirty="0">
                <a:solidFill>
                  <a:srgbClr val="14B8A6"/>
                </a:solidFill>
                <a:latin typeface="Cambria" pitchFamily="34" charset="0"/>
                <a:ea typeface="Cambria" pitchFamily="34" charset="-122"/>
                <a:cs typeface="Cambria" pitchFamily="34" charset="-120"/>
              </a:rPr>
              <a:t>0</a:t>
            </a:r>
            <a:endParaRPr lang="en-US" sz="4400" dirty="0"/>
          </a:p>
        </p:txBody>
      </p:sp>
      <p:sp>
        <p:nvSpPr>
          <p:cNvPr id="9" name="Text 7"/>
          <p:cNvSpPr/>
          <p:nvPr/>
        </p:nvSpPr>
        <p:spPr>
          <a:xfrm>
            <a:off x="3477768" y="3154680"/>
            <a:ext cx="2225040" cy="685800"/>
          </a:xfrm>
          <a:prstGeom prst="rect">
            <a:avLst/>
          </a:prstGeom>
          <a:noFill/>
          <a:ln/>
        </p:spPr>
        <p:txBody>
          <a:bodyPr wrap="square" lIns="0" tIns="0" rIns="0" bIns="0" rtlCol="0" anchor="t"/>
          <a:lstStyle/>
          <a:p>
            <a:pPr algn="ctr" indent="0" marL="0">
              <a:lnSpc>
                <a:spcPct val="95000"/>
              </a:lnSpc>
              <a:buNone/>
            </a:pPr>
            <a:r>
              <a:rPr lang="en-US" sz="1200" dirty="0">
                <a:solidFill>
                  <a:srgbClr val="64748B"/>
                </a:solidFill>
                <a:latin typeface="Calibri" pitchFamily="34" charset="0"/>
                <a:ea typeface="Calibri" pitchFamily="34" charset="-122"/>
                <a:cs typeface="Calibri" pitchFamily="34" charset="-120"/>
              </a:rPr>
              <a:t>warstw rekurencyjnych — tylko uwaga i FF</a:t>
            </a:r>
            <a:endParaRPr lang="en-US" sz="1200" dirty="0"/>
          </a:p>
        </p:txBody>
      </p:sp>
      <p:sp>
        <p:nvSpPr>
          <p:cNvPr id="10" name="Shape 8"/>
          <p:cNvSpPr/>
          <p:nvPr/>
        </p:nvSpPr>
        <p:spPr>
          <a:xfrm>
            <a:off x="6114288" y="1874520"/>
            <a:ext cx="2499360" cy="2103120"/>
          </a:xfrm>
          <a:prstGeom prst="roundRect">
            <a:avLst>
              <a:gd name="adj" fmla="val 4348"/>
            </a:avLst>
          </a:prstGeom>
          <a:solidFill>
            <a:srgbClr val="FEF3E2"/>
          </a:solidFill>
          <a:ln/>
          <a:effectLst>
            <a:outerShdw sx="100000" sy="100000" kx="0" ky="0" algn="bl" rotWithShape="0" blurRad="101600" dist="38100" dir="5400000">
              <a:srgbClr val="000000">
                <a:alpha val="12000"/>
              </a:srgbClr>
            </a:outerShdw>
          </a:effectLst>
        </p:spPr>
      </p:sp>
      <p:sp>
        <p:nvSpPr>
          <p:cNvPr id="11" name="Text 9"/>
          <p:cNvSpPr/>
          <p:nvPr/>
        </p:nvSpPr>
        <p:spPr>
          <a:xfrm>
            <a:off x="6205728" y="2194560"/>
            <a:ext cx="2316480" cy="868680"/>
          </a:xfrm>
          <a:prstGeom prst="rect">
            <a:avLst/>
          </a:prstGeom>
          <a:noFill/>
          <a:ln/>
        </p:spPr>
        <p:txBody>
          <a:bodyPr wrap="square" lIns="0" tIns="0" rIns="0" bIns="0" rtlCol="0" anchor="ctr"/>
          <a:lstStyle/>
          <a:p>
            <a:pPr algn="ctr" indent="0" marL="0">
              <a:buNone/>
            </a:pPr>
            <a:r>
              <a:rPr lang="en-US" sz="4400" b="1" dirty="0">
                <a:solidFill>
                  <a:srgbClr val="F59E0B"/>
                </a:solidFill>
                <a:latin typeface="Cambria" pitchFamily="34" charset="0"/>
                <a:ea typeface="Cambria" pitchFamily="34" charset="-122"/>
                <a:cs typeface="Cambria" pitchFamily="34" charset="-120"/>
              </a:rPr>
              <a:t>∞</a:t>
            </a:r>
            <a:endParaRPr lang="en-US" sz="4400" dirty="0"/>
          </a:p>
        </p:txBody>
      </p:sp>
      <p:sp>
        <p:nvSpPr>
          <p:cNvPr id="12" name="Text 10"/>
          <p:cNvSpPr/>
          <p:nvPr/>
        </p:nvSpPr>
        <p:spPr>
          <a:xfrm>
            <a:off x="6251448" y="3154680"/>
            <a:ext cx="2225040" cy="685800"/>
          </a:xfrm>
          <a:prstGeom prst="rect">
            <a:avLst/>
          </a:prstGeom>
          <a:noFill/>
          <a:ln/>
        </p:spPr>
        <p:txBody>
          <a:bodyPr wrap="square" lIns="0" tIns="0" rIns="0" bIns="0" rtlCol="0" anchor="t"/>
          <a:lstStyle/>
          <a:p>
            <a:pPr algn="ctr" indent="0" marL="0">
              <a:lnSpc>
                <a:spcPct val="95000"/>
              </a:lnSpc>
              <a:buNone/>
            </a:pPr>
            <a:r>
              <a:rPr lang="en-US" sz="1200" dirty="0">
                <a:solidFill>
                  <a:srgbClr val="64748B"/>
                </a:solidFill>
                <a:latin typeface="Calibri" pitchFamily="34" charset="0"/>
                <a:ea typeface="Calibri" pitchFamily="34" charset="-122"/>
                <a:cs typeface="Calibri" pitchFamily="34" charset="-120"/>
              </a:rPr>
              <a:t>punkt startowy dla GPT, BERT, Claude…</a:t>
            </a:r>
            <a:endParaRPr lang="en-US" sz="1200" dirty="0"/>
          </a:p>
        </p:txBody>
      </p:sp>
      <p:sp>
        <p:nvSpPr>
          <p:cNvPr id="13" name="Text 11"/>
          <p:cNvSpPr/>
          <p:nvPr/>
        </p:nvSpPr>
        <p:spPr>
          <a:xfrm>
            <a:off x="566928" y="4206240"/>
            <a:ext cx="8046720"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Jedna architektura, która stała się fundamentem niemal całego współczesnego NLP.</a:t>
            </a:r>
            <a:endParaRPr lang="en-US" sz="1250" dirty="0"/>
          </a:p>
        </p:txBody>
      </p:sp>
      <p:sp>
        <p:nvSpPr>
          <p:cNvPr id="14"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ARCHITEKTURA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Transformer — przepływ wysokopoziomowy</a:t>
            </a:r>
            <a:endParaRPr lang="en-US" sz="3000" dirty="0"/>
          </a:p>
        </p:txBody>
      </p:sp>
      <p:sp>
        <p:nvSpPr>
          <p:cNvPr id="4" name="Shape 2"/>
          <p:cNvSpPr/>
          <p:nvPr/>
        </p:nvSpPr>
        <p:spPr>
          <a:xfrm>
            <a:off x="566928" y="1691640"/>
            <a:ext cx="548640" cy="548640"/>
          </a:xfrm>
          <a:prstGeom prst="oval">
            <a:avLst/>
          </a:prstGeom>
          <a:solidFill>
            <a:srgbClr val="4F46E5"/>
          </a:solidFill>
          <a:ln/>
        </p:spPr>
      </p:sp>
      <p:sp>
        <p:nvSpPr>
          <p:cNvPr id="5" name="Text 3"/>
          <p:cNvSpPr/>
          <p:nvPr/>
        </p:nvSpPr>
        <p:spPr>
          <a:xfrm>
            <a:off x="566928"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841248" y="2240280"/>
            <a:ext cx="0" cy="182880"/>
          </a:xfrm>
          <a:prstGeom prst="line">
            <a:avLst/>
          </a:prstGeom>
          <a:noFill/>
          <a:ln w="19050">
            <a:solidFill>
              <a:srgbClr val="94A3B8"/>
            </a:solidFill>
            <a:prstDash val="dash"/>
          </a:ln>
        </p:spPr>
      </p:sp>
      <p:sp>
        <p:nvSpPr>
          <p:cNvPr id="7" name="Text 5"/>
          <p:cNvSpPr/>
          <p:nvPr/>
        </p:nvSpPr>
        <p:spPr>
          <a:xfrm>
            <a:off x="1325880" y="160020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Tokenizacja</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Tekst dzielony na tokeny (sub-słowa), każdy z numerem w słowniku.</a:t>
            </a:r>
            <a:endParaRPr lang="en-US" sz="1500" dirty="0"/>
          </a:p>
        </p:txBody>
      </p:sp>
      <p:sp>
        <p:nvSpPr>
          <p:cNvPr id="8" name="Shape 6"/>
          <p:cNvSpPr/>
          <p:nvPr/>
        </p:nvSpPr>
        <p:spPr>
          <a:xfrm>
            <a:off x="566928" y="2423160"/>
            <a:ext cx="548640" cy="548640"/>
          </a:xfrm>
          <a:prstGeom prst="oval">
            <a:avLst/>
          </a:prstGeom>
          <a:solidFill>
            <a:srgbClr val="14B8A6"/>
          </a:solidFill>
          <a:ln/>
        </p:spPr>
      </p:sp>
      <p:sp>
        <p:nvSpPr>
          <p:cNvPr id="9" name="Text 7"/>
          <p:cNvSpPr/>
          <p:nvPr/>
        </p:nvSpPr>
        <p:spPr>
          <a:xfrm>
            <a:off x="566928"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841248" y="2971800"/>
            <a:ext cx="0" cy="182880"/>
          </a:xfrm>
          <a:prstGeom prst="line">
            <a:avLst/>
          </a:prstGeom>
          <a:noFill/>
          <a:ln w="19050">
            <a:solidFill>
              <a:srgbClr val="94A3B8"/>
            </a:solidFill>
            <a:prstDash val="dash"/>
          </a:ln>
        </p:spPr>
      </p:sp>
      <p:sp>
        <p:nvSpPr>
          <p:cNvPr id="11" name="Text 9"/>
          <p:cNvSpPr/>
          <p:nvPr/>
        </p:nvSpPr>
        <p:spPr>
          <a:xfrm>
            <a:off x="1325880" y="233172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Embedding + pozycja</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Token → wektor; dokładana informacja o pozycji w sekwencji.</a:t>
            </a:r>
            <a:endParaRPr lang="en-US" sz="1500" dirty="0"/>
          </a:p>
        </p:txBody>
      </p:sp>
      <p:sp>
        <p:nvSpPr>
          <p:cNvPr id="12" name="Shape 10"/>
          <p:cNvSpPr/>
          <p:nvPr/>
        </p:nvSpPr>
        <p:spPr>
          <a:xfrm>
            <a:off x="566928" y="3154680"/>
            <a:ext cx="548640" cy="548640"/>
          </a:xfrm>
          <a:prstGeom prst="oval">
            <a:avLst/>
          </a:prstGeom>
          <a:solidFill>
            <a:srgbClr val="F59E0B"/>
          </a:solidFill>
          <a:ln/>
        </p:spPr>
      </p:sp>
      <p:sp>
        <p:nvSpPr>
          <p:cNvPr id="13" name="Text 11"/>
          <p:cNvSpPr/>
          <p:nvPr/>
        </p:nvSpPr>
        <p:spPr>
          <a:xfrm>
            <a:off x="566928" y="3154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Shape 12"/>
          <p:cNvSpPr/>
          <p:nvPr/>
        </p:nvSpPr>
        <p:spPr>
          <a:xfrm>
            <a:off x="841248" y="3703320"/>
            <a:ext cx="0" cy="182880"/>
          </a:xfrm>
          <a:prstGeom prst="line">
            <a:avLst/>
          </a:prstGeom>
          <a:noFill/>
          <a:ln w="19050">
            <a:solidFill>
              <a:srgbClr val="94A3B8"/>
            </a:solidFill>
            <a:prstDash val="dash"/>
          </a:ln>
        </p:spPr>
      </p:sp>
      <p:sp>
        <p:nvSpPr>
          <p:cNvPr id="15" name="Text 13"/>
          <p:cNvSpPr/>
          <p:nvPr/>
        </p:nvSpPr>
        <p:spPr>
          <a:xfrm>
            <a:off x="1325880" y="306324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Bloki uwagi (×N)</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Self-attention + feed-forward, powtórzone wielokrotnie.</a:t>
            </a:r>
            <a:endParaRPr lang="en-US" sz="1500" dirty="0"/>
          </a:p>
        </p:txBody>
      </p:sp>
      <p:sp>
        <p:nvSpPr>
          <p:cNvPr id="16" name="Shape 14"/>
          <p:cNvSpPr/>
          <p:nvPr/>
        </p:nvSpPr>
        <p:spPr>
          <a:xfrm>
            <a:off x="566928" y="3886200"/>
            <a:ext cx="548640" cy="548640"/>
          </a:xfrm>
          <a:prstGeom prst="oval">
            <a:avLst/>
          </a:prstGeom>
          <a:solidFill>
            <a:srgbClr val="E11D6B"/>
          </a:solidFill>
          <a:ln/>
        </p:spPr>
      </p:sp>
      <p:sp>
        <p:nvSpPr>
          <p:cNvPr id="17" name="Text 15"/>
          <p:cNvSpPr/>
          <p:nvPr/>
        </p:nvSpPr>
        <p:spPr>
          <a:xfrm>
            <a:off x="566928" y="3886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325880" y="379476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Głowica wyjściowa</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Rozkład prawdopodobieństwa nad całym słownikiem tokenów.</a:t>
            </a:r>
            <a:endParaRPr lang="en-US" sz="1500" dirty="0"/>
          </a:p>
        </p:txBody>
      </p:sp>
      <p:sp>
        <p:nvSpPr>
          <p:cNvPr id="19" name="Text 17"/>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INTUICJA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Mechanizm uwagi — o co właściwie chodzi?</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Uwaga pozwala każdemu tokenowi „spojrzeć" na inne tokeny i zważyć, które są istotne.</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Przykład: w zdaniu „Bank rzeki był stromy" słowo „bank" powinno zwrócić uwagę na „rzeki", by ujednoznacznić sens.</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Każdy token tworzy trzy wektory: Query (czego szukam), Key (czym jestem), Value (co wnoszę).</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Dopasowanie Query do Key daje wagi; ważona suma Value to nowa, kontekstowa reprezentacja tokenu.</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„Multi-head" — wiele równoległych głowic uczy się różnych typów relacji (składnia, koreferencja, semantyka).</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Query</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Czego szukam?</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Key</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Czym jestem?</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Value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Co wnoszę?</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POD MASKĄ</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Self-attention w trzech linijkach (intuicja)</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To nie kod produkcyjny — to esencja mechanizmu.</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scores: jak bardzo każdy token pasuje do każdego</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softmax: zamiana na wagi sumujące się do 1</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wynik: ważona mieszanka wektorów Value</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W realnym modelu: macierze, wiele głowic, maskowanie.</a:t>
            </a:r>
            <a:endParaRPr lang="en-US" sz="1300" dirty="0"/>
          </a:p>
        </p:txBody>
      </p:sp>
      <p:sp>
        <p:nvSpPr>
          <p:cNvPr id="5" name="Shape 3"/>
          <p:cNvSpPr/>
          <p:nvPr/>
        </p:nvSpPr>
        <p:spPr>
          <a:xfrm>
            <a:off x="4160520" y="1627632"/>
            <a:ext cx="4434840" cy="1997964"/>
          </a:xfrm>
          <a:prstGeom prst="roundRect">
            <a:avLst>
              <a:gd name="adj" fmla="val 2746"/>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7" name="Text 5"/>
          <p:cNvSpPr/>
          <p:nvPr/>
        </p:nvSpPr>
        <p:spPr>
          <a:xfrm>
            <a:off x="4361688" y="1920240"/>
            <a:ext cx="4069080" cy="1613916"/>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import numpy as np</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def attention(Q, K, V):</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podobieństwo Query do Key</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scores = Q @ K.T / np.sqrt(K.shape[-1])</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wagi uwagi (suma = 1)</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w = softmax(scores, axis=-1)</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kontekstowa reprezentacja</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return w @ V</a:t>
            </a:r>
            <a:endParaRPr lang="en-US" sz="1050" dirty="0"/>
          </a:p>
        </p:txBody>
      </p:sp>
      <p:sp>
        <p:nvSpPr>
          <p:cNvPr id="8" name="Shape 6"/>
          <p:cNvSpPr/>
          <p:nvPr/>
        </p:nvSpPr>
        <p:spPr>
          <a:xfrm>
            <a:off x="4160520" y="3771900"/>
            <a:ext cx="4434840" cy="566928"/>
          </a:xfrm>
          <a:prstGeom prst="roundRect">
            <a:avLst>
              <a:gd name="adj" fmla="val 9677"/>
            </a:avLst>
          </a:prstGeom>
          <a:solidFill>
            <a:srgbClr val="E6FBF7"/>
          </a:solidFill>
          <a:ln/>
        </p:spPr>
      </p:sp>
      <p:sp>
        <p:nvSpPr>
          <p:cNvPr id="9" name="Text 7"/>
          <p:cNvSpPr/>
          <p:nvPr/>
        </p:nvSpPr>
        <p:spPr>
          <a:xfrm>
            <a:off x="4325112" y="3771900"/>
            <a:ext cx="410565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Cała magia uwagi to iloczyn skalarny, skalowanie i softmax.</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WEJŚCIE MODELU</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Tokenizacja i embeddingi</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Model nie widzi liter ani słów — widzi tokeny (numery ze słownika sub-słów).</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Tokenizacja BPE/WordPiece: częste słowa = 1 token, rzadkie dzielone na fragmenty.</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„nieprawdopodobny" może być kilkoma tokenami; „kot" — jednym.</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Embedding: każdy token → gęsty wektor (np. 4096 wymiarów), uczony razem z modelem.</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Konsekwencja praktyczna: liczysz i płacisz za tokeny, nie za słowa — a polskie teksty są „droższe" tokenowo niż angielskie.</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Sub-słowa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BPE / WordPiece</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Wektory</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Gęste embeddingi</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Koszt</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Płacisz za tokeny</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GENERACJA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Jak model tworzy tekst: autoregresja</a:t>
            </a:r>
            <a:endParaRPr lang="en-US" sz="3000" dirty="0"/>
          </a:p>
        </p:txBody>
      </p:sp>
      <p:sp>
        <p:nvSpPr>
          <p:cNvPr id="4" name="Shape 2"/>
          <p:cNvSpPr/>
          <p:nvPr/>
        </p:nvSpPr>
        <p:spPr>
          <a:xfrm>
            <a:off x="566928"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1179576" y="2167128"/>
            <a:ext cx="566928" cy="566928"/>
          </a:xfrm>
          <a:prstGeom prst="roundRect">
            <a:avLst>
              <a:gd name="adj" fmla="val 22581"/>
            </a:avLst>
          </a:prstGeom>
          <a:solidFill>
            <a:srgbClr val="4F46E5"/>
          </a:solidFill>
          <a:ln/>
        </p:spPr>
      </p:sp>
      <p:pic>
        <p:nvPicPr>
          <p:cNvPr id="6" name="Image 0" descr="preencoded.png">    </p:cNvPr>
          <p:cNvPicPr>
            <a:picLocks noChangeAspect="1"/>
          </p:cNvPicPr>
          <p:nvPr/>
        </p:nvPicPr>
        <p:blipFill>
          <a:blip r:embed="rId1"/>
          <a:stretch>
            <a:fillRect/>
          </a:stretch>
        </p:blipFill>
        <p:spPr>
          <a:xfrm>
            <a:off x="1304300" y="2291852"/>
            <a:ext cx="317480" cy="317480"/>
          </a:xfrm>
          <a:prstGeom prst="rect">
            <a:avLst/>
          </a:prstGeom>
        </p:spPr>
      </p:pic>
      <p:sp>
        <p:nvSpPr>
          <p:cNvPr id="7" name="Text 4"/>
          <p:cNvSpPr/>
          <p:nvPr/>
        </p:nvSpPr>
        <p:spPr>
          <a:xfrm>
            <a:off x="658368"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1. Prompt</a:t>
            </a:r>
            <a:endParaRPr lang="en-US" sz="1250" dirty="0"/>
          </a:p>
        </p:txBody>
      </p:sp>
      <p:sp>
        <p:nvSpPr>
          <p:cNvPr id="8" name="Text 5"/>
          <p:cNvSpPr/>
          <p:nvPr/>
        </p:nvSpPr>
        <p:spPr>
          <a:xfrm>
            <a:off x="676656"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Tokeny wejściowe</a:t>
            </a:r>
            <a:endParaRPr lang="en-US" sz="950" dirty="0"/>
          </a:p>
        </p:txBody>
      </p:sp>
      <p:sp>
        <p:nvSpPr>
          <p:cNvPr id="9" name="Text 6"/>
          <p:cNvSpPr/>
          <p:nvPr/>
        </p:nvSpPr>
        <p:spPr>
          <a:xfrm>
            <a:off x="2340864"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0" name="Shape 7"/>
          <p:cNvSpPr/>
          <p:nvPr/>
        </p:nvSpPr>
        <p:spPr>
          <a:xfrm>
            <a:off x="2651760"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1" name="Shape 8"/>
          <p:cNvSpPr/>
          <p:nvPr/>
        </p:nvSpPr>
        <p:spPr>
          <a:xfrm>
            <a:off x="3264408" y="2167128"/>
            <a:ext cx="566928" cy="566928"/>
          </a:xfrm>
          <a:prstGeom prst="roundRect">
            <a:avLst>
              <a:gd name="adj" fmla="val 22581"/>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3389132" y="2291852"/>
            <a:ext cx="317480" cy="317480"/>
          </a:xfrm>
          <a:prstGeom prst="rect">
            <a:avLst/>
          </a:prstGeom>
        </p:spPr>
      </p:pic>
      <p:sp>
        <p:nvSpPr>
          <p:cNvPr id="13" name="Text 9"/>
          <p:cNvSpPr/>
          <p:nvPr/>
        </p:nvSpPr>
        <p:spPr>
          <a:xfrm>
            <a:off x="2743200"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2. Forward pass</a:t>
            </a:r>
            <a:endParaRPr lang="en-US" sz="1250" dirty="0"/>
          </a:p>
        </p:txBody>
      </p:sp>
      <p:sp>
        <p:nvSpPr>
          <p:cNvPr id="14" name="Text 10"/>
          <p:cNvSpPr/>
          <p:nvPr/>
        </p:nvSpPr>
        <p:spPr>
          <a:xfrm>
            <a:off x="2761488"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Rozkład nad słownikiem</a:t>
            </a:r>
            <a:endParaRPr lang="en-US" sz="950" dirty="0"/>
          </a:p>
        </p:txBody>
      </p:sp>
      <p:sp>
        <p:nvSpPr>
          <p:cNvPr id="15" name="Text 11"/>
          <p:cNvSpPr/>
          <p:nvPr/>
        </p:nvSpPr>
        <p:spPr>
          <a:xfrm>
            <a:off x="4425696"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6" name="Shape 12"/>
          <p:cNvSpPr/>
          <p:nvPr/>
        </p:nvSpPr>
        <p:spPr>
          <a:xfrm>
            <a:off x="4736592"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7" name="Shape 13"/>
          <p:cNvSpPr/>
          <p:nvPr/>
        </p:nvSpPr>
        <p:spPr>
          <a:xfrm>
            <a:off x="5349240" y="2167128"/>
            <a:ext cx="566928" cy="566928"/>
          </a:xfrm>
          <a:prstGeom prst="roundRect">
            <a:avLst>
              <a:gd name="adj" fmla="val 22581"/>
            </a:avLst>
          </a:prstGeom>
          <a:solidFill>
            <a:srgbClr val="F59E0B"/>
          </a:solidFill>
          <a:ln/>
        </p:spPr>
      </p:sp>
      <p:pic>
        <p:nvPicPr>
          <p:cNvPr id="18" name="Image 2" descr="preencoded.png">    </p:cNvPr>
          <p:cNvPicPr>
            <a:picLocks noChangeAspect="1"/>
          </p:cNvPicPr>
          <p:nvPr/>
        </p:nvPicPr>
        <p:blipFill>
          <a:blip r:embed="rId3"/>
          <a:stretch>
            <a:fillRect/>
          </a:stretch>
        </p:blipFill>
        <p:spPr>
          <a:xfrm>
            <a:off x="5473964" y="2291852"/>
            <a:ext cx="317480" cy="317480"/>
          </a:xfrm>
          <a:prstGeom prst="rect">
            <a:avLst/>
          </a:prstGeom>
        </p:spPr>
      </p:pic>
      <p:sp>
        <p:nvSpPr>
          <p:cNvPr id="19" name="Text 14"/>
          <p:cNvSpPr/>
          <p:nvPr/>
        </p:nvSpPr>
        <p:spPr>
          <a:xfrm>
            <a:off x="4828032"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3. Sampling</a:t>
            </a:r>
            <a:endParaRPr lang="en-US" sz="1250" dirty="0"/>
          </a:p>
        </p:txBody>
      </p:sp>
      <p:sp>
        <p:nvSpPr>
          <p:cNvPr id="20" name="Text 15"/>
          <p:cNvSpPr/>
          <p:nvPr/>
        </p:nvSpPr>
        <p:spPr>
          <a:xfrm>
            <a:off x="4846320"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Wybór 1 tokenu</a:t>
            </a:r>
            <a:endParaRPr lang="en-US" sz="950" dirty="0"/>
          </a:p>
        </p:txBody>
      </p:sp>
      <p:sp>
        <p:nvSpPr>
          <p:cNvPr id="21" name="Text 16"/>
          <p:cNvSpPr/>
          <p:nvPr/>
        </p:nvSpPr>
        <p:spPr>
          <a:xfrm>
            <a:off x="6510528"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22" name="Shape 17"/>
          <p:cNvSpPr/>
          <p:nvPr/>
        </p:nvSpPr>
        <p:spPr>
          <a:xfrm>
            <a:off x="6821424"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23" name="Shape 18"/>
          <p:cNvSpPr/>
          <p:nvPr/>
        </p:nvSpPr>
        <p:spPr>
          <a:xfrm>
            <a:off x="7434072" y="2167128"/>
            <a:ext cx="566928" cy="566928"/>
          </a:xfrm>
          <a:prstGeom prst="roundRect">
            <a:avLst>
              <a:gd name="adj" fmla="val 22581"/>
            </a:avLst>
          </a:prstGeom>
          <a:solidFill>
            <a:srgbClr val="E11D6B"/>
          </a:solidFill>
          <a:ln/>
        </p:spPr>
      </p:sp>
      <p:pic>
        <p:nvPicPr>
          <p:cNvPr id="24" name="Image 3" descr="preencoded.png">    </p:cNvPr>
          <p:cNvPicPr>
            <a:picLocks noChangeAspect="1"/>
          </p:cNvPicPr>
          <p:nvPr/>
        </p:nvPicPr>
        <p:blipFill>
          <a:blip r:embed="rId4"/>
          <a:stretch>
            <a:fillRect/>
          </a:stretch>
        </p:blipFill>
        <p:spPr>
          <a:xfrm>
            <a:off x="7558796" y="2291852"/>
            <a:ext cx="317480" cy="317480"/>
          </a:xfrm>
          <a:prstGeom prst="rect">
            <a:avLst/>
          </a:prstGeom>
        </p:spPr>
      </p:pic>
      <p:sp>
        <p:nvSpPr>
          <p:cNvPr id="25" name="Text 19"/>
          <p:cNvSpPr/>
          <p:nvPr/>
        </p:nvSpPr>
        <p:spPr>
          <a:xfrm>
            <a:off x="6912864"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4. Pętla</a:t>
            </a:r>
            <a:endParaRPr lang="en-US" sz="1250" dirty="0"/>
          </a:p>
        </p:txBody>
      </p:sp>
      <p:sp>
        <p:nvSpPr>
          <p:cNvPr id="26" name="Text 20"/>
          <p:cNvSpPr/>
          <p:nvPr/>
        </p:nvSpPr>
        <p:spPr>
          <a:xfrm>
            <a:off x="6931152"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Doklej i powtórz</a:t>
            </a:r>
            <a:endParaRPr lang="en-US" sz="950" dirty="0"/>
          </a:p>
        </p:txBody>
      </p:sp>
      <p:sp>
        <p:nvSpPr>
          <p:cNvPr id="27" name="Text 21"/>
          <p:cNvSpPr/>
          <p:nvPr/>
        </p:nvSpPr>
        <p:spPr>
          <a:xfrm>
            <a:off x="566928" y="4160520"/>
            <a:ext cx="8046720"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Model generuje token po tokenie — każdy nowy token staje się częścią wejścia dla kolejnego kroku.</a:t>
            </a:r>
            <a:endParaRPr lang="en-US" sz="1250" dirty="0"/>
          </a:p>
        </p:txBody>
      </p:sp>
      <p:sp>
        <p:nvSpPr>
          <p:cNvPr id="28" name="Text 2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STEROWANIE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Parametry generacji — Twoje pokrętła</a:t>
            </a:r>
            <a:endParaRPr lang="en-US" sz="3000" dirty="0"/>
          </a:p>
        </p:txBody>
      </p:sp>
      <p:sp>
        <p:nvSpPr>
          <p:cNvPr id="4" name="Shape 2"/>
          <p:cNvSpPr/>
          <p:nvPr/>
        </p:nvSpPr>
        <p:spPr>
          <a:xfrm>
            <a:off x="566928" y="1600200"/>
            <a:ext cx="3977640" cy="841248"/>
          </a:xfrm>
          <a:prstGeom prst="roundRect">
            <a:avLst>
              <a:gd name="adj" fmla="val 8696"/>
            </a:avLst>
          </a:prstGeom>
          <a:solidFill>
            <a:srgbClr val="FEF3E2"/>
          </a:solidFill>
          <a:ln/>
          <a:effectLst>
            <a:outerShdw sx="100000" sy="100000" kx="0" ky="0" algn="bl" rotWithShape="0" blurRad="101600" dist="38100" dir="5400000">
              <a:srgbClr val="000000">
                <a:alpha val="12000"/>
              </a:srgbClr>
            </a:outerShdw>
          </a:effectLst>
        </p:spPr>
      </p:sp>
      <p:sp>
        <p:nvSpPr>
          <p:cNvPr id="5" name="Shape 3"/>
          <p:cNvSpPr/>
          <p:nvPr/>
        </p:nvSpPr>
        <p:spPr>
          <a:xfrm>
            <a:off x="713232" y="1783080"/>
            <a:ext cx="475488" cy="475488"/>
          </a:xfrm>
          <a:prstGeom prst="roundRect">
            <a:avLst>
              <a:gd name="adj" fmla="val 19231"/>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817839" y="1887687"/>
            <a:ext cx="266273" cy="266273"/>
          </a:xfrm>
          <a:prstGeom prst="rect">
            <a:avLst/>
          </a:prstGeom>
        </p:spPr>
      </p:pic>
      <p:sp>
        <p:nvSpPr>
          <p:cNvPr id="7" name="Text 4"/>
          <p:cNvSpPr/>
          <p:nvPr/>
        </p:nvSpPr>
        <p:spPr>
          <a:xfrm>
            <a:off x="1316736" y="1655064"/>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temperature</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Losowość. 0 = deterministycznie, 1+ = kreatywnie.</a:t>
            </a:r>
            <a:endParaRPr lang="en-US" sz="1300" dirty="0"/>
          </a:p>
        </p:txBody>
      </p:sp>
      <p:sp>
        <p:nvSpPr>
          <p:cNvPr id="8" name="Shape 5"/>
          <p:cNvSpPr/>
          <p:nvPr/>
        </p:nvSpPr>
        <p:spPr>
          <a:xfrm>
            <a:off x="566928" y="2587752"/>
            <a:ext cx="3977640" cy="841248"/>
          </a:xfrm>
          <a:prstGeom prst="roundRect">
            <a:avLst>
              <a:gd name="adj" fmla="val 8696"/>
            </a:avLst>
          </a:prstGeom>
          <a:solidFill>
            <a:srgbClr val="EEF2FF"/>
          </a:solidFill>
          <a:ln/>
          <a:effectLst>
            <a:outerShdw sx="100000" sy="100000" kx="0" ky="0" algn="bl" rotWithShape="0" blurRad="101600" dist="38100" dir="5400000">
              <a:srgbClr val="000000">
                <a:alpha val="12000"/>
              </a:srgbClr>
            </a:outerShdw>
          </a:effectLst>
        </p:spPr>
      </p:sp>
      <p:sp>
        <p:nvSpPr>
          <p:cNvPr id="9" name="Shape 6"/>
          <p:cNvSpPr/>
          <p:nvPr/>
        </p:nvSpPr>
        <p:spPr>
          <a:xfrm>
            <a:off x="713232" y="2770632"/>
            <a:ext cx="475488" cy="475488"/>
          </a:xfrm>
          <a:prstGeom prst="roundRect">
            <a:avLst>
              <a:gd name="adj" fmla="val 19231"/>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817839" y="2875239"/>
            <a:ext cx="266273" cy="266273"/>
          </a:xfrm>
          <a:prstGeom prst="rect">
            <a:avLst/>
          </a:prstGeom>
        </p:spPr>
      </p:pic>
      <p:sp>
        <p:nvSpPr>
          <p:cNvPr id="11" name="Text 7"/>
          <p:cNvSpPr/>
          <p:nvPr/>
        </p:nvSpPr>
        <p:spPr>
          <a:xfrm>
            <a:off x="1316736" y="2642616"/>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top_p (nucleus)</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Bierz tokeny do skumulowanego p prawdopodobieństwa.</a:t>
            </a:r>
            <a:endParaRPr lang="en-US" sz="1300" dirty="0"/>
          </a:p>
        </p:txBody>
      </p:sp>
      <p:sp>
        <p:nvSpPr>
          <p:cNvPr id="12" name="Shape 8"/>
          <p:cNvSpPr/>
          <p:nvPr/>
        </p:nvSpPr>
        <p:spPr>
          <a:xfrm>
            <a:off x="566928" y="3575304"/>
            <a:ext cx="3977640" cy="841248"/>
          </a:xfrm>
          <a:prstGeom prst="roundRect">
            <a:avLst>
              <a:gd name="adj" fmla="val 8696"/>
            </a:avLst>
          </a:prstGeom>
          <a:solidFill>
            <a:srgbClr val="E6FBF7"/>
          </a:solidFill>
          <a:ln/>
          <a:effectLst>
            <a:outerShdw sx="100000" sy="100000" kx="0" ky="0" algn="bl" rotWithShape="0" blurRad="101600" dist="38100" dir="5400000">
              <a:srgbClr val="000000">
                <a:alpha val="12000"/>
              </a:srgbClr>
            </a:outerShdw>
          </a:effectLst>
        </p:spPr>
      </p:sp>
      <p:sp>
        <p:nvSpPr>
          <p:cNvPr id="13" name="Shape 9"/>
          <p:cNvSpPr/>
          <p:nvPr/>
        </p:nvSpPr>
        <p:spPr>
          <a:xfrm>
            <a:off x="713232" y="3758184"/>
            <a:ext cx="475488" cy="475488"/>
          </a:xfrm>
          <a:prstGeom prst="roundRect">
            <a:avLst>
              <a:gd name="adj" fmla="val 19231"/>
            </a:avLst>
          </a:prstGeom>
          <a:solidFill>
            <a:srgbClr val="FFFFFF"/>
          </a:solidFill>
          <a:ln/>
        </p:spPr>
      </p:sp>
      <p:pic>
        <p:nvPicPr>
          <p:cNvPr id="14" name="Image 2" descr="preencoded.png">    </p:cNvPr>
          <p:cNvPicPr>
            <a:picLocks noChangeAspect="1"/>
          </p:cNvPicPr>
          <p:nvPr/>
        </p:nvPicPr>
        <p:blipFill>
          <a:blip r:embed="rId3"/>
          <a:stretch>
            <a:fillRect/>
          </a:stretch>
        </p:blipFill>
        <p:spPr>
          <a:xfrm>
            <a:off x="817839" y="3862791"/>
            <a:ext cx="266273" cy="266273"/>
          </a:xfrm>
          <a:prstGeom prst="rect">
            <a:avLst/>
          </a:prstGeom>
        </p:spPr>
      </p:pic>
      <p:sp>
        <p:nvSpPr>
          <p:cNvPr id="15" name="Text 10"/>
          <p:cNvSpPr/>
          <p:nvPr/>
        </p:nvSpPr>
        <p:spPr>
          <a:xfrm>
            <a:off x="1316736" y="3630168"/>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top_k</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Ogranicz wybór do k najbardziej prawdopodobnych.</a:t>
            </a:r>
            <a:endParaRPr lang="en-US" sz="1300" dirty="0"/>
          </a:p>
        </p:txBody>
      </p:sp>
      <p:sp>
        <p:nvSpPr>
          <p:cNvPr id="16" name="Shape 11"/>
          <p:cNvSpPr/>
          <p:nvPr/>
        </p:nvSpPr>
        <p:spPr>
          <a:xfrm>
            <a:off x="4818888" y="1600200"/>
            <a:ext cx="3977640" cy="841248"/>
          </a:xfrm>
          <a:prstGeom prst="roundRect">
            <a:avLst>
              <a:gd name="adj" fmla="val 8696"/>
            </a:avLst>
          </a:prstGeom>
          <a:solidFill>
            <a:srgbClr val="FCE7F0"/>
          </a:solidFill>
          <a:ln/>
          <a:effectLst>
            <a:outerShdw sx="100000" sy="100000" kx="0" ky="0" algn="bl" rotWithShape="0" blurRad="101600" dist="38100" dir="5400000">
              <a:srgbClr val="000000">
                <a:alpha val="12000"/>
              </a:srgbClr>
            </a:outerShdw>
          </a:effectLst>
        </p:spPr>
      </p:sp>
      <p:sp>
        <p:nvSpPr>
          <p:cNvPr id="17" name="Shape 12"/>
          <p:cNvSpPr/>
          <p:nvPr/>
        </p:nvSpPr>
        <p:spPr>
          <a:xfrm>
            <a:off x="4965192" y="1783080"/>
            <a:ext cx="475488" cy="475488"/>
          </a:xfrm>
          <a:prstGeom prst="roundRect">
            <a:avLst>
              <a:gd name="adj" fmla="val 19231"/>
            </a:avLst>
          </a:prstGeom>
          <a:solidFill>
            <a:srgbClr val="FFFFFF"/>
          </a:solidFill>
          <a:ln/>
        </p:spPr>
      </p:sp>
      <p:pic>
        <p:nvPicPr>
          <p:cNvPr id="18" name="Image 3" descr="preencoded.png">    </p:cNvPr>
          <p:cNvPicPr>
            <a:picLocks noChangeAspect="1"/>
          </p:cNvPicPr>
          <p:nvPr/>
        </p:nvPicPr>
        <p:blipFill>
          <a:blip r:embed="rId4"/>
          <a:stretch>
            <a:fillRect/>
          </a:stretch>
        </p:blipFill>
        <p:spPr>
          <a:xfrm>
            <a:off x="5069799" y="1887687"/>
            <a:ext cx="266273" cy="266273"/>
          </a:xfrm>
          <a:prstGeom prst="rect">
            <a:avLst/>
          </a:prstGeom>
        </p:spPr>
      </p:pic>
      <p:sp>
        <p:nvSpPr>
          <p:cNvPr id="19" name="Text 13"/>
          <p:cNvSpPr/>
          <p:nvPr/>
        </p:nvSpPr>
        <p:spPr>
          <a:xfrm>
            <a:off x="5568696" y="1655064"/>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max_tokens</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Twardy limit długości odpowiedzi (i kosztu).</a:t>
            </a:r>
            <a:endParaRPr lang="en-US" sz="1300" dirty="0"/>
          </a:p>
        </p:txBody>
      </p:sp>
      <p:sp>
        <p:nvSpPr>
          <p:cNvPr id="20" name="Shape 14"/>
          <p:cNvSpPr/>
          <p:nvPr/>
        </p:nvSpPr>
        <p:spPr>
          <a:xfrm>
            <a:off x="4818888" y="2587752"/>
            <a:ext cx="3977640" cy="841248"/>
          </a:xfrm>
          <a:prstGeom prst="roundRect">
            <a:avLst>
              <a:gd name="adj" fmla="val 8696"/>
            </a:avLst>
          </a:prstGeom>
          <a:solidFill>
            <a:srgbClr val="E7F6EC"/>
          </a:solidFill>
          <a:ln/>
          <a:effectLst>
            <a:outerShdw sx="100000" sy="100000" kx="0" ky="0" algn="bl" rotWithShape="0" blurRad="101600" dist="38100" dir="5400000">
              <a:srgbClr val="000000">
                <a:alpha val="12000"/>
              </a:srgbClr>
            </a:outerShdw>
          </a:effectLst>
        </p:spPr>
      </p:sp>
      <p:sp>
        <p:nvSpPr>
          <p:cNvPr id="21" name="Shape 15"/>
          <p:cNvSpPr/>
          <p:nvPr/>
        </p:nvSpPr>
        <p:spPr>
          <a:xfrm>
            <a:off x="4965192" y="2770632"/>
            <a:ext cx="475488" cy="475488"/>
          </a:xfrm>
          <a:prstGeom prst="roundRect">
            <a:avLst>
              <a:gd name="adj" fmla="val 19231"/>
            </a:avLst>
          </a:prstGeom>
          <a:solidFill>
            <a:srgbClr val="FFFFFF"/>
          </a:solidFill>
          <a:ln/>
        </p:spPr>
      </p:sp>
      <p:pic>
        <p:nvPicPr>
          <p:cNvPr id="22" name="Image 4" descr="preencoded.png">    </p:cNvPr>
          <p:cNvPicPr>
            <a:picLocks noChangeAspect="1"/>
          </p:cNvPicPr>
          <p:nvPr/>
        </p:nvPicPr>
        <p:blipFill>
          <a:blip r:embed="rId5"/>
          <a:stretch>
            <a:fillRect/>
          </a:stretch>
        </p:blipFill>
        <p:spPr>
          <a:xfrm>
            <a:off x="5069799" y="2875239"/>
            <a:ext cx="266273" cy="266273"/>
          </a:xfrm>
          <a:prstGeom prst="rect">
            <a:avLst/>
          </a:prstGeom>
        </p:spPr>
      </p:pic>
      <p:sp>
        <p:nvSpPr>
          <p:cNvPr id="23" name="Text 16"/>
          <p:cNvSpPr/>
          <p:nvPr/>
        </p:nvSpPr>
        <p:spPr>
          <a:xfrm>
            <a:off x="5568696" y="2642616"/>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stop</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Sekwencje, na których generacja się urywa.</a:t>
            </a:r>
            <a:endParaRPr lang="en-US" sz="1300" dirty="0"/>
          </a:p>
        </p:txBody>
      </p:sp>
      <p:sp>
        <p:nvSpPr>
          <p:cNvPr id="24" name="Shape 17"/>
          <p:cNvSpPr/>
          <p:nvPr/>
        </p:nvSpPr>
        <p:spPr>
          <a:xfrm>
            <a:off x="4818888" y="3575304"/>
            <a:ext cx="3977640" cy="841248"/>
          </a:xfrm>
          <a:prstGeom prst="roundRect">
            <a:avLst>
              <a:gd name="adj" fmla="val 8696"/>
            </a:avLst>
          </a:prstGeom>
          <a:solidFill>
            <a:srgbClr val="EEF0FA"/>
          </a:solidFill>
          <a:ln/>
          <a:effectLst>
            <a:outerShdw sx="100000" sy="100000" kx="0" ky="0" algn="bl" rotWithShape="0" blurRad="101600" dist="38100" dir="5400000">
              <a:srgbClr val="000000">
                <a:alpha val="12000"/>
              </a:srgbClr>
            </a:outerShdw>
          </a:effectLst>
        </p:spPr>
      </p:sp>
      <p:sp>
        <p:nvSpPr>
          <p:cNvPr id="25" name="Shape 18"/>
          <p:cNvSpPr/>
          <p:nvPr/>
        </p:nvSpPr>
        <p:spPr>
          <a:xfrm>
            <a:off x="4965192" y="3758184"/>
            <a:ext cx="475488" cy="475488"/>
          </a:xfrm>
          <a:prstGeom prst="roundRect">
            <a:avLst>
              <a:gd name="adj" fmla="val 19231"/>
            </a:avLst>
          </a:prstGeom>
          <a:solidFill>
            <a:srgbClr val="FFFFFF"/>
          </a:solidFill>
          <a:ln/>
        </p:spPr>
      </p:sp>
      <p:pic>
        <p:nvPicPr>
          <p:cNvPr id="26" name="Image 5" descr="preencoded.png">    </p:cNvPr>
          <p:cNvPicPr>
            <a:picLocks noChangeAspect="1"/>
          </p:cNvPicPr>
          <p:nvPr/>
        </p:nvPicPr>
        <p:blipFill>
          <a:blip r:embed="rId6"/>
          <a:stretch>
            <a:fillRect/>
          </a:stretch>
        </p:blipFill>
        <p:spPr>
          <a:xfrm>
            <a:off x="5069799" y="3862791"/>
            <a:ext cx="266273" cy="266273"/>
          </a:xfrm>
          <a:prstGeom prst="rect">
            <a:avLst/>
          </a:prstGeom>
        </p:spPr>
      </p:pic>
      <p:sp>
        <p:nvSpPr>
          <p:cNvPr id="27" name="Text 19"/>
          <p:cNvSpPr/>
          <p:nvPr/>
        </p:nvSpPr>
        <p:spPr>
          <a:xfrm>
            <a:off x="5568696" y="3630168"/>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frequency / presence penalty</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Zniechęcanie do powtórzeń.</a:t>
            </a:r>
            <a:endParaRPr lang="en-US" sz="1300" dirty="0"/>
          </a:p>
        </p:txBody>
      </p:sp>
      <p:sp>
        <p:nvSpPr>
          <p:cNvPr id="28" name="Text 20"/>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KRAJOBRAZ</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Ekosystem modeli 2024–2026</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Trzy osie zmian, które definiują dzisiejszy rynek:</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Rosnące okna kontekstu — od kilku tysięcy do milionów tokenów.</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Multimodalność jako standard — tekst, obraz, audio, wideo w jednym modelu.</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Modele „rozumujące" — dłuższy wewnętrzny łańcuch myśli przed odpowiedzią.</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Coraz silniejsze modele open-weight, które realnie konkurują z własnościowymi.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Spadające koszty inferencji i wzrost znaczenia małych, wyspecjalizowanych modeli.</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Kontekst</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 miliony tokenów</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Multimodal</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Standard</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Open-weight</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Dogania</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960000">
            <a:off x="7498080" y="-1188720"/>
            <a:ext cx="4206240" cy="4206240"/>
          </a:xfrm>
          <a:prstGeom prst="roundRect">
            <a:avLst>
              <a:gd name="adj" fmla="val 10870"/>
            </a:avLst>
          </a:prstGeom>
          <a:solidFill>
            <a:srgbClr val="14B8A6">
              <a:alpha val="12000"/>
            </a:srgbClr>
          </a:solidFill>
          <a:ln/>
        </p:spPr>
      </p:sp>
      <p:sp>
        <p:nvSpPr>
          <p:cNvPr id="3" name="Shape 1"/>
          <p:cNvSpPr/>
          <p:nvPr/>
        </p:nvSpPr>
        <p:spPr>
          <a:xfrm>
            <a:off x="548640" y="1371600"/>
            <a:ext cx="914400" cy="914400"/>
          </a:xfrm>
          <a:prstGeom prst="roundRect">
            <a:avLst>
              <a:gd name="adj" fmla="val 20000"/>
            </a:avLst>
          </a:prstGeom>
          <a:solidFill>
            <a:srgbClr val="14B8A6"/>
          </a:solidFill>
          <a:ln/>
        </p:spPr>
      </p:sp>
      <p:pic>
        <p:nvPicPr>
          <p:cNvPr id="4" name="Image 0" descr="preencoded.png">    </p:cNvPr>
          <p:cNvPicPr>
            <a:picLocks noChangeAspect="1"/>
          </p:cNvPicPr>
          <p:nvPr/>
        </p:nvPicPr>
        <p:blipFill>
          <a:blip r:embed="rId1"/>
          <a:stretch>
            <a:fillRect/>
          </a:stretch>
        </p:blipFill>
        <p:spPr>
          <a:xfrm>
            <a:off x="749808" y="1572768"/>
            <a:ext cx="512064" cy="512064"/>
          </a:xfrm>
          <a:prstGeom prst="rect">
            <a:avLst/>
          </a:prstGeom>
        </p:spPr>
      </p:pic>
      <p:sp>
        <p:nvSpPr>
          <p:cNvPr id="5" name="Text 2"/>
          <p:cNvSpPr/>
          <p:nvPr/>
        </p:nvSpPr>
        <p:spPr>
          <a:xfrm>
            <a:off x="566928" y="640080"/>
            <a:ext cx="7315200" cy="365760"/>
          </a:xfrm>
          <a:prstGeom prst="rect">
            <a:avLst/>
          </a:prstGeom>
          <a:noFill/>
          <a:ln/>
        </p:spPr>
        <p:txBody>
          <a:bodyPr wrap="square" lIns="0" tIns="0" rIns="0" bIns="0"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DZIEŃ 1</a:t>
            </a:r>
            <a:endParaRPr lang="en-US" sz="1300" dirty="0"/>
          </a:p>
        </p:txBody>
      </p:sp>
      <p:sp>
        <p:nvSpPr>
          <p:cNvPr id="6" name="Text 3"/>
          <p:cNvSpPr/>
          <p:nvPr/>
        </p:nvSpPr>
        <p:spPr>
          <a:xfrm>
            <a:off x="548640" y="2514600"/>
            <a:ext cx="8229600" cy="1188720"/>
          </a:xfrm>
          <a:prstGeom prst="rect">
            <a:avLst/>
          </a:prstGeom>
          <a:noFill/>
          <a:ln/>
        </p:spPr>
        <p:txBody>
          <a:bodyPr wrap="square" lIns="0" tIns="0" rIns="0" bIns="0" rtlCol="0" anchor="ctr"/>
          <a:lstStyle/>
          <a:p>
            <a:pPr indent="0" marL="0">
              <a:lnSpc>
                <a:spcPct val="98000"/>
              </a:lnSpc>
              <a:buNone/>
            </a:pPr>
            <a:r>
              <a:rPr lang="en-US" sz="3300" b="1" dirty="0">
                <a:solidFill>
                  <a:srgbClr val="14B8A6"/>
                </a:solidFill>
                <a:latin typeface="Cambria" pitchFamily="34" charset="0"/>
                <a:ea typeface="Cambria" pitchFamily="34" charset="-122"/>
                <a:cs typeface="Cambria" pitchFamily="34" charset="-120"/>
              </a:rPr>
              <a:t>Sekcja 2  </a:t>
            </a:r>
            <a:pPr indent="0" marL="0">
              <a:lnSpc>
                <a:spcPct val="98000"/>
              </a:lnSpc>
              <a:buNone/>
            </a:pPr>
            <a:r>
              <a:rPr lang="en-US" sz="3300" b="1" dirty="0">
                <a:solidFill>
                  <a:srgbClr val="FFFFFF"/>
                </a:solidFill>
                <a:latin typeface="Cambria" pitchFamily="34" charset="0"/>
                <a:ea typeface="Cambria" pitchFamily="34" charset="-122"/>
                <a:cs typeface="Cambria" pitchFamily="34" charset="-120"/>
              </a:rPr>
              <a:t>Współczesne modele LLM</a:t>
            </a:r>
            <a:endParaRPr lang="en-US" sz="3300" dirty="0"/>
          </a:p>
        </p:txBody>
      </p:sp>
      <p:sp>
        <p:nvSpPr>
          <p:cNvPr id="7" name="Text 4"/>
          <p:cNvSpPr/>
          <p:nvPr/>
        </p:nvSpPr>
        <p:spPr>
          <a:xfrm>
            <a:off x="585216" y="3794760"/>
            <a:ext cx="8229600" cy="1097280"/>
          </a:xfrm>
          <a:prstGeom prst="rect">
            <a:avLst/>
          </a:prstGeom>
          <a:noFill/>
          <a:ln/>
        </p:spPr>
        <p:txBody>
          <a:bodyPr wrap="square" lIns="0" tIns="0" rIns="0" bIns="0" rtlCol="0" anchor="ctr"/>
          <a:lstStyle/>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Modele własnościowe i open-source</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Modele multimodalne</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Wybór modelu: koszt vs jakość</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DWA ŚWIATY</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Własnościowe vs open-source</a:t>
            </a:r>
            <a:endParaRPr lang="en-US" sz="3000" dirty="0"/>
          </a:p>
        </p:txBody>
      </p:sp>
      <p:sp>
        <p:nvSpPr>
          <p:cNvPr id="4" name="Shape 2"/>
          <p:cNvSpPr/>
          <p:nvPr/>
        </p:nvSpPr>
        <p:spPr>
          <a:xfrm>
            <a:off x="56692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566928" y="1645920"/>
            <a:ext cx="3977640" cy="640080"/>
          </a:xfrm>
          <a:prstGeom prst="roundRect">
            <a:avLst>
              <a:gd name="adj" fmla="val 14286"/>
            </a:avLst>
          </a:prstGeom>
          <a:solidFill>
            <a:srgbClr val="4F46E5"/>
          </a:solidFill>
          <a:ln/>
        </p:spPr>
      </p:sp>
      <p:sp>
        <p:nvSpPr>
          <p:cNvPr id="6" name="Shape 4"/>
          <p:cNvSpPr/>
          <p:nvPr/>
        </p:nvSpPr>
        <p:spPr>
          <a:xfrm>
            <a:off x="566928" y="1965960"/>
            <a:ext cx="3977640" cy="320040"/>
          </a:xfrm>
          <a:prstGeom prst="rect">
            <a:avLst/>
          </a:prstGeom>
          <a:solidFill>
            <a:srgbClr val="4F46E5"/>
          </a:solidFill>
          <a:ln/>
        </p:spPr>
      </p:sp>
      <p:sp>
        <p:nvSpPr>
          <p:cNvPr id="7" name="Text 5"/>
          <p:cNvSpPr/>
          <p:nvPr/>
        </p:nvSpPr>
        <p:spPr>
          <a:xfrm>
            <a:off x="74980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Własnościowe (API)</a:t>
            </a:r>
            <a:endParaRPr lang="en-US" sz="1600" dirty="0"/>
          </a:p>
        </p:txBody>
      </p:sp>
      <p:sp>
        <p:nvSpPr>
          <p:cNvPr id="8" name="Text 6"/>
          <p:cNvSpPr/>
          <p:nvPr/>
        </p:nvSpPr>
        <p:spPr>
          <a:xfrm>
            <a:off x="76809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Najwyższa jakość „z półki", zero utrzymania infrastruktury</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Płacisz za token; dane wychodzą do dostawcy (chyba że ZDR/enterprise)</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Szybki start, łatwe skalowanie</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Mniejsza kontrola, ryzyko vendor lock-in</a:t>
            </a:r>
            <a:endParaRPr lang="en-US" sz="1250" dirty="0"/>
          </a:p>
        </p:txBody>
      </p:sp>
      <p:sp>
        <p:nvSpPr>
          <p:cNvPr id="9" name="Shape 7"/>
          <p:cNvSpPr/>
          <p:nvPr/>
        </p:nvSpPr>
        <p:spPr>
          <a:xfrm>
            <a:off x="481888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10" name="Shape 8"/>
          <p:cNvSpPr/>
          <p:nvPr/>
        </p:nvSpPr>
        <p:spPr>
          <a:xfrm>
            <a:off x="4818888" y="1645920"/>
            <a:ext cx="3977640" cy="640080"/>
          </a:xfrm>
          <a:prstGeom prst="roundRect">
            <a:avLst>
              <a:gd name="adj" fmla="val 14286"/>
            </a:avLst>
          </a:prstGeom>
          <a:solidFill>
            <a:srgbClr val="14B8A6"/>
          </a:solidFill>
          <a:ln/>
        </p:spPr>
      </p:sp>
      <p:sp>
        <p:nvSpPr>
          <p:cNvPr id="11" name="Shape 9"/>
          <p:cNvSpPr/>
          <p:nvPr/>
        </p:nvSpPr>
        <p:spPr>
          <a:xfrm>
            <a:off x="4818888" y="1965960"/>
            <a:ext cx="3977640" cy="320040"/>
          </a:xfrm>
          <a:prstGeom prst="rect">
            <a:avLst/>
          </a:prstGeom>
          <a:solidFill>
            <a:srgbClr val="14B8A6"/>
          </a:solidFill>
          <a:ln/>
        </p:spPr>
      </p:sp>
      <p:sp>
        <p:nvSpPr>
          <p:cNvPr id="12" name="Text 10"/>
          <p:cNvSpPr/>
          <p:nvPr/>
        </p:nvSpPr>
        <p:spPr>
          <a:xfrm>
            <a:off x="500176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Open-source / open-weight</a:t>
            </a:r>
            <a:endParaRPr lang="en-US" sz="1600" dirty="0"/>
          </a:p>
        </p:txBody>
      </p:sp>
      <p:sp>
        <p:nvSpPr>
          <p:cNvPr id="13" name="Text 11"/>
          <p:cNvSpPr/>
          <p:nvPr/>
        </p:nvSpPr>
        <p:spPr>
          <a:xfrm>
            <a:off x="502005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Pełna kontrola, deployment on-prem / VPC — dane zostają u Ciebie</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Koszt to infrastruktura (GPU), nie tokeny</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Dowolny fine-tuning i kwantyzacja</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Wymaga kompetencji MLOps i utrzymania</a:t>
            </a:r>
            <a:endParaRPr lang="en-US" sz="1250" dirty="0"/>
          </a:p>
        </p:txBody>
      </p:sp>
      <p:sp>
        <p:nvSpPr>
          <p:cNvPr id="14"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WŁASNOŚCIOWE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OpenAI — rodzina GPT i modele rozumujące</a:t>
            </a:r>
            <a:endParaRPr lang="en-US" sz="3000" dirty="0"/>
          </a:p>
        </p:txBody>
      </p:sp>
      <p:sp>
        <p:nvSpPr>
          <p:cNvPr id="4" name="Shape 2"/>
          <p:cNvSpPr/>
          <p:nvPr/>
        </p:nvSpPr>
        <p:spPr>
          <a:xfrm>
            <a:off x="566928" y="1824228"/>
            <a:ext cx="603504" cy="603504"/>
          </a:xfrm>
          <a:prstGeom prst="roundRect">
            <a:avLst>
              <a:gd name="adj" fmla="val 18182"/>
            </a:avLst>
          </a:prstGeom>
          <a:solidFill>
            <a:srgbClr val="EEF2FF"/>
          </a:solidFill>
          <a:ln/>
        </p:spPr>
      </p:sp>
      <p:pic>
        <p:nvPicPr>
          <p:cNvPr id="5" name="Image 0" descr="preencoded.png">    </p:cNvPr>
          <p:cNvPicPr>
            <a:picLocks noChangeAspect="1"/>
          </p:cNvPicPr>
          <p:nvPr/>
        </p:nvPicPr>
        <p:blipFill>
          <a:blip r:embed="rId1"/>
          <a:stretch>
            <a:fillRect/>
          </a:stretch>
        </p:blipFill>
        <p:spPr>
          <a:xfrm>
            <a:off x="699699" y="1956999"/>
            <a:ext cx="337962" cy="337962"/>
          </a:xfrm>
          <a:prstGeom prst="rect">
            <a:avLst/>
          </a:prstGeom>
        </p:spPr>
      </p:pic>
      <p:sp>
        <p:nvSpPr>
          <p:cNvPr id="6" name="Text 3"/>
          <p:cNvSpPr/>
          <p:nvPr/>
        </p:nvSpPr>
        <p:spPr>
          <a:xfrm>
            <a:off x="1371600" y="164592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GPT-4 / GPT-4 Turbo</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Wszechstronne modele czatu: generacja, kod, analiza, multimodalność.</a:t>
            </a:r>
            <a:endParaRPr lang="en-US" sz="1550" dirty="0"/>
          </a:p>
        </p:txBody>
      </p:sp>
      <p:sp>
        <p:nvSpPr>
          <p:cNvPr id="7" name="Shape 4"/>
          <p:cNvSpPr/>
          <p:nvPr/>
        </p:nvSpPr>
        <p:spPr>
          <a:xfrm>
            <a:off x="566928" y="2784348"/>
            <a:ext cx="603504" cy="603504"/>
          </a:xfrm>
          <a:prstGeom prst="roundRect">
            <a:avLst>
              <a:gd name="adj" fmla="val 18182"/>
            </a:avLst>
          </a:prstGeom>
          <a:solidFill>
            <a:srgbClr val="E6FBF7"/>
          </a:solidFill>
          <a:ln/>
        </p:spPr>
      </p:sp>
      <p:pic>
        <p:nvPicPr>
          <p:cNvPr id="8" name="Image 1" descr="preencoded.png">    </p:cNvPr>
          <p:cNvPicPr>
            <a:picLocks noChangeAspect="1"/>
          </p:cNvPicPr>
          <p:nvPr/>
        </p:nvPicPr>
        <p:blipFill>
          <a:blip r:embed="rId2"/>
          <a:stretch>
            <a:fillRect/>
          </a:stretch>
        </p:blipFill>
        <p:spPr>
          <a:xfrm>
            <a:off x="699699" y="2917119"/>
            <a:ext cx="337962" cy="337962"/>
          </a:xfrm>
          <a:prstGeom prst="rect">
            <a:avLst/>
          </a:prstGeom>
        </p:spPr>
      </p:pic>
      <p:sp>
        <p:nvSpPr>
          <p:cNvPr id="9" name="Text 5"/>
          <p:cNvSpPr/>
          <p:nvPr/>
        </p:nvSpPr>
        <p:spPr>
          <a:xfrm>
            <a:off x="1371600" y="260604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Modele serii o (o1 i nast.)</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Rozumowanie z długim wewnętrznym łańcuchem myśli — matematyka, logika, kod.</a:t>
            </a:r>
            <a:endParaRPr lang="en-US" sz="1550" dirty="0"/>
          </a:p>
        </p:txBody>
      </p:sp>
      <p:sp>
        <p:nvSpPr>
          <p:cNvPr id="10" name="Shape 6"/>
          <p:cNvSpPr/>
          <p:nvPr/>
        </p:nvSpPr>
        <p:spPr>
          <a:xfrm>
            <a:off x="566928" y="3744468"/>
            <a:ext cx="603504" cy="603504"/>
          </a:xfrm>
          <a:prstGeom prst="roundRect">
            <a:avLst>
              <a:gd name="adj" fmla="val 18182"/>
            </a:avLst>
          </a:prstGeom>
          <a:solidFill>
            <a:srgbClr val="FEF3E2"/>
          </a:solidFill>
          <a:ln/>
        </p:spPr>
      </p:sp>
      <p:pic>
        <p:nvPicPr>
          <p:cNvPr id="11" name="Image 2" descr="preencoded.png">    </p:cNvPr>
          <p:cNvPicPr>
            <a:picLocks noChangeAspect="1"/>
          </p:cNvPicPr>
          <p:nvPr/>
        </p:nvPicPr>
        <p:blipFill>
          <a:blip r:embed="rId3"/>
          <a:stretch>
            <a:fillRect/>
          </a:stretch>
        </p:blipFill>
        <p:spPr>
          <a:xfrm>
            <a:off x="699699" y="3877239"/>
            <a:ext cx="337962" cy="337962"/>
          </a:xfrm>
          <a:prstGeom prst="rect">
            <a:avLst/>
          </a:prstGeom>
        </p:spPr>
      </p:pic>
      <p:sp>
        <p:nvSpPr>
          <p:cNvPr id="12" name="Text 7"/>
          <p:cNvSpPr/>
          <p:nvPr/>
        </p:nvSpPr>
        <p:spPr>
          <a:xfrm>
            <a:off x="1371600" y="356616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Function calling i JSON mode</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Dojrzałe API narzędzi i structured outputs — fundament aplikacji.</a:t>
            </a:r>
            <a:endParaRPr lang="en-US" sz="1550" dirty="0"/>
          </a:p>
        </p:txBody>
      </p:sp>
      <p:sp>
        <p:nvSpPr>
          <p:cNvPr id="13"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WŁASNOŚCIOWE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Anthropic Claude i Google Gemini</a:t>
            </a:r>
            <a:endParaRPr lang="en-US" sz="3000" dirty="0"/>
          </a:p>
        </p:txBody>
      </p:sp>
      <p:sp>
        <p:nvSpPr>
          <p:cNvPr id="4" name="Shape 2"/>
          <p:cNvSpPr/>
          <p:nvPr/>
        </p:nvSpPr>
        <p:spPr>
          <a:xfrm>
            <a:off x="566928" y="1824228"/>
            <a:ext cx="603504" cy="603504"/>
          </a:xfrm>
          <a:prstGeom prst="roundRect">
            <a:avLst>
              <a:gd name="adj" fmla="val 18182"/>
            </a:avLst>
          </a:prstGeom>
          <a:solidFill>
            <a:srgbClr val="E6FBF7"/>
          </a:solidFill>
          <a:ln/>
        </p:spPr>
      </p:sp>
      <p:pic>
        <p:nvPicPr>
          <p:cNvPr id="5" name="Image 0" descr="preencoded.png">    </p:cNvPr>
          <p:cNvPicPr>
            <a:picLocks noChangeAspect="1"/>
          </p:cNvPicPr>
          <p:nvPr/>
        </p:nvPicPr>
        <p:blipFill>
          <a:blip r:embed="rId1"/>
          <a:stretch>
            <a:fillRect/>
          </a:stretch>
        </p:blipFill>
        <p:spPr>
          <a:xfrm>
            <a:off x="699699" y="1956999"/>
            <a:ext cx="337962" cy="337962"/>
          </a:xfrm>
          <a:prstGeom prst="rect">
            <a:avLst/>
          </a:prstGeom>
        </p:spPr>
      </p:pic>
      <p:sp>
        <p:nvSpPr>
          <p:cNvPr id="6" name="Text 3"/>
          <p:cNvSpPr/>
          <p:nvPr/>
        </p:nvSpPr>
        <p:spPr>
          <a:xfrm>
            <a:off x="1371600" y="164592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Claude (Anthropic)</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Mocne rozumowanie i praca z kodem, długi kontekst, nacisk na bezpieczeństwo.</a:t>
            </a:r>
            <a:endParaRPr lang="en-US" sz="1550" dirty="0"/>
          </a:p>
        </p:txBody>
      </p:sp>
      <p:sp>
        <p:nvSpPr>
          <p:cNvPr id="7" name="Shape 4"/>
          <p:cNvSpPr/>
          <p:nvPr/>
        </p:nvSpPr>
        <p:spPr>
          <a:xfrm>
            <a:off x="566928" y="2784348"/>
            <a:ext cx="603504" cy="603504"/>
          </a:xfrm>
          <a:prstGeom prst="roundRect">
            <a:avLst>
              <a:gd name="adj" fmla="val 18182"/>
            </a:avLst>
          </a:prstGeom>
          <a:solidFill>
            <a:srgbClr val="EEF2FF"/>
          </a:solidFill>
          <a:ln/>
        </p:spPr>
      </p:sp>
      <p:pic>
        <p:nvPicPr>
          <p:cNvPr id="8" name="Image 1" descr="preencoded.png">    </p:cNvPr>
          <p:cNvPicPr>
            <a:picLocks noChangeAspect="1"/>
          </p:cNvPicPr>
          <p:nvPr/>
        </p:nvPicPr>
        <p:blipFill>
          <a:blip r:embed="rId2"/>
          <a:stretch>
            <a:fillRect/>
          </a:stretch>
        </p:blipFill>
        <p:spPr>
          <a:xfrm>
            <a:off x="699699" y="2917119"/>
            <a:ext cx="337962" cy="337962"/>
          </a:xfrm>
          <a:prstGeom prst="rect">
            <a:avLst/>
          </a:prstGeom>
        </p:spPr>
      </p:pic>
      <p:sp>
        <p:nvSpPr>
          <p:cNvPr id="9" name="Text 5"/>
          <p:cNvSpPr/>
          <p:nvPr/>
        </p:nvSpPr>
        <p:spPr>
          <a:xfrm>
            <a:off x="1371600" y="260604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Claude — długie dokumenty</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Świetny do analizy obszernych materiałów i pracy agentowej.</a:t>
            </a:r>
            <a:endParaRPr lang="en-US" sz="1550" dirty="0"/>
          </a:p>
        </p:txBody>
      </p:sp>
      <p:sp>
        <p:nvSpPr>
          <p:cNvPr id="10" name="Shape 6"/>
          <p:cNvSpPr/>
          <p:nvPr/>
        </p:nvSpPr>
        <p:spPr>
          <a:xfrm>
            <a:off x="566928" y="3744468"/>
            <a:ext cx="603504" cy="603504"/>
          </a:xfrm>
          <a:prstGeom prst="roundRect">
            <a:avLst>
              <a:gd name="adj" fmla="val 18182"/>
            </a:avLst>
          </a:prstGeom>
          <a:solidFill>
            <a:srgbClr val="FEF3E2"/>
          </a:solidFill>
          <a:ln/>
        </p:spPr>
      </p:sp>
      <p:pic>
        <p:nvPicPr>
          <p:cNvPr id="11" name="Image 2" descr="preencoded.png">    </p:cNvPr>
          <p:cNvPicPr>
            <a:picLocks noChangeAspect="1"/>
          </p:cNvPicPr>
          <p:nvPr/>
        </p:nvPicPr>
        <p:blipFill>
          <a:blip r:embed="rId3"/>
          <a:stretch>
            <a:fillRect/>
          </a:stretch>
        </p:blipFill>
        <p:spPr>
          <a:xfrm>
            <a:off x="699699" y="3877239"/>
            <a:ext cx="337962" cy="337962"/>
          </a:xfrm>
          <a:prstGeom prst="rect">
            <a:avLst/>
          </a:prstGeom>
        </p:spPr>
      </p:pic>
      <p:sp>
        <p:nvSpPr>
          <p:cNvPr id="12" name="Text 7"/>
          <p:cNvSpPr/>
          <p:nvPr/>
        </p:nvSpPr>
        <p:spPr>
          <a:xfrm>
            <a:off x="1371600" y="356616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Google Gemini</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Natywna multimodalność, integracja z ekosystemem Google, bardzo długi kontekst.</a:t>
            </a:r>
            <a:endParaRPr lang="en-US" sz="1550" dirty="0"/>
          </a:p>
        </p:txBody>
      </p:sp>
      <p:sp>
        <p:nvSpPr>
          <p:cNvPr id="13"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OPEN-SOURCE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Llama, Qwen, DeepSeek, Mistral</a:t>
            </a:r>
            <a:endParaRPr lang="en-US" sz="3000" dirty="0"/>
          </a:p>
        </p:txBody>
      </p:sp>
      <p:sp>
        <p:nvSpPr>
          <p:cNvPr id="4" name="Shape 2"/>
          <p:cNvSpPr/>
          <p:nvPr/>
        </p:nvSpPr>
        <p:spPr>
          <a:xfrm>
            <a:off x="566928" y="1600200"/>
            <a:ext cx="3977640" cy="841248"/>
          </a:xfrm>
          <a:prstGeom prst="roundRect">
            <a:avLst>
              <a:gd name="adj" fmla="val 8696"/>
            </a:avLst>
          </a:prstGeom>
          <a:solidFill>
            <a:srgbClr val="FEF3E2"/>
          </a:solidFill>
          <a:ln/>
          <a:effectLst>
            <a:outerShdw sx="100000" sy="100000" kx="0" ky="0" algn="bl" rotWithShape="0" blurRad="101600" dist="38100" dir="5400000">
              <a:srgbClr val="000000">
                <a:alpha val="12000"/>
              </a:srgbClr>
            </a:outerShdw>
          </a:effectLst>
        </p:spPr>
      </p:sp>
      <p:sp>
        <p:nvSpPr>
          <p:cNvPr id="5" name="Shape 3"/>
          <p:cNvSpPr/>
          <p:nvPr/>
        </p:nvSpPr>
        <p:spPr>
          <a:xfrm>
            <a:off x="713232" y="1783080"/>
            <a:ext cx="475488" cy="475488"/>
          </a:xfrm>
          <a:prstGeom prst="roundRect">
            <a:avLst>
              <a:gd name="adj" fmla="val 19231"/>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817839" y="1887687"/>
            <a:ext cx="266273" cy="266273"/>
          </a:xfrm>
          <a:prstGeom prst="rect">
            <a:avLst/>
          </a:prstGeom>
        </p:spPr>
      </p:pic>
      <p:sp>
        <p:nvSpPr>
          <p:cNvPr id="7" name="Text 4"/>
          <p:cNvSpPr/>
          <p:nvPr/>
        </p:nvSpPr>
        <p:spPr>
          <a:xfrm>
            <a:off x="1316736" y="1655064"/>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Llama (Meta)</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Najpopularniejsza rodzina open-weight, ogromny ekosystem narzędzi.</a:t>
            </a:r>
            <a:endParaRPr lang="en-US" sz="1300" dirty="0"/>
          </a:p>
        </p:txBody>
      </p:sp>
      <p:sp>
        <p:nvSpPr>
          <p:cNvPr id="8" name="Shape 5"/>
          <p:cNvSpPr/>
          <p:nvPr/>
        </p:nvSpPr>
        <p:spPr>
          <a:xfrm>
            <a:off x="566928" y="2587752"/>
            <a:ext cx="3977640" cy="841248"/>
          </a:xfrm>
          <a:prstGeom prst="roundRect">
            <a:avLst>
              <a:gd name="adj" fmla="val 8696"/>
            </a:avLst>
          </a:prstGeom>
          <a:solidFill>
            <a:srgbClr val="EEF2FF"/>
          </a:solidFill>
          <a:ln/>
          <a:effectLst>
            <a:outerShdw sx="100000" sy="100000" kx="0" ky="0" algn="bl" rotWithShape="0" blurRad="101600" dist="38100" dir="5400000">
              <a:srgbClr val="000000">
                <a:alpha val="12000"/>
              </a:srgbClr>
            </a:outerShdw>
          </a:effectLst>
        </p:spPr>
      </p:sp>
      <p:sp>
        <p:nvSpPr>
          <p:cNvPr id="9" name="Shape 6"/>
          <p:cNvSpPr/>
          <p:nvPr/>
        </p:nvSpPr>
        <p:spPr>
          <a:xfrm>
            <a:off x="713232" y="2770632"/>
            <a:ext cx="475488" cy="475488"/>
          </a:xfrm>
          <a:prstGeom prst="roundRect">
            <a:avLst>
              <a:gd name="adj" fmla="val 19231"/>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817839" y="2875239"/>
            <a:ext cx="266273" cy="266273"/>
          </a:xfrm>
          <a:prstGeom prst="rect">
            <a:avLst/>
          </a:prstGeom>
        </p:spPr>
      </p:pic>
      <p:sp>
        <p:nvSpPr>
          <p:cNvPr id="11" name="Text 7"/>
          <p:cNvSpPr/>
          <p:nvPr/>
        </p:nvSpPr>
        <p:spPr>
          <a:xfrm>
            <a:off x="1316736" y="2642616"/>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Qwen (Alibaba)</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Silne modele wielojęzyczne, dobre warianty kodowe i multimodalne.</a:t>
            </a:r>
            <a:endParaRPr lang="en-US" sz="1300" dirty="0"/>
          </a:p>
        </p:txBody>
      </p:sp>
      <p:sp>
        <p:nvSpPr>
          <p:cNvPr id="12" name="Shape 8"/>
          <p:cNvSpPr/>
          <p:nvPr/>
        </p:nvSpPr>
        <p:spPr>
          <a:xfrm>
            <a:off x="566928" y="3575304"/>
            <a:ext cx="3977640" cy="841248"/>
          </a:xfrm>
          <a:prstGeom prst="roundRect">
            <a:avLst>
              <a:gd name="adj" fmla="val 8696"/>
            </a:avLst>
          </a:prstGeom>
          <a:solidFill>
            <a:srgbClr val="E6FBF7"/>
          </a:solidFill>
          <a:ln/>
          <a:effectLst>
            <a:outerShdw sx="100000" sy="100000" kx="0" ky="0" algn="bl" rotWithShape="0" blurRad="101600" dist="38100" dir="5400000">
              <a:srgbClr val="000000">
                <a:alpha val="12000"/>
              </a:srgbClr>
            </a:outerShdw>
          </a:effectLst>
        </p:spPr>
      </p:sp>
      <p:sp>
        <p:nvSpPr>
          <p:cNvPr id="13" name="Shape 9"/>
          <p:cNvSpPr/>
          <p:nvPr/>
        </p:nvSpPr>
        <p:spPr>
          <a:xfrm>
            <a:off x="713232" y="3758184"/>
            <a:ext cx="475488" cy="475488"/>
          </a:xfrm>
          <a:prstGeom prst="roundRect">
            <a:avLst>
              <a:gd name="adj" fmla="val 19231"/>
            </a:avLst>
          </a:prstGeom>
          <a:solidFill>
            <a:srgbClr val="FFFFFF"/>
          </a:solidFill>
          <a:ln/>
        </p:spPr>
      </p:sp>
      <p:pic>
        <p:nvPicPr>
          <p:cNvPr id="14" name="Image 2" descr="preencoded.png">    </p:cNvPr>
          <p:cNvPicPr>
            <a:picLocks noChangeAspect="1"/>
          </p:cNvPicPr>
          <p:nvPr/>
        </p:nvPicPr>
        <p:blipFill>
          <a:blip r:embed="rId3"/>
          <a:stretch>
            <a:fillRect/>
          </a:stretch>
        </p:blipFill>
        <p:spPr>
          <a:xfrm>
            <a:off x="817839" y="3862791"/>
            <a:ext cx="266273" cy="266273"/>
          </a:xfrm>
          <a:prstGeom prst="rect">
            <a:avLst/>
          </a:prstGeom>
        </p:spPr>
      </p:pic>
      <p:sp>
        <p:nvSpPr>
          <p:cNvPr id="15" name="Text 10"/>
          <p:cNvSpPr/>
          <p:nvPr/>
        </p:nvSpPr>
        <p:spPr>
          <a:xfrm>
            <a:off x="1316736" y="3630168"/>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DeepSeek</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Mocne rozumowanie przy konkurencyjnym koszcie.</a:t>
            </a:r>
            <a:endParaRPr lang="en-US" sz="1300" dirty="0"/>
          </a:p>
        </p:txBody>
      </p:sp>
      <p:sp>
        <p:nvSpPr>
          <p:cNvPr id="16" name="Shape 11"/>
          <p:cNvSpPr/>
          <p:nvPr/>
        </p:nvSpPr>
        <p:spPr>
          <a:xfrm>
            <a:off x="4818888" y="1600200"/>
            <a:ext cx="3977640" cy="841248"/>
          </a:xfrm>
          <a:prstGeom prst="roundRect">
            <a:avLst>
              <a:gd name="adj" fmla="val 8696"/>
            </a:avLst>
          </a:prstGeom>
          <a:solidFill>
            <a:srgbClr val="FCE7F0"/>
          </a:solidFill>
          <a:ln/>
          <a:effectLst>
            <a:outerShdw sx="100000" sy="100000" kx="0" ky="0" algn="bl" rotWithShape="0" blurRad="101600" dist="38100" dir="5400000">
              <a:srgbClr val="000000">
                <a:alpha val="12000"/>
              </a:srgbClr>
            </a:outerShdw>
          </a:effectLst>
        </p:spPr>
      </p:sp>
      <p:sp>
        <p:nvSpPr>
          <p:cNvPr id="17" name="Shape 12"/>
          <p:cNvSpPr/>
          <p:nvPr/>
        </p:nvSpPr>
        <p:spPr>
          <a:xfrm>
            <a:off x="4965192" y="1783080"/>
            <a:ext cx="475488" cy="475488"/>
          </a:xfrm>
          <a:prstGeom prst="roundRect">
            <a:avLst>
              <a:gd name="adj" fmla="val 19231"/>
            </a:avLst>
          </a:prstGeom>
          <a:solidFill>
            <a:srgbClr val="FFFFFF"/>
          </a:solidFill>
          <a:ln/>
        </p:spPr>
      </p:sp>
      <p:pic>
        <p:nvPicPr>
          <p:cNvPr id="18" name="Image 3" descr="preencoded.png">    </p:cNvPr>
          <p:cNvPicPr>
            <a:picLocks noChangeAspect="1"/>
          </p:cNvPicPr>
          <p:nvPr/>
        </p:nvPicPr>
        <p:blipFill>
          <a:blip r:embed="rId4"/>
          <a:stretch>
            <a:fillRect/>
          </a:stretch>
        </p:blipFill>
        <p:spPr>
          <a:xfrm>
            <a:off x="5069799" y="1887687"/>
            <a:ext cx="266273" cy="266273"/>
          </a:xfrm>
          <a:prstGeom prst="rect">
            <a:avLst/>
          </a:prstGeom>
        </p:spPr>
      </p:pic>
      <p:sp>
        <p:nvSpPr>
          <p:cNvPr id="19" name="Text 13"/>
          <p:cNvSpPr/>
          <p:nvPr/>
        </p:nvSpPr>
        <p:spPr>
          <a:xfrm>
            <a:off x="5568696" y="1655064"/>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Mistral</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Lekkie, wydajne modele europejskie; warianty MoE.</a:t>
            </a:r>
            <a:endParaRPr lang="en-US" sz="1300" dirty="0"/>
          </a:p>
        </p:txBody>
      </p:sp>
      <p:sp>
        <p:nvSpPr>
          <p:cNvPr id="20" name="Shape 14"/>
          <p:cNvSpPr/>
          <p:nvPr/>
        </p:nvSpPr>
        <p:spPr>
          <a:xfrm>
            <a:off x="4818888" y="2587752"/>
            <a:ext cx="3977640" cy="841248"/>
          </a:xfrm>
          <a:prstGeom prst="roundRect">
            <a:avLst>
              <a:gd name="adj" fmla="val 8696"/>
            </a:avLst>
          </a:prstGeom>
          <a:solidFill>
            <a:srgbClr val="E7F6EC"/>
          </a:solidFill>
          <a:ln/>
          <a:effectLst>
            <a:outerShdw sx="100000" sy="100000" kx="0" ky="0" algn="bl" rotWithShape="0" blurRad="101600" dist="38100" dir="5400000">
              <a:srgbClr val="000000">
                <a:alpha val="12000"/>
              </a:srgbClr>
            </a:outerShdw>
          </a:effectLst>
        </p:spPr>
      </p:sp>
      <p:sp>
        <p:nvSpPr>
          <p:cNvPr id="21" name="Shape 15"/>
          <p:cNvSpPr/>
          <p:nvPr/>
        </p:nvSpPr>
        <p:spPr>
          <a:xfrm>
            <a:off x="4965192" y="2770632"/>
            <a:ext cx="475488" cy="475488"/>
          </a:xfrm>
          <a:prstGeom prst="roundRect">
            <a:avLst>
              <a:gd name="adj" fmla="val 19231"/>
            </a:avLst>
          </a:prstGeom>
          <a:solidFill>
            <a:srgbClr val="FFFFFF"/>
          </a:solidFill>
          <a:ln/>
        </p:spPr>
      </p:sp>
      <p:pic>
        <p:nvPicPr>
          <p:cNvPr id="22" name="Image 4" descr="preencoded.png">    </p:cNvPr>
          <p:cNvPicPr>
            <a:picLocks noChangeAspect="1"/>
          </p:cNvPicPr>
          <p:nvPr/>
        </p:nvPicPr>
        <p:blipFill>
          <a:blip r:embed="rId5"/>
          <a:stretch>
            <a:fillRect/>
          </a:stretch>
        </p:blipFill>
        <p:spPr>
          <a:xfrm>
            <a:off x="5069799" y="2875239"/>
            <a:ext cx="266273" cy="266273"/>
          </a:xfrm>
          <a:prstGeom prst="rect">
            <a:avLst/>
          </a:prstGeom>
        </p:spPr>
      </p:pic>
      <p:sp>
        <p:nvSpPr>
          <p:cNvPr id="23" name="Text 16"/>
          <p:cNvSpPr/>
          <p:nvPr/>
        </p:nvSpPr>
        <p:spPr>
          <a:xfrm>
            <a:off x="5568696" y="2642616"/>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Gemma (Google)</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Małe modele open-weight, świetne do lokalnego uruchamiania.</a:t>
            </a:r>
            <a:endParaRPr lang="en-US" sz="1300" dirty="0"/>
          </a:p>
        </p:txBody>
      </p:sp>
      <p:sp>
        <p:nvSpPr>
          <p:cNvPr id="24" name="Shape 17"/>
          <p:cNvSpPr/>
          <p:nvPr/>
        </p:nvSpPr>
        <p:spPr>
          <a:xfrm>
            <a:off x="4818888" y="3575304"/>
            <a:ext cx="3977640" cy="841248"/>
          </a:xfrm>
          <a:prstGeom prst="roundRect">
            <a:avLst>
              <a:gd name="adj" fmla="val 8696"/>
            </a:avLst>
          </a:prstGeom>
          <a:solidFill>
            <a:srgbClr val="EEF0FA"/>
          </a:solidFill>
          <a:ln/>
          <a:effectLst>
            <a:outerShdw sx="100000" sy="100000" kx="0" ky="0" algn="bl" rotWithShape="0" blurRad="101600" dist="38100" dir="5400000">
              <a:srgbClr val="000000">
                <a:alpha val="12000"/>
              </a:srgbClr>
            </a:outerShdw>
          </a:effectLst>
        </p:spPr>
      </p:sp>
      <p:sp>
        <p:nvSpPr>
          <p:cNvPr id="25" name="Shape 18"/>
          <p:cNvSpPr/>
          <p:nvPr/>
        </p:nvSpPr>
        <p:spPr>
          <a:xfrm>
            <a:off x="4965192" y="3758184"/>
            <a:ext cx="475488" cy="475488"/>
          </a:xfrm>
          <a:prstGeom prst="roundRect">
            <a:avLst>
              <a:gd name="adj" fmla="val 19231"/>
            </a:avLst>
          </a:prstGeom>
          <a:solidFill>
            <a:srgbClr val="FFFFFF"/>
          </a:solidFill>
          <a:ln/>
        </p:spPr>
      </p:sp>
      <p:pic>
        <p:nvPicPr>
          <p:cNvPr id="26" name="Image 5" descr="preencoded.png">    </p:cNvPr>
          <p:cNvPicPr>
            <a:picLocks noChangeAspect="1"/>
          </p:cNvPicPr>
          <p:nvPr/>
        </p:nvPicPr>
        <p:blipFill>
          <a:blip r:embed="rId6"/>
          <a:stretch>
            <a:fillRect/>
          </a:stretch>
        </p:blipFill>
        <p:spPr>
          <a:xfrm>
            <a:off x="5069799" y="3862791"/>
            <a:ext cx="266273" cy="266273"/>
          </a:xfrm>
          <a:prstGeom prst="rect">
            <a:avLst/>
          </a:prstGeom>
        </p:spPr>
      </p:pic>
      <p:sp>
        <p:nvSpPr>
          <p:cNvPr id="27" name="Text 19"/>
          <p:cNvSpPr/>
          <p:nvPr/>
        </p:nvSpPr>
        <p:spPr>
          <a:xfrm>
            <a:off x="5568696" y="3630168"/>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Ollama / vLLM</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Lokalny i serwerowy runtime dla modeli open-weight.</a:t>
            </a:r>
            <a:endParaRPr lang="en-US" sz="1300" dirty="0"/>
          </a:p>
        </p:txBody>
      </p:sp>
      <p:sp>
        <p:nvSpPr>
          <p:cNvPr id="28" name="Text 20"/>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MULTIMODALNOŚĆ</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Modele multimodalne</a:t>
            </a:r>
            <a:endParaRPr lang="en-US" sz="3000" dirty="0"/>
          </a:p>
        </p:txBody>
      </p:sp>
      <p:sp>
        <p:nvSpPr>
          <p:cNvPr id="4" name="Shape 2"/>
          <p:cNvSpPr/>
          <p:nvPr/>
        </p:nvSpPr>
        <p:spPr>
          <a:xfrm>
            <a:off x="566928" y="1704213"/>
            <a:ext cx="603504" cy="603504"/>
          </a:xfrm>
          <a:prstGeom prst="roundRect">
            <a:avLst>
              <a:gd name="adj" fmla="val 18182"/>
            </a:avLst>
          </a:prstGeom>
          <a:solidFill>
            <a:srgbClr val="EEF2FF"/>
          </a:solidFill>
          <a:ln/>
        </p:spPr>
      </p:sp>
      <p:pic>
        <p:nvPicPr>
          <p:cNvPr id="5" name="Image 0" descr="preencoded.png">    </p:cNvPr>
          <p:cNvPicPr>
            <a:picLocks noChangeAspect="1"/>
          </p:cNvPicPr>
          <p:nvPr/>
        </p:nvPicPr>
        <p:blipFill>
          <a:blip r:embed="rId1"/>
          <a:stretch>
            <a:fillRect/>
          </a:stretch>
        </p:blipFill>
        <p:spPr>
          <a:xfrm>
            <a:off x="699699" y="1836984"/>
            <a:ext cx="337962" cy="337962"/>
          </a:xfrm>
          <a:prstGeom prst="rect">
            <a:avLst/>
          </a:prstGeom>
        </p:spPr>
      </p:pic>
      <p:sp>
        <p:nvSpPr>
          <p:cNvPr id="6" name="Text 3"/>
          <p:cNvSpPr/>
          <p:nvPr/>
        </p:nvSpPr>
        <p:spPr>
          <a:xfrm>
            <a:off x="1371600" y="164592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Vision</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Analiza obrazów, diagramów, zrzutów ekranu, dokumentów, OCR.</a:t>
            </a:r>
            <a:endParaRPr lang="en-US" sz="1550" dirty="0"/>
          </a:p>
        </p:txBody>
      </p:sp>
      <p:sp>
        <p:nvSpPr>
          <p:cNvPr id="7" name="Shape 4"/>
          <p:cNvSpPr/>
          <p:nvPr/>
        </p:nvSpPr>
        <p:spPr>
          <a:xfrm>
            <a:off x="566928" y="2424303"/>
            <a:ext cx="603504" cy="603504"/>
          </a:xfrm>
          <a:prstGeom prst="roundRect">
            <a:avLst>
              <a:gd name="adj" fmla="val 18182"/>
            </a:avLst>
          </a:prstGeom>
          <a:solidFill>
            <a:srgbClr val="E6FBF7"/>
          </a:solidFill>
          <a:ln/>
        </p:spPr>
      </p:sp>
      <p:pic>
        <p:nvPicPr>
          <p:cNvPr id="8" name="Image 1" descr="preencoded.png">    </p:cNvPr>
          <p:cNvPicPr>
            <a:picLocks noChangeAspect="1"/>
          </p:cNvPicPr>
          <p:nvPr/>
        </p:nvPicPr>
        <p:blipFill>
          <a:blip r:embed="rId2"/>
          <a:stretch>
            <a:fillRect/>
          </a:stretch>
        </p:blipFill>
        <p:spPr>
          <a:xfrm>
            <a:off x="699699" y="2557074"/>
            <a:ext cx="337962" cy="337962"/>
          </a:xfrm>
          <a:prstGeom prst="rect">
            <a:avLst/>
          </a:prstGeom>
        </p:spPr>
      </p:pic>
      <p:sp>
        <p:nvSpPr>
          <p:cNvPr id="9" name="Text 5"/>
          <p:cNvSpPr/>
          <p:nvPr/>
        </p:nvSpPr>
        <p:spPr>
          <a:xfrm>
            <a:off x="1371600" y="236601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Audio</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Transkrypcja, rozmowa głosowa, analiza dźwięku.</a:t>
            </a:r>
            <a:endParaRPr lang="en-US" sz="1550" dirty="0"/>
          </a:p>
        </p:txBody>
      </p:sp>
      <p:sp>
        <p:nvSpPr>
          <p:cNvPr id="10" name="Shape 6"/>
          <p:cNvSpPr/>
          <p:nvPr/>
        </p:nvSpPr>
        <p:spPr>
          <a:xfrm>
            <a:off x="566928" y="3144393"/>
            <a:ext cx="603504" cy="603504"/>
          </a:xfrm>
          <a:prstGeom prst="roundRect">
            <a:avLst>
              <a:gd name="adj" fmla="val 18182"/>
            </a:avLst>
          </a:prstGeom>
          <a:solidFill>
            <a:srgbClr val="FEF3E2"/>
          </a:solidFill>
          <a:ln/>
        </p:spPr>
      </p:sp>
      <p:pic>
        <p:nvPicPr>
          <p:cNvPr id="11" name="Image 2" descr="preencoded.png">    </p:cNvPr>
          <p:cNvPicPr>
            <a:picLocks noChangeAspect="1"/>
          </p:cNvPicPr>
          <p:nvPr/>
        </p:nvPicPr>
        <p:blipFill>
          <a:blip r:embed="rId3"/>
          <a:stretch>
            <a:fillRect/>
          </a:stretch>
        </p:blipFill>
        <p:spPr>
          <a:xfrm>
            <a:off x="699699" y="3277164"/>
            <a:ext cx="337962" cy="337962"/>
          </a:xfrm>
          <a:prstGeom prst="rect">
            <a:avLst/>
          </a:prstGeom>
        </p:spPr>
      </p:pic>
      <p:sp>
        <p:nvSpPr>
          <p:cNvPr id="12" name="Text 7"/>
          <p:cNvSpPr/>
          <p:nvPr/>
        </p:nvSpPr>
        <p:spPr>
          <a:xfrm>
            <a:off x="1371600" y="308610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Wideo</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Rozumienie scen, streszczanie nagrań, wyszukiwanie momentów.</a:t>
            </a:r>
            <a:endParaRPr lang="en-US" sz="1550" dirty="0"/>
          </a:p>
        </p:txBody>
      </p:sp>
      <p:sp>
        <p:nvSpPr>
          <p:cNvPr id="13" name="Shape 8"/>
          <p:cNvSpPr/>
          <p:nvPr/>
        </p:nvSpPr>
        <p:spPr>
          <a:xfrm>
            <a:off x="566928" y="3864483"/>
            <a:ext cx="603504" cy="603504"/>
          </a:xfrm>
          <a:prstGeom prst="roundRect">
            <a:avLst>
              <a:gd name="adj" fmla="val 18182"/>
            </a:avLst>
          </a:prstGeom>
          <a:solidFill>
            <a:srgbClr val="FCE7F0"/>
          </a:solidFill>
          <a:ln/>
        </p:spPr>
      </p:sp>
      <p:pic>
        <p:nvPicPr>
          <p:cNvPr id="14" name="Image 3" descr="preencoded.png">    </p:cNvPr>
          <p:cNvPicPr>
            <a:picLocks noChangeAspect="1"/>
          </p:cNvPicPr>
          <p:nvPr/>
        </p:nvPicPr>
        <p:blipFill>
          <a:blip r:embed="rId4"/>
          <a:stretch>
            <a:fillRect/>
          </a:stretch>
        </p:blipFill>
        <p:spPr>
          <a:xfrm>
            <a:off x="699699" y="3997254"/>
            <a:ext cx="337962" cy="337962"/>
          </a:xfrm>
          <a:prstGeom prst="rect">
            <a:avLst/>
          </a:prstGeom>
        </p:spPr>
      </p:pic>
      <p:sp>
        <p:nvSpPr>
          <p:cNvPr id="15" name="Text 9"/>
          <p:cNvSpPr/>
          <p:nvPr/>
        </p:nvSpPr>
        <p:spPr>
          <a:xfrm>
            <a:off x="1371600" y="380619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Łączenie modalności</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Np. „opisz ten wykres i wyciągnij dane do tabeli".</a:t>
            </a:r>
            <a:endParaRPr lang="en-US" sz="1550" dirty="0"/>
          </a:p>
        </p:txBody>
      </p:sp>
      <p:sp>
        <p:nvSpPr>
          <p:cNvPr id="16" name="Text 10"/>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DECYZJA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Wybór modelu: koszt vs jakość</a:t>
            </a:r>
            <a:endParaRPr lang="en-US" sz="3000" dirty="0"/>
          </a:p>
        </p:txBody>
      </p:sp>
      <p:sp>
        <p:nvSpPr>
          <p:cNvPr id="4" name="Shape 2"/>
          <p:cNvSpPr/>
          <p:nvPr/>
        </p:nvSpPr>
        <p:spPr>
          <a:xfrm>
            <a:off x="566928" y="1874520"/>
            <a:ext cx="2499360" cy="2103120"/>
          </a:xfrm>
          <a:prstGeom prst="roundRect">
            <a:avLst>
              <a:gd name="adj" fmla="val 4348"/>
            </a:avLst>
          </a:prstGeom>
          <a:solidFill>
            <a:srgbClr val="FEF3E2"/>
          </a:solidFill>
          <a:ln/>
          <a:effectLst>
            <a:outerShdw sx="100000" sy="100000" kx="0" ky="0" algn="bl" rotWithShape="0" blurRad="101600" dist="38100" dir="5400000">
              <a:srgbClr val="000000">
                <a:alpha val="12000"/>
              </a:srgbClr>
            </a:outerShdw>
          </a:effectLst>
        </p:spPr>
      </p:sp>
      <p:sp>
        <p:nvSpPr>
          <p:cNvPr id="5" name="Text 3"/>
          <p:cNvSpPr/>
          <p:nvPr/>
        </p:nvSpPr>
        <p:spPr>
          <a:xfrm>
            <a:off x="658368" y="2194560"/>
            <a:ext cx="2316480" cy="868680"/>
          </a:xfrm>
          <a:prstGeom prst="rect">
            <a:avLst/>
          </a:prstGeom>
          <a:noFill/>
          <a:ln/>
        </p:spPr>
        <p:txBody>
          <a:bodyPr wrap="square" lIns="0" tIns="0" rIns="0" bIns="0" rtlCol="0" anchor="ctr"/>
          <a:lstStyle/>
          <a:p>
            <a:pPr algn="ctr" indent="0" marL="0">
              <a:buNone/>
            </a:pPr>
            <a:r>
              <a:rPr lang="en-US" sz="4400" b="1" dirty="0">
                <a:solidFill>
                  <a:srgbClr val="F59E0B"/>
                </a:solidFill>
                <a:latin typeface="Cambria" pitchFamily="34" charset="0"/>
                <a:ea typeface="Cambria" pitchFamily="34" charset="-122"/>
                <a:cs typeface="Cambria" pitchFamily="34" charset="-120"/>
              </a:rPr>
              <a:t>10–50×</a:t>
            </a:r>
            <a:endParaRPr lang="en-US" sz="4400" dirty="0"/>
          </a:p>
        </p:txBody>
      </p:sp>
      <p:sp>
        <p:nvSpPr>
          <p:cNvPr id="6" name="Text 4"/>
          <p:cNvSpPr/>
          <p:nvPr/>
        </p:nvSpPr>
        <p:spPr>
          <a:xfrm>
            <a:off x="704088" y="3154680"/>
            <a:ext cx="2225040" cy="685800"/>
          </a:xfrm>
          <a:prstGeom prst="rect">
            <a:avLst/>
          </a:prstGeom>
          <a:noFill/>
          <a:ln/>
        </p:spPr>
        <p:txBody>
          <a:bodyPr wrap="square" lIns="0" tIns="0" rIns="0" bIns="0" rtlCol="0" anchor="t"/>
          <a:lstStyle/>
          <a:p>
            <a:pPr algn="ctr" indent="0" marL="0">
              <a:lnSpc>
                <a:spcPct val="95000"/>
              </a:lnSpc>
              <a:buNone/>
            </a:pPr>
            <a:r>
              <a:rPr lang="en-US" sz="1200" dirty="0">
                <a:solidFill>
                  <a:srgbClr val="64748B"/>
                </a:solidFill>
                <a:latin typeface="Calibri" pitchFamily="34" charset="0"/>
                <a:ea typeface="Calibri" pitchFamily="34" charset="-122"/>
                <a:cs typeface="Calibri" pitchFamily="34" charset="-120"/>
              </a:rPr>
              <a:t>różnica kosztu między modelem flagowym a małym</a:t>
            </a:r>
            <a:endParaRPr lang="en-US" sz="1200" dirty="0"/>
          </a:p>
        </p:txBody>
      </p:sp>
      <p:sp>
        <p:nvSpPr>
          <p:cNvPr id="7" name="Shape 5"/>
          <p:cNvSpPr/>
          <p:nvPr/>
        </p:nvSpPr>
        <p:spPr>
          <a:xfrm>
            <a:off x="3340608" y="1874520"/>
            <a:ext cx="2499360" cy="2103120"/>
          </a:xfrm>
          <a:prstGeom prst="roundRect">
            <a:avLst>
              <a:gd name="adj" fmla="val 4348"/>
            </a:avLst>
          </a:prstGeom>
          <a:solidFill>
            <a:srgbClr val="EEF2FF"/>
          </a:solidFill>
          <a:ln/>
          <a:effectLst>
            <a:outerShdw sx="100000" sy="100000" kx="0" ky="0" algn="bl" rotWithShape="0" blurRad="101600" dist="38100" dir="5400000">
              <a:srgbClr val="000000">
                <a:alpha val="12000"/>
              </a:srgbClr>
            </a:outerShdw>
          </a:effectLst>
        </p:spPr>
      </p:sp>
      <p:sp>
        <p:nvSpPr>
          <p:cNvPr id="8" name="Text 6"/>
          <p:cNvSpPr/>
          <p:nvPr/>
        </p:nvSpPr>
        <p:spPr>
          <a:xfrm>
            <a:off x="3432048" y="2194560"/>
            <a:ext cx="2316480" cy="868680"/>
          </a:xfrm>
          <a:prstGeom prst="rect">
            <a:avLst/>
          </a:prstGeom>
          <a:noFill/>
          <a:ln/>
        </p:spPr>
        <p:txBody>
          <a:bodyPr wrap="square" lIns="0" tIns="0" rIns="0" bIns="0" rtlCol="0" anchor="ctr"/>
          <a:lstStyle/>
          <a:p>
            <a:pPr algn="ctr" indent="0" marL="0">
              <a:buNone/>
            </a:pPr>
            <a:r>
              <a:rPr lang="en-US" sz="4400" b="1" dirty="0">
                <a:solidFill>
                  <a:srgbClr val="4F46E5"/>
                </a:solidFill>
                <a:latin typeface="Cambria" pitchFamily="34" charset="0"/>
                <a:ea typeface="Cambria" pitchFamily="34" charset="-122"/>
                <a:cs typeface="Cambria" pitchFamily="34" charset="-120"/>
              </a:rPr>
              <a:t>80%</a:t>
            </a:r>
            <a:endParaRPr lang="en-US" sz="4400" dirty="0"/>
          </a:p>
        </p:txBody>
      </p:sp>
      <p:sp>
        <p:nvSpPr>
          <p:cNvPr id="9" name="Text 7"/>
          <p:cNvSpPr/>
          <p:nvPr/>
        </p:nvSpPr>
        <p:spPr>
          <a:xfrm>
            <a:off x="3477768" y="3154680"/>
            <a:ext cx="2225040" cy="685800"/>
          </a:xfrm>
          <a:prstGeom prst="rect">
            <a:avLst/>
          </a:prstGeom>
          <a:noFill/>
          <a:ln/>
        </p:spPr>
        <p:txBody>
          <a:bodyPr wrap="square" lIns="0" tIns="0" rIns="0" bIns="0" rtlCol="0" anchor="t"/>
          <a:lstStyle/>
          <a:p>
            <a:pPr algn="ctr" indent="0" marL="0">
              <a:lnSpc>
                <a:spcPct val="95000"/>
              </a:lnSpc>
              <a:buNone/>
            </a:pPr>
            <a:r>
              <a:rPr lang="en-US" sz="1200" dirty="0">
                <a:solidFill>
                  <a:srgbClr val="64748B"/>
                </a:solidFill>
                <a:latin typeface="Calibri" pitchFamily="34" charset="0"/>
                <a:ea typeface="Calibri" pitchFamily="34" charset="-122"/>
                <a:cs typeface="Calibri" pitchFamily="34" charset="-120"/>
              </a:rPr>
              <a:t>zadań często obsłuży mniejszy, tańszy model</a:t>
            </a:r>
            <a:endParaRPr lang="en-US" sz="1200" dirty="0"/>
          </a:p>
        </p:txBody>
      </p:sp>
      <p:sp>
        <p:nvSpPr>
          <p:cNvPr id="10" name="Shape 8"/>
          <p:cNvSpPr/>
          <p:nvPr/>
        </p:nvSpPr>
        <p:spPr>
          <a:xfrm>
            <a:off x="6114288" y="1874520"/>
            <a:ext cx="2499360" cy="2103120"/>
          </a:xfrm>
          <a:prstGeom prst="roundRect">
            <a:avLst>
              <a:gd name="adj" fmla="val 4348"/>
            </a:avLst>
          </a:prstGeom>
          <a:solidFill>
            <a:srgbClr val="E6FBF7"/>
          </a:solidFill>
          <a:ln/>
          <a:effectLst>
            <a:outerShdw sx="100000" sy="100000" kx="0" ky="0" algn="bl" rotWithShape="0" blurRad="101600" dist="38100" dir="5400000">
              <a:srgbClr val="000000">
                <a:alpha val="12000"/>
              </a:srgbClr>
            </a:outerShdw>
          </a:effectLst>
        </p:spPr>
      </p:sp>
      <p:sp>
        <p:nvSpPr>
          <p:cNvPr id="11" name="Text 9"/>
          <p:cNvSpPr/>
          <p:nvPr/>
        </p:nvSpPr>
        <p:spPr>
          <a:xfrm>
            <a:off x="6205728" y="2194560"/>
            <a:ext cx="2316480" cy="868680"/>
          </a:xfrm>
          <a:prstGeom prst="rect">
            <a:avLst/>
          </a:prstGeom>
          <a:noFill/>
          <a:ln/>
        </p:spPr>
        <p:txBody>
          <a:bodyPr wrap="square" lIns="0" tIns="0" rIns="0" bIns="0" rtlCol="0" anchor="ctr"/>
          <a:lstStyle/>
          <a:p>
            <a:pPr algn="ctr" indent="0" marL="0">
              <a:buNone/>
            </a:pPr>
            <a:r>
              <a:rPr lang="en-US" sz="4400" b="1" dirty="0">
                <a:solidFill>
                  <a:srgbClr val="14B8A6"/>
                </a:solidFill>
                <a:latin typeface="Cambria" pitchFamily="34" charset="0"/>
                <a:ea typeface="Cambria" pitchFamily="34" charset="-122"/>
                <a:cs typeface="Cambria" pitchFamily="34" charset="-120"/>
              </a:rPr>
              <a:t>2 osie</a:t>
            </a:r>
            <a:endParaRPr lang="en-US" sz="4400" dirty="0"/>
          </a:p>
        </p:txBody>
      </p:sp>
      <p:sp>
        <p:nvSpPr>
          <p:cNvPr id="12" name="Text 10"/>
          <p:cNvSpPr/>
          <p:nvPr/>
        </p:nvSpPr>
        <p:spPr>
          <a:xfrm>
            <a:off x="6251448" y="3154680"/>
            <a:ext cx="2225040" cy="685800"/>
          </a:xfrm>
          <a:prstGeom prst="rect">
            <a:avLst/>
          </a:prstGeom>
          <a:noFill/>
          <a:ln/>
        </p:spPr>
        <p:txBody>
          <a:bodyPr wrap="square" lIns="0" tIns="0" rIns="0" bIns="0" rtlCol="0" anchor="t"/>
          <a:lstStyle/>
          <a:p>
            <a:pPr algn="ctr" indent="0" marL="0">
              <a:lnSpc>
                <a:spcPct val="95000"/>
              </a:lnSpc>
              <a:buNone/>
            </a:pPr>
            <a:r>
              <a:rPr lang="en-US" sz="1200" dirty="0">
                <a:solidFill>
                  <a:srgbClr val="64748B"/>
                </a:solidFill>
                <a:latin typeface="Calibri" pitchFamily="34" charset="0"/>
                <a:ea typeface="Calibri" pitchFamily="34" charset="-122"/>
                <a:cs typeface="Calibri" pitchFamily="34" charset="-120"/>
              </a:rPr>
              <a:t>jakość i latencja, nie tylko cena</a:t>
            </a:r>
            <a:endParaRPr lang="en-US" sz="1200" dirty="0"/>
          </a:p>
        </p:txBody>
      </p:sp>
      <p:sp>
        <p:nvSpPr>
          <p:cNvPr id="13" name="Text 11"/>
          <p:cNvSpPr/>
          <p:nvPr/>
        </p:nvSpPr>
        <p:spPr>
          <a:xfrm>
            <a:off x="566928" y="4206240"/>
            <a:ext cx="8046720"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Routing: trudne zapytania → model flagowy, proste → model mały. Mierz, nie zgaduj.</a:t>
            </a:r>
            <a:endParaRPr lang="en-US" sz="1250" dirty="0"/>
          </a:p>
        </p:txBody>
      </p:sp>
      <p:sp>
        <p:nvSpPr>
          <p:cNvPr id="14"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CENNIK MENTALNY</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Co realnie wpływa na rachunek</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8046720" cy="914400"/>
        </p:xfrm>
        <a:graphic>
          <a:graphicData uri="http://schemas.openxmlformats.org/drawingml/2006/table">
            <a:tbl>
              <a:tblPr/>
              <a:tblGrid>
                <a:gridCol w="2468880"/>
                <a:gridCol w="2834640"/>
                <a:gridCol w="2743200"/>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Czynnik</a:t>
                      </a: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Wpływ</a:t>
                      </a: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Jak optymalizować</a:t>
                      </a: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Tokeny wejścia</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Długie prompty = wyższy koszt</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Skracaj kontekst, kompresuj historię</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Tokeny wyjścia</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Zwykle droższe niż wejście</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Ogranicz max_tokens, proś o zwięzłość</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Wybór modelu</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10–50× różnicy</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Routing: mały model do prostych zadań</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Okno kontekstu</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Duży kontekst = duży koszt</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RAG zamiast wrzucania wszystkiego</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Liczba wywołań</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Agenci robią ich wiele</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Caching, batching, limity pętli</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4617720"/>
            <a:ext cx="8046720" cy="36576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Caching promptu i kontekstu potrafi obciąć koszty powtarzalnych zapytań o kilkadziesiąt procent.</a:t>
            </a:r>
            <a:endParaRPr lang="en-US" sz="1050" dirty="0"/>
          </a:p>
        </p:txBody>
      </p:sp>
      <p:sp>
        <p:nvSpPr>
          <p:cNvPr id="6" name="Text 3"/>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E11D6B"/>
                </a:solidFill>
                <a:latin typeface="Calibri" pitchFamily="34" charset="0"/>
                <a:ea typeface="Calibri" pitchFamily="34" charset="-122"/>
                <a:cs typeface="Calibri" pitchFamily="34" charset="-120"/>
              </a:rPr>
              <a:t>OSTROŻNIE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Benchmarki — jak je czytać z głową</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Benchmark to przybliżenie, nie wyrocznia — łatwo o „przeciek" zbiorów testowych do treningu.</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Twoje zadanie ≠ benchmark. Liczy się jakość na Twoich danych i Twoim use-case.</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Patrz na wiele wymiarów: jakość, latencja, koszt, długość kontekstu, dostępność narzędzi.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Zbuduj własny mały zestaw ewaluacyjny (10–50 reprezentatywnych przypadków) i testuj modele na nim.</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Re-ewaluuj okresowo — modele i ceny zmieniają się co kilka miesięcy.</a:t>
            </a:r>
            <a:endParaRPr lang="en-US" sz="1450" dirty="0"/>
          </a:p>
        </p:txBody>
      </p:sp>
      <p:sp>
        <p:nvSpPr>
          <p:cNvPr id="5" name="Shape 3"/>
          <p:cNvSpPr/>
          <p:nvPr/>
        </p:nvSpPr>
        <p:spPr>
          <a:xfrm>
            <a:off x="5989320" y="1627632"/>
            <a:ext cx="2651760" cy="960120"/>
          </a:xfrm>
          <a:prstGeom prst="roundRect">
            <a:avLst>
              <a:gd name="adj" fmla="val 7619"/>
            </a:avLst>
          </a:prstGeom>
          <a:solidFill>
            <a:srgbClr val="E11D6B"/>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Ostrożnie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Przecieki danych</a:t>
            </a:r>
            <a:endParaRPr lang="en-US" sz="1250" dirty="0"/>
          </a:p>
        </p:txBody>
      </p:sp>
      <p:sp>
        <p:nvSpPr>
          <p:cNvPr id="9" name="Shape 6"/>
          <p:cNvSpPr/>
          <p:nvPr/>
        </p:nvSpPr>
        <p:spPr>
          <a:xfrm>
            <a:off x="5989320" y="2752344"/>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Własny eval</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10–50 case'ów</a:t>
            </a:r>
            <a:endParaRPr lang="en-US" sz="1250" dirty="0"/>
          </a:p>
        </p:txBody>
      </p:sp>
      <p:sp>
        <p:nvSpPr>
          <p:cNvPr id="13" name="Shape 9"/>
          <p:cNvSpPr/>
          <p:nvPr/>
        </p:nvSpPr>
        <p:spPr>
          <a:xfrm>
            <a:off x="5989320" y="3877056"/>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Powtarzaj</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Co kilka mies.</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960000">
            <a:off x="7498080" y="-1188720"/>
            <a:ext cx="4206240" cy="4206240"/>
          </a:xfrm>
          <a:prstGeom prst="roundRect">
            <a:avLst>
              <a:gd name="adj" fmla="val 10870"/>
            </a:avLst>
          </a:prstGeom>
          <a:solidFill>
            <a:srgbClr val="14B8A6">
              <a:alpha val="12000"/>
            </a:srgbClr>
          </a:solidFill>
          <a:ln/>
        </p:spPr>
      </p:sp>
      <p:sp>
        <p:nvSpPr>
          <p:cNvPr id="3" name="Shape 1"/>
          <p:cNvSpPr/>
          <p:nvPr/>
        </p:nvSpPr>
        <p:spPr>
          <a:xfrm>
            <a:off x="548640" y="1371600"/>
            <a:ext cx="914400" cy="914400"/>
          </a:xfrm>
          <a:prstGeom prst="roundRect">
            <a:avLst>
              <a:gd name="adj" fmla="val 20000"/>
            </a:avLst>
          </a:prstGeom>
          <a:solidFill>
            <a:srgbClr val="14B8A6"/>
          </a:solidFill>
          <a:ln/>
        </p:spPr>
      </p:sp>
      <p:pic>
        <p:nvPicPr>
          <p:cNvPr id="4" name="Image 0" descr="preencoded.png">    </p:cNvPr>
          <p:cNvPicPr>
            <a:picLocks noChangeAspect="1"/>
          </p:cNvPicPr>
          <p:nvPr/>
        </p:nvPicPr>
        <p:blipFill>
          <a:blip r:embed="rId1"/>
          <a:stretch>
            <a:fillRect/>
          </a:stretch>
        </p:blipFill>
        <p:spPr>
          <a:xfrm>
            <a:off x="749808" y="1572768"/>
            <a:ext cx="512064" cy="512064"/>
          </a:xfrm>
          <a:prstGeom prst="rect">
            <a:avLst/>
          </a:prstGeom>
        </p:spPr>
      </p:pic>
      <p:sp>
        <p:nvSpPr>
          <p:cNvPr id="5" name="Text 2"/>
          <p:cNvSpPr/>
          <p:nvPr/>
        </p:nvSpPr>
        <p:spPr>
          <a:xfrm>
            <a:off x="566928" y="640080"/>
            <a:ext cx="7315200" cy="365760"/>
          </a:xfrm>
          <a:prstGeom prst="rect">
            <a:avLst/>
          </a:prstGeom>
          <a:noFill/>
          <a:ln/>
        </p:spPr>
        <p:txBody>
          <a:bodyPr wrap="square" lIns="0" tIns="0" rIns="0" bIns="0"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DZIEŃ 1</a:t>
            </a:r>
            <a:endParaRPr lang="en-US" sz="1300" dirty="0"/>
          </a:p>
        </p:txBody>
      </p:sp>
      <p:sp>
        <p:nvSpPr>
          <p:cNvPr id="6" name="Text 3"/>
          <p:cNvSpPr/>
          <p:nvPr/>
        </p:nvSpPr>
        <p:spPr>
          <a:xfrm>
            <a:off x="548640" y="2514600"/>
            <a:ext cx="8229600" cy="1188720"/>
          </a:xfrm>
          <a:prstGeom prst="rect">
            <a:avLst/>
          </a:prstGeom>
          <a:noFill/>
          <a:ln/>
        </p:spPr>
        <p:txBody>
          <a:bodyPr wrap="square" lIns="0" tIns="0" rIns="0" bIns="0" rtlCol="0" anchor="ctr"/>
          <a:lstStyle/>
          <a:p>
            <a:pPr indent="0" marL="0">
              <a:lnSpc>
                <a:spcPct val="98000"/>
              </a:lnSpc>
              <a:buNone/>
            </a:pPr>
            <a:r>
              <a:rPr lang="en-US" sz="3300" b="1" dirty="0">
                <a:solidFill>
                  <a:srgbClr val="14B8A6"/>
                </a:solidFill>
                <a:latin typeface="Cambria" pitchFamily="34" charset="0"/>
                <a:ea typeface="Cambria" pitchFamily="34" charset="-122"/>
                <a:cs typeface="Cambria" pitchFamily="34" charset="-120"/>
              </a:rPr>
              <a:t>Sekcja 3  </a:t>
            </a:r>
            <a:pPr indent="0" marL="0">
              <a:lnSpc>
                <a:spcPct val="98000"/>
              </a:lnSpc>
              <a:buNone/>
            </a:pPr>
            <a:r>
              <a:rPr lang="en-US" sz="3300" b="1" dirty="0">
                <a:solidFill>
                  <a:srgbClr val="FFFFFF"/>
                </a:solidFill>
                <a:latin typeface="Cambria" pitchFamily="34" charset="0"/>
                <a:ea typeface="Cambria" pitchFamily="34" charset="-122"/>
                <a:cs typeface="Cambria" pitchFamily="34" charset="-120"/>
              </a:rPr>
              <a:t>Prompt engineering — techniki zaawansowane</a:t>
            </a:r>
            <a:endParaRPr lang="en-US" sz="3300" dirty="0"/>
          </a:p>
        </p:txBody>
      </p:sp>
      <p:sp>
        <p:nvSpPr>
          <p:cNvPr id="7" name="Text 4"/>
          <p:cNvSpPr/>
          <p:nvPr/>
        </p:nvSpPr>
        <p:spPr>
          <a:xfrm>
            <a:off x="585216" y="3794760"/>
            <a:ext cx="8229600" cy="1097280"/>
          </a:xfrm>
          <a:prstGeom prst="rect">
            <a:avLst/>
          </a:prstGeom>
          <a:noFill/>
          <a:ln/>
        </p:spPr>
        <p:txBody>
          <a:bodyPr wrap="square" lIns="0" tIns="0" rIns="0" bIns="0" rtlCol="0" anchor="ctr"/>
          <a:lstStyle/>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Zero/Few-shot, CoT, ToT, ReAct</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System prompts, structured outputs</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Prompt chaining i dekompozycja</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FUNDAMENT</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Anatomia dobrego promptu</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Dobry prompt ma jasną strukturę — model nie czyta w myślach.</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Rola / kontekst — kim jest model i w jakiej sytuacji działa.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Zadanie — precyzyjnie, jednoznacznie, jeden cel naraz.</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Dane wejściowe — wyraźnie oddzielone (np. znacznikami / sekcjami).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Format wyjścia — dokładnie określony (JSON, lista, tabela).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Ograniczenia i przykłady — czego unikać, jak ma wyglądać wzorcowa odpowiedź.</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Rola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Kontekst</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Zadanie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Jeden cel</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Format</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Wyjście</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LICZBA PRZYKŁADÓW</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Zero-shot, few-shot, multi-shot</a:t>
            </a:r>
            <a:endParaRPr lang="en-US" sz="3000" dirty="0"/>
          </a:p>
        </p:txBody>
      </p:sp>
      <p:sp>
        <p:nvSpPr>
          <p:cNvPr id="4" name="Shape 2"/>
          <p:cNvSpPr/>
          <p:nvPr/>
        </p:nvSpPr>
        <p:spPr>
          <a:xfrm>
            <a:off x="566928" y="1965960"/>
            <a:ext cx="2487168" cy="1828800"/>
          </a:xfrm>
          <a:prstGeom prst="roundRect">
            <a:avLst>
              <a:gd name="adj" fmla="val 5000"/>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1527048" y="2167128"/>
            <a:ext cx="566928" cy="566928"/>
          </a:xfrm>
          <a:prstGeom prst="roundRect">
            <a:avLst>
              <a:gd name="adj" fmla="val 22581"/>
            </a:avLst>
          </a:prstGeom>
          <a:solidFill>
            <a:srgbClr val="4F46E5"/>
          </a:solidFill>
          <a:ln/>
        </p:spPr>
      </p:sp>
      <p:pic>
        <p:nvPicPr>
          <p:cNvPr id="6" name="Image 0" descr="preencoded.png">    </p:cNvPr>
          <p:cNvPicPr>
            <a:picLocks noChangeAspect="1"/>
          </p:cNvPicPr>
          <p:nvPr/>
        </p:nvPicPr>
        <p:blipFill>
          <a:blip r:embed="rId1"/>
          <a:stretch>
            <a:fillRect/>
          </a:stretch>
        </p:blipFill>
        <p:spPr>
          <a:xfrm>
            <a:off x="1651772" y="2291852"/>
            <a:ext cx="317480" cy="317480"/>
          </a:xfrm>
          <a:prstGeom prst="rect">
            <a:avLst/>
          </a:prstGeom>
        </p:spPr>
      </p:pic>
      <p:sp>
        <p:nvSpPr>
          <p:cNvPr id="7" name="Text 4"/>
          <p:cNvSpPr/>
          <p:nvPr/>
        </p:nvSpPr>
        <p:spPr>
          <a:xfrm>
            <a:off x="658368" y="2834640"/>
            <a:ext cx="2304288"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1. Zero-shot</a:t>
            </a:r>
            <a:endParaRPr lang="en-US" sz="1250" dirty="0"/>
          </a:p>
        </p:txBody>
      </p:sp>
      <p:sp>
        <p:nvSpPr>
          <p:cNvPr id="8" name="Text 5"/>
          <p:cNvSpPr/>
          <p:nvPr/>
        </p:nvSpPr>
        <p:spPr>
          <a:xfrm>
            <a:off x="676656" y="3209544"/>
            <a:ext cx="2267712"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Tylko instrukcja, bez przykładów</a:t>
            </a:r>
            <a:endParaRPr lang="en-US" sz="950" dirty="0"/>
          </a:p>
        </p:txBody>
      </p:sp>
      <p:sp>
        <p:nvSpPr>
          <p:cNvPr id="9" name="Text 6"/>
          <p:cNvSpPr/>
          <p:nvPr/>
        </p:nvSpPr>
        <p:spPr>
          <a:xfrm>
            <a:off x="3035808"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0" name="Shape 7"/>
          <p:cNvSpPr/>
          <p:nvPr/>
        </p:nvSpPr>
        <p:spPr>
          <a:xfrm>
            <a:off x="3346704" y="1965960"/>
            <a:ext cx="2487168" cy="1828800"/>
          </a:xfrm>
          <a:prstGeom prst="roundRect">
            <a:avLst>
              <a:gd name="adj" fmla="val 5000"/>
            </a:avLst>
          </a:prstGeom>
          <a:solidFill>
            <a:srgbClr val="F4F5FB"/>
          </a:solidFill>
          <a:ln/>
          <a:effectLst>
            <a:outerShdw sx="100000" sy="100000" kx="0" ky="0" algn="bl" rotWithShape="0" blurRad="101600" dist="38100" dir="5400000">
              <a:srgbClr val="000000">
                <a:alpha val="12000"/>
              </a:srgbClr>
            </a:outerShdw>
          </a:effectLst>
        </p:spPr>
      </p:sp>
      <p:sp>
        <p:nvSpPr>
          <p:cNvPr id="11" name="Shape 8"/>
          <p:cNvSpPr/>
          <p:nvPr/>
        </p:nvSpPr>
        <p:spPr>
          <a:xfrm>
            <a:off x="4306824" y="2167128"/>
            <a:ext cx="566928" cy="566928"/>
          </a:xfrm>
          <a:prstGeom prst="roundRect">
            <a:avLst>
              <a:gd name="adj" fmla="val 22581"/>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4431548" y="2291852"/>
            <a:ext cx="317480" cy="317480"/>
          </a:xfrm>
          <a:prstGeom prst="rect">
            <a:avLst/>
          </a:prstGeom>
        </p:spPr>
      </p:pic>
      <p:sp>
        <p:nvSpPr>
          <p:cNvPr id="13" name="Text 9"/>
          <p:cNvSpPr/>
          <p:nvPr/>
        </p:nvSpPr>
        <p:spPr>
          <a:xfrm>
            <a:off x="3438144" y="2834640"/>
            <a:ext cx="2304288"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2. Few-shot</a:t>
            </a:r>
            <a:endParaRPr lang="en-US" sz="1250" dirty="0"/>
          </a:p>
        </p:txBody>
      </p:sp>
      <p:sp>
        <p:nvSpPr>
          <p:cNvPr id="14" name="Text 10"/>
          <p:cNvSpPr/>
          <p:nvPr/>
        </p:nvSpPr>
        <p:spPr>
          <a:xfrm>
            <a:off x="3456432" y="3209544"/>
            <a:ext cx="2267712"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1–5 przykładów wzorcowych</a:t>
            </a:r>
            <a:endParaRPr lang="en-US" sz="950" dirty="0"/>
          </a:p>
        </p:txBody>
      </p:sp>
      <p:sp>
        <p:nvSpPr>
          <p:cNvPr id="15" name="Text 11"/>
          <p:cNvSpPr/>
          <p:nvPr/>
        </p:nvSpPr>
        <p:spPr>
          <a:xfrm>
            <a:off x="5815584"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6" name="Shape 12"/>
          <p:cNvSpPr/>
          <p:nvPr/>
        </p:nvSpPr>
        <p:spPr>
          <a:xfrm>
            <a:off x="6126480" y="1965960"/>
            <a:ext cx="2487168" cy="1828800"/>
          </a:xfrm>
          <a:prstGeom prst="roundRect">
            <a:avLst>
              <a:gd name="adj" fmla="val 5000"/>
            </a:avLst>
          </a:prstGeom>
          <a:solidFill>
            <a:srgbClr val="F4F5FB"/>
          </a:solidFill>
          <a:ln/>
          <a:effectLst>
            <a:outerShdw sx="100000" sy="100000" kx="0" ky="0" algn="bl" rotWithShape="0" blurRad="101600" dist="38100" dir="5400000">
              <a:srgbClr val="000000">
                <a:alpha val="12000"/>
              </a:srgbClr>
            </a:outerShdw>
          </a:effectLst>
        </p:spPr>
      </p:sp>
      <p:sp>
        <p:nvSpPr>
          <p:cNvPr id="17" name="Shape 13"/>
          <p:cNvSpPr/>
          <p:nvPr/>
        </p:nvSpPr>
        <p:spPr>
          <a:xfrm>
            <a:off x="7086600" y="2167128"/>
            <a:ext cx="566928" cy="566928"/>
          </a:xfrm>
          <a:prstGeom prst="roundRect">
            <a:avLst>
              <a:gd name="adj" fmla="val 22581"/>
            </a:avLst>
          </a:prstGeom>
          <a:solidFill>
            <a:srgbClr val="F59E0B"/>
          </a:solidFill>
          <a:ln/>
        </p:spPr>
      </p:sp>
      <p:pic>
        <p:nvPicPr>
          <p:cNvPr id="18" name="Image 2" descr="preencoded.png">    </p:cNvPr>
          <p:cNvPicPr>
            <a:picLocks noChangeAspect="1"/>
          </p:cNvPicPr>
          <p:nvPr/>
        </p:nvPicPr>
        <p:blipFill>
          <a:blip r:embed="rId3"/>
          <a:stretch>
            <a:fillRect/>
          </a:stretch>
        </p:blipFill>
        <p:spPr>
          <a:xfrm>
            <a:off x="7211324" y="2291852"/>
            <a:ext cx="317480" cy="317480"/>
          </a:xfrm>
          <a:prstGeom prst="rect">
            <a:avLst/>
          </a:prstGeom>
        </p:spPr>
      </p:pic>
      <p:sp>
        <p:nvSpPr>
          <p:cNvPr id="19" name="Text 14"/>
          <p:cNvSpPr/>
          <p:nvPr/>
        </p:nvSpPr>
        <p:spPr>
          <a:xfrm>
            <a:off x="6217920" y="2834640"/>
            <a:ext cx="2304288"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3. Multi-shot</a:t>
            </a:r>
            <a:endParaRPr lang="en-US" sz="1250" dirty="0"/>
          </a:p>
        </p:txBody>
      </p:sp>
      <p:sp>
        <p:nvSpPr>
          <p:cNvPr id="20" name="Text 15"/>
          <p:cNvSpPr/>
          <p:nvPr/>
        </p:nvSpPr>
        <p:spPr>
          <a:xfrm>
            <a:off x="6236208" y="3209544"/>
            <a:ext cx="2267712"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Wiele przykładów = wzorzec</a:t>
            </a:r>
            <a:endParaRPr lang="en-US" sz="950" dirty="0"/>
          </a:p>
        </p:txBody>
      </p:sp>
      <p:sp>
        <p:nvSpPr>
          <p:cNvPr id="21" name="Text 16"/>
          <p:cNvSpPr/>
          <p:nvPr/>
        </p:nvSpPr>
        <p:spPr>
          <a:xfrm>
            <a:off x="566928" y="4160520"/>
            <a:ext cx="8046720"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Przykłady „pokazują" modelowi format i styl skuteczniej niż długi opis słowny.</a:t>
            </a:r>
            <a:endParaRPr lang="en-US" sz="1250" dirty="0"/>
          </a:p>
        </p:txBody>
      </p:sp>
      <p:sp>
        <p:nvSpPr>
          <p:cNvPr id="22" name="Text 17"/>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ROZUMOWANIE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Chain of Thought (CoT)</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Poproś model, by „myślał na głos" przed odpowiedzią.</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Drastycznie poprawia zadania logiczne i matematyczne.</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Wariant zero-shot: „Pomyśl krok po kroku."</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Uwaga: dłuższe wyjście = wyższy koszt.</a:t>
            </a:r>
            <a:endParaRPr lang="en-US" sz="1300" dirty="0"/>
          </a:p>
        </p:txBody>
      </p:sp>
      <p:sp>
        <p:nvSpPr>
          <p:cNvPr id="5" name="Shape 3"/>
          <p:cNvSpPr/>
          <p:nvPr/>
        </p:nvSpPr>
        <p:spPr>
          <a:xfrm>
            <a:off x="4160520" y="1627632"/>
            <a:ext cx="4434840" cy="2372868"/>
          </a:xfrm>
          <a:prstGeom prst="roundRect">
            <a:avLst>
              <a:gd name="adj" fmla="val 2312"/>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text</a:t>
            </a:r>
            <a:endParaRPr lang="en-US" sz="900" dirty="0"/>
          </a:p>
        </p:txBody>
      </p:sp>
      <p:sp>
        <p:nvSpPr>
          <p:cNvPr id="7" name="Text 5"/>
          <p:cNvSpPr/>
          <p:nvPr/>
        </p:nvSpPr>
        <p:spPr>
          <a:xfrm>
            <a:off x="4361688" y="1920240"/>
            <a:ext cx="4069080" cy="1988820"/>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Pytanie: W koszyku jest 3 razy więcej</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jabłek niż gruszek. Razem 24 owoce.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Ile jest gruszek?</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Pomyśl krok po kroku, a potem podaj</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ostateczną odpowiedź po słowie ODP:.</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&gt; Niech g = liczba gruszek.</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&gt; Jabłek jest 3g, razem 4g = 24.</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&gt; g = 6.</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ODP: 6 gruszek</a:t>
            </a:r>
            <a:endParaRPr lang="en-US" sz="1050" dirty="0"/>
          </a:p>
        </p:txBody>
      </p:sp>
      <p:sp>
        <p:nvSpPr>
          <p:cNvPr id="8" name="Shape 6"/>
          <p:cNvSpPr/>
          <p:nvPr/>
        </p:nvSpPr>
        <p:spPr>
          <a:xfrm>
            <a:off x="4160520" y="4146804"/>
            <a:ext cx="4434840" cy="566928"/>
          </a:xfrm>
          <a:prstGeom prst="roundRect">
            <a:avLst>
              <a:gd name="adj" fmla="val 9677"/>
            </a:avLst>
          </a:prstGeom>
          <a:solidFill>
            <a:srgbClr val="E6FBF7"/>
          </a:solidFill>
          <a:ln/>
        </p:spPr>
      </p:sp>
      <p:sp>
        <p:nvSpPr>
          <p:cNvPr id="9" name="Text 7"/>
          <p:cNvSpPr/>
          <p:nvPr/>
        </p:nvSpPr>
        <p:spPr>
          <a:xfrm>
            <a:off x="4325112" y="4146804"/>
            <a:ext cx="410565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CoT zamienia jeden „skok" w jawny łańcuch kroków — i to działa.</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ROZGAŁĘZIENIA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Tree of Thoughts (ToT)</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Zamiast jednego łańcucha — drzewo możliwych ścieżek rozumowania.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Model generuje kilka wariantów kroku, ocenia je i wybiera najlepszy do rozwinięcia.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Dobre dla problemów z przeszukiwaniem przestrzeni rozwiązań (planowanie, łamigłówki).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Kosztowne — wiele wywołań modelu na jedno zadanie.</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W praktyce: stosuj wybiórczo, tam gdzie pojedynczy CoT zawodzi.</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Drzewo</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Wiele ścieżek</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Ocena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Wybór gałęzi</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Koszt</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Wiele wywołań</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ROZUMOWANIE + DZIAŁANIE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ReAct — Reasoning + Acting</a:t>
            </a:r>
            <a:endParaRPr lang="en-US" sz="3000" dirty="0"/>
          </a:p>
        </p:txBody>
      </p:sp>
      <p:sp>
        <p:nvSpPr>
          <p:cNvPr id="4" name="Shape 2"/>
          <p:cNvSpPr/>
          <p:nvPr/>
        </p:nvSpPr>
        <p:spPr>
          <a:xfrm>
            <a:off x="566928"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1179576" y="2167128"/>
            <a:ext cx="566928" cy="566928"/>
          </a:xfrm>
          <a:prstGeom prst="roundRect">
            <a:avLst>
              <a:gd name="adj" fmla="val 22581"/>
            </a:avLst>
          </a:prstGeom>
          <a:solidFill>
            <a:srgbClr val="4F46E5"/>
          </a:solidFill>
          <a:ln/>
        </p:spPr>
      </p:sp>
      <p:pic>
        <p:nvPicPr>
          <p:cNvPr id="6" name="Image 0" descr="preencoded.png">    </p:cNvPr>
          <p:cNvPicPr>
            <a:picLocks noChangeAspect="1"/>
          </p:cNvPicPr>
          <p:nvPr/>
        </p:nvPicPr>
        <p:blipFill>
          <a:blip r:embed="rId1"/>
          <a:stretch>
            <a:fillRect/>
          </a:stretch>
        </p:blipFill>
        <p:spPr>
          <a:xfrm>
            <a:off x="1304300" y="2291852"/>
            <a:ext cx="317480" cy="317480"/>
          </a:xfrm>
          <a:prstGeom prst="rect">
            <a:avLst/>
          </a:prstGeom>
        </p:spPr>
      </p:pic>
      <p:sp>
        <p:nvSpPr>
          <p:cNvPr id="7" name="Text 4"/>
          <p:cNvSpPr/>
          <p:nvPr/>
        </p:nvSpPr>
        <p:spPr>
          <a:xfrm>
            <a:off x="658368"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1. Thought</a:t>
            </a:r>
            <a:endParaRPr lang="en-US" sz="1250" dirty="0"/>
          </a:p>
        </p:txBody>
      </p:sp>
      <p:sp>
        <p:nvSpPr>
          <p:cNvPr id="8" name="Text 5"/>
          <p:cNvSpPr/>
          <p:nvPr/>
        </p:nvSpPr>
        <p:spPr>
          <a:xfrm>
            <a:off x="676656"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Model planuje krok</a:t>
            </a:r>
            <a:endParaRPr lang="en-US" sz="950" dirty="0"/>
          </a:p>
        </p:txBody>
      </p:sp>
      <p:sp>
        <p:nvSpPr>
          <p:cNvPr id="9" name="Text 6"/>
          <p:cNvSpPr/>
          <p:nvPr/>
        </p:nvSpPr>
        <p:spPr>
          <a:xfrm>
            <a:off x="2340864"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0" name="Shape 7"/>
          <p:cNvSpPr/>
          <p:nvPr/>
        </p:nvSpPr>
        <p:spPr>
          <a:xfrm>
            <a:off x="2651760"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1" name="Shape 8"/>
          <p:cNvSpPr/>
          <p:nvPr/>
        </p:nvSpPr>
        <p:spPr>
          <a:xfrm>
            <a:off x="3264408" y="2167128"/>
            <a:ext cx="566928" cy="566928"/>
          </a:xfrm>
          <a:prstGeom prst="roundRect">
            <a:avLst>
              <a:gd name="adj" fmla="val 22581"/>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3389132" y="2291852"/>
            <a:ext cx="317480" cy="317480"/>
          </a:xfrm>
          <a:prstGeom prst="rect">
            <a:avLst/>
          </a:prstGeom>
        </p:spPr>
      </p:pic>
      <p:sp>
        <p:nvSpPr>
          <p:cNvPr id="13" name="Text 9"/>
          <p:cNvSpPr/>
          <p:nvPr/>
        </p:nvSpPr>
        <p:spPr>
          <a:xfrm>
            <a:off x="2743200"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2. Action</a:t>
            </a:r>
            <a:endParaRPr lang="en-US" sz="1250" dirty="0"/>
          </a:p>
        </p:txBody>
      </p:sp>
      <p:sp>
        <p:nvSpPr>
          <p:cNvPr id="14" name="Text 10"/>
          <p:cNvSpPr/>
          <p:nvPr/>
        </p:nvSpPr>
        <p:spPr>
          <a:xfrm>
            <a:off x="2761488"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Wywołuje narzędzie</a:t>
            </a:r>
            <a:endParaRPr lang="en-US" sz="950" dirty="0"/>
          </a:p>
        </p:txBody>
      </p:sp>
      <p:sp>
        <p:nvSpPr>
          <p:cNvPr id="15" name="Text 11"/>
          <p:cNvSpPr/>
          <p:nvPr/>
        </p:nvSpPr>
        <p:spPr>
          <a:xfrm>
            <a:off x="4425696"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6" name="Shape 12"/>
          <p:cNvSpPr/>
          <p:nvPr/>
        </p:nvSpPr>
        <p:spPr>
          <a:xfrm>
            <a:off x="4736592"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7" name="Shape 13"/>
          <p:cNvSpPr/>
          <p:nvPr/>
        </p:nvSpPr>
        <p:spPr>
          <a:xfrm>
            <a:off x="5349240" y="2167128"/>
            <a:ext cx="566928" cy="566928"/>
          </a:xfrm>
          <a:prstGeom prst="roundRect">
            <a:avLst>
              <a:gd name="adj" fmla="val 22581"/>
            </a:avLst>
          </a:prstGeom>
          <a:solidFill>
            <a:srgbClr val="F59E0B"/>
          </a:solidFill>
          <a:ln/>
        </p:spPr>
      </p:sp>
      <p:pic>
        <p:nvPicPr>
          <p:cNvPr id="18" name="Image 2" descr="preencoded.png">    </p:cNvPr>
          <p:cNvPicPr>
            <a:picLocks noChangeAspect="1"/>
          </p:cNvPicPr>
          <p:nvPr/>
        </p:nvPicPr>
        <p:blipFill>
          <a:blip r:embed="rId3"/>
          <a:stretch>
            <a:fillRect/>
          </a:stretch>
        </p:blipFill>
        <p:spPr>
          <a:xfrm>
            <a:off x="5473964" y="2291852"/>
            <a:ext cx="317480" cy="317480"/>
          </a:xfrm>
          <a:prstGeom prst="rect">
            <a:avLst/>
          </a:prstGeom>
        </p:spPr>
      </p:pic>
      <p:sp>
        <p:nvSpPr>
          <p:cNvPr id="19" name="Text 14"/>
          <p:cNvSpPr/>
          <p:nvPr/>
        </p:nvSpPr>
        <p:spPr>
          <a:xfrm>
            <a:off x="4828032"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3. Observation</a:t>
            </a:r>
            <a:endParaRPr lang="en-US" sz="1250" dirty="0"/>
          </a:p>
        </p:txBody>
      </p:sp>
      <p:sp>
        <p:nvSpPr>
          <p:cNvPr id="20" name="Text 15"/>
          <p:cNvSpPr/>
          <p:nvPr/>
        </p:nvSpPr>
        <p:spPr>
          <a:xfrm>
            <a:off x="4846320"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Czyta wynik</a:t>
            </a:r>
            <a:endParaRPr lang="en-US" sz="950" dirty="0"/>
          </a:p>
        </p:txBody>
      </p:sp>
      <p:sp>
        <p:nvSpPr>
          <p:cNvPr id="21" name="Text 16"/>
          <p:cNvSpPr/>
          <p:nvPr/>
        </p:nvSpPr>
        <p:spPr>
          <a:xfrm>
            <a:off x="6510528"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22" name="Shape 17"/>
          <p:cNvSpPr/>
          <p:nvPr/>
        </p:nvSpPr>
        <p:spPr>
          <a:xfrm>
            <a:off x="6821424"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23" name="Shape 18"/>
          <p:cNvSpPr/>
          <p:nvPr/>
        </p:nvSpPr>
        <p:spPr>
          <a:xfrm>
            <a:off x="7434072" y="2167128"/>
            <a:ext cx="566928" cy="566928"/>
          </a:xfrm>
          <a:prstGeom prst="roundRect">
            <a:avLst>
              <a:gd name="adj" fmla="val 22581"/>
            </a:avLst>
          </a:prstGeom>
          <a:solidFill>
            <a:srgbClr val="E11D6B"/>
          </a:solidFill>
          <a:ln/>
        </p:spPr>
      </p:sp>
      <p:pic>
        <p:nvPicPr>
          <p:cNvPr id="24" name="Image 3" descr="preencoded.png">    </p:cNvPr>
          <p:cNvPicPr>
            <a:picLocks noChangeAspect="1"/>
          </p:cNvPicPr>
          <p:nvPr/>
        </p:nvPicPr>
        <p:blipFill>
          <a:blip r:embed="rId4"/>
          <a:stretch>
            <a:fillRect/>
          </a:stretch>
        </p:blipFill>
        <p:spPr>
          <a:xfrm>
            <a:off x="7558796" y="2291852"/>
            <a:ext cx="317480" cy="317480"/>
          </a:xfrm>
          <a:prstGeom prst="rect">
            <a:avLst/>
          </a:prstGeom>
        </p:spPr>
      </p:pic>
      <p:sp>
        <p:nvSpPr>
          <p:cNvPr id="25" name="Text 19"/>
          <p:cNvSpPr/>
          <p:nvPr/>
        </p:nvSpPr>
        <p:spPr>
          <a:xfrm>
            <a:off x="6912864"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4. Repeat</a:t>
            </a:r>
            <a:endParaRPr lang="en-US" sz="1250" dirty="0"/>
          </a:p>
        </p:txBody>
      </p:sp>
      <p:sp>
        <p:nvSpPr>
          <p:cNvPr id="26" name="Text 20"/>
          <p:cNvSpPr/>
          <p:nvPr/>
        </p:nvSpPr>
        <p:spPr>
          <a:xfrm>
            <a:off x="6931152"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Aż do odpowiedzi</a:t>
            </a:r>
            <a:endParaRPr lang="en-US" sz="950" dirty="0"/>
          </a:p>
        </p:txBody>
      </p:sp>
      <p:sp>
        <p:nvSpPr>
          <p:cNvPr id="27" name="Text 21"/>
          <p:cNvSpPr/>
          <p:nvPr/>
        </p:nvSpPr>
        <p:spPr>
          <a:xfrm>
            <a:off x="566928" y="4160520"/>
            <a:ext cx="8046720"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ReAct to fundament agentów — model na przemian myśli i działa, korzystając z narzędzi.</a:t>
            </a:r>
            <a:endParaRPr lang="en-US" sz="1250" dirty="0"/>
          </a:p>
        </p:txBody>
      </p:sp>
      <p:sp>
        <p:nvSpPr>
          <p:cNvPr id="28" name="Text 2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STEROWANIE ZACHOWANIEM</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System prompt i role engineering</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System prompt ustawia trwałe „zasady gry".</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Rola, ton, granice, format domyślny.</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Oddzielony od wiadomości użytkownika.</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Tu definiujesz politykę bezpieczeństwa aplikacji.</a:t>
            </a:r>
            <a:endParaRPr lang="en-US" sz="1300" dirty="0"/>
          </a:p>
        </p:txBody>
      </p:sp>
      <p:sp>
        <p:nvSpPr>
          <p:cNvPr id="5" name="Shape 3"/>
          <p:cNvSpPr/>
          <p:nvPr/>
        </p:nvSpPr>
        <p:spPr>
          <a:xfrm>
            <a:off x="4160520" y="1627632"/>
            <a:ext cx="4434840" cy="2185416"/>
          </a:xfrm>
          <a:prstGeom prst="roundRect">
            <a:avLst>
              <a:gd name="adj" fmla="val 2510"/>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7" name="Text 5"/>
          <p:cNvSpPr/>
          <p:nvPr/>
        </p:nvSpPr>
        <p:spPr>
          <a:xfrm>
            <a:off x="4361688" y="1920240"/>
            <a:ext cx="4069080" cy="1801368"/>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messages =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{"role": "system", "content":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"Jesteś asystentem prawnym banku.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"Odpowiadasz wyłącznie po polsku,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"rzeczowo i ostrożnie. Gdy nie masz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"pewności — mówisz o tym wprost.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"Nigdy nie udzielasz porad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"inwestycyjnych."},</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{"role": "user", "content": pytanie},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8" name="Shape 6"/>
          <p:cNvSpPr/>
          <p:nvPr/>
        </p:nvSpPr>
        <p:spPr>
          <a:xfrm>
            <a:off x="4160520" y="3959352"/>
            <a:ext cx="4434840" cy="566928"/>
          </a:xfrm>
          <a:prstGeom prst="roundRect">
            <a:avLst>
              <a:gd name="adj" fmla="val 9677"/>
            </a:avLst>
          </a:prstGeom>
          <a:solidFill>
            <a:srgbClr val="E6FBF7"/>
          </a:solidFill>
          <a:ln/>
        </p:spPr>
      </p:sp>
      <p:sp>
        <p:nvSpPr>
          <p:cNvPr id="9" name="Text 7"/>
          <p:cNvSpPr/>
          <p:nvPr/>
        </p:nvSpPr>
        <p:spPr>
          <a:xfrm>
            <a:off x="4325112" y="3959352"/>
            <a:ext cx="410565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System prompt to miejsce na trwałe reguły — nie powtarzaj ich w każdej wiadomości użytkownika.</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NIEZAWODNY PARSING</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Structured outputs — JSON ze schematem</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Wymuś dokładny kształt wyjścia.</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Pydantic / JSON Schema = walidacja.</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Koniec z parsowaniem prozy regexem.</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Łączy się z function calling.</a:t>
            </a:r>
            <a:endParaRPr lang="en-US" sz="1300" dirty="0"/>
          </a:p>
        </p:txBody>
      </p:sp>
      <p:sp>
        <p:nvSpPr>
          <p:cNvPr id="5" name="Shape 3"/>
          <p:cNvSpPr/>
          <p:nvPr/>
        </p:nvSpPr>
        <p:spPr>
          <a:xfrm>
            <a:off x="4160520" y="1627632"/>
            <a:ext cx="4434840" cy="2935224"/>
          </a:xfrm>
          <a:prstGeom prst="roundRect">
            <a:avLst>
              <a:gd name="adj" fmla="val 1869"/>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7" name="Text 5"/>
          <p:cNvSpPr/>
          <p:nvPr/>
        </p:nvSpPr>
        <p:spPr>
          <a:xfrm>
            <a:off x="4361688" y="1920240"/>
            <a:ext cx="4069080" cy="2551176"/>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pydantic import BaseModel</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class Faktura(BaseModel):</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nr: str</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kwota_brutto: float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waluta: str</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termin: str</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resp = client.responses.parse(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model="gpt-4...",</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input=[{"role":"user","content":tekst}],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text_format=Faktura,</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faktura = resp.output_parsed  </a:t>
            </a: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typ: Faktura</a:t>
            </a:r>
            <a:endParaRPr lang="en-US" sz="1050" dirty="0"/>
          </a:p>
        </p:txBody>
      </p:sp>
      <p:sp>
        <p:nvSpPr>
          <p:cNvPr id="8" name="Shape 6"/>
          <p:cNvSpPr/>
          <p:nvPr/>
        </p:nvSpPr>
        <p:spPr>
          <a:xfrm>
            <a:off x="4160520" y="4709160"/>
            <a:ext cx="4434840" cy="566928"/>
          </a:xfrm>
          <a:prstGeom prst="roundRect">
            <a:avLst>
              <a:gd name="adj" fmla="val 9677"/>
            </a:avLst>
          </a:prstGeom>
          <a:solidFill>
            <a:srgbClr val="EEF2FF"/>
          </a:solidFill>
          <a:ln/>
        </p:spPr>
      </p:sp>
      <p:sp>
        <p:nvSpPr>
          <p:cNvPr id="9" name="Text 7"/>
          <p:cNvSpPr/>
          <p:nvPr/>
        </p:nvSpPr>
        <p:spPr>
          <a:xfrm>
            <a:off x="4325112" y="4709160"/>
            <a:ext cx="4105656" cy="566928"/>
          </a:xfrm>
          <a:prstGeom prst="rect">
            <a:avLst/>
          </a:prstGeom>
          <a:noFill/>
          <a:ln/>
        </p:spPr>
        <p:txBody>
          <a:bodyPr wrap="square" lIns="0" tIns="0" rIns="0" bIns="0" rtlCol="0" anchor="ctr"/>
          <a:lstStyle/>
          <a:p>
            <a:pPr indent="0" marL="0">
              <a:buNone/>
            </a:pPr>
            <a:r>
              <a:rPr lang="en-US" sz="1150" b="1" dirty="0">
                <a:solidFill>
                  <a:srgbClr val="4F46E5"/>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Schemat zamienia „mam nadzieję, że będzie JSON" w gwarancję poprawnej struktury.</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DEKOMPOZYCJA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Prompt chaining — łańcuch promptów</a:t>
            </a:r>
            <a:endParaRPr lang="en-US" sz="3000" dirty="0"/>
          </a:p>
        </p:txBody>
      </p:sp>
      <p:sp>
        <p:nvSpPr>
          <p:cNvPr id="4" name="Shape 2"/>
          <p:cNvSpPr/>
          <p:nvPr/>
        </p:nvSpPr>
        <p:spPr>
          <a:xfrm>
            <a:off x="566928"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1179576" y="2167128"/>
            <a:ext cx="566928" cy="566928"/>
          </a:xfrm>
          <a:prstGeom prst="roundRect">
            <a:avLst>
              <a:gd name="adj" fmla="val 22581"/>
            </a:avLst>
          </a:prstGeom>
          <a:solidFill>
            <a:srgbClr val="4F46E5"/>
          </a:solidFill>
          <a:ln/>
        </p:spPr>
      </p:sp>
      <p:pic>
        <p:nvPicPr>
          <p:cNvPr id="6" name="Image 0" descr="preencoded.png">    </p:cNvPr>
          <p:cNvPicPr>
            <a:picLocks noChangeAspect="1"/>
          </p:cNvPicPr>
          <p:nvPr/>
        </p:nvPicPr>
        <p:blipFill>
          <a:blip r:embed="rId1"/>
          <a:stretch>
            <a:fillRect/>
          </a:stretch>
        </p:blipFill>
        <p:spPr>
          <a:xfrm>
            <a:off x="1304300" y="2291852"/>
            <a:ext cx="317480" cy="317480"/>
          </a:xfrm>
          <a:prstGeom prst="rect">
            <a:avLst/>
          </a:prstGeom>
        </p:spPr>
      </p:pic>
      <p:sp>
        <p:nvSpPr>
          <p:cNvPr id="7" name="Text 4"/>
          <p:cNvSpPr/>
          <p:nvPr/>
        </p:nvSpPr>
        <p:spPr>
          <a:xfrm>
            <a:off x="658368"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1. Ekstrakcja</a:t>
            </a:r>
            <a:endParaRPr lang="en-US" sz="1250" dirty="0"/>
          </a:p>
        </p:txBody>
      </p:sp>
      <p:sp>
        <p:nvSpPr>
          <p:cNvPr id="8" name="Text 5"/>
          <p:cNvSpPr/>
          <p:nvPr/>
        </p:nvSpPr>
        <p:spPr>
          <a:xfrm>
            <a:off x="676656"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Wyciągnij fakty z tekstu</a:t>
            </a:r>
            <a:endParaRPr lang="en-US" sz="950" dirty="0"/>
          </a:p>
        </p:txBody>
      </p:sp>
      <p:sp>
        <p:nvSpPr>
          <p:cNvPr id="9" name="Text 6"/>
          <p:cNvSpPr/>
          <p:nvPr/>
        </p:nvSpPr>
        <p:spPr>
          <a:xfrm>
            <a:off x="2340864"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0" name="Shape 7"/>
          <p:cNvSpPr/>
          <p:nvPr/>
        </p:nvSpPr>
        <p:spPr>
          <a:xfrm>
            <a:off x="2651760"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1" name="Shape 8"/>
          <p:cNvSpPr/>
          <p:nvPr/>
        </p:nvSpPr>
        <p:spPr>
          <a:xfrm>
            <a:off x="3264408" y="2167128"/>
            <a:ext cx="566928" cy="566928"/>
          </a:xfrm>
          <a:prstGeom prst="roundRect">
            <a:avLst>
              <a:gd name="adj" fmla="val 22581"/>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3389132" y="2291852"/>
            <a:ext cx="317480" cy="317480"/>
          </a:xfrm>
          <a:prstGeom prst="rect">
            <a:avLst/>
          </a:prstGeom>
        </p:spPr>
      </p:pic>
      <p:sp>
        <p:nvSpPr>
          <p:cNvPr id="13" name="Text 9"/>
          <p:cNvSpPr/>
          <p:nvPr/>
        </p:nvSpPr>
        <p:spPr>
          <a:xfrm>
            <a:off x="2743200"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2. Transformacja</a:t>
            </a:r>
            <a:endParaRPr lang="en-US" sz="1250" dirty="0"/>
          </a:p>
        </p:txBody>
      </p:sp>
      <p:sp>
        <p:nvSpPr>
          <p:cNvPr id="14" name="Text 10"/>
          <p:cNvSpPr/>
          <p:nvPr/>
        </p:nvSpPr>
        <p:spPr>
          <a:xfrm>
            <a:off x="2761488"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Przekształć / uzupełnij</a:t>
            </a:r>
            <a:endParaRPr lang="en-US" sz="950" dirty="0"/>
          </a:p>
        </p:txBody>
      </p:sp>
      <p:sp>
        <p:nvSpPr>
          <p:cNvPr id="15" name="Text 11"/>
          <p:cNvSpPr/>
          <p:nvPr/>
        </p:nvSpPr>
        <p:spPr>
          <a:xfrm>
            <a:off x="4425696"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6" name="Shape 12"/>
          <p:cNvSpPr/>
          <p:nvPr/>
        </p:nvSpPr>
        <p:spPr>
          <a:xfrm>
            <a:off x="4736592"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7" name="Shape 13"/>
          <p:cNvSpPr/>
          <p:nvPr/>
        </p:nvSpPr>
        <p:spPr>
          <a:xfrm>
            <a:off x="5349240" y="2167128"/>
            <a:ext cx="566928" cy="566928"/>
          </a:xfrm>
          <a:prstGeom prst="roundRect">
            <a:avLst>
              <a:gd name="adj" fmla="val 22581"/>
            </a:avLst>
          </a:prstGeom>
          <a:solidFill>
            <a:srgbClr val="F59E0B"/>
          </a:solidFill>
          <a:ln/>
        </p:spPr>
      </p:sp>
      <p:pic>
        <p:nvPicPr>
          <p:cNvPr id="18" name="Image 2" descr="preencoded.png">    </p:cNvPr>
          <p:cNvPicPr>
            <a:picLocks noChangeAspect="1"/>
          </p:cNvPicPr>
          <p:nvPr/>
        </p:nvPicPr>
        <p:blipFill>
          <a:blip r:embed="rId3"/>
          <a:stretch>
            <a:fillRect/>
          </a:stretch>
        </p:blipFill>
        <p:spPr>
          <a:xfrm>
            <a:off x="5473964" y="2291852"/>
            <a:ext cx="317480" cy="317480"/>
          </a:xfrm>
          <a:prstGeom prst="rect">
            <a:avLst/>
          </a:prstGeom>
        </p:spPr>
      </p:pic>
      <p:sp>
        <p:nvSpPr>
          <p:cNvPr id="19" name="Text 14"/>
          <p:cNvSpPr/>
          <p:nvPr/>
        </p:nvSpPr>
        <p:spPr>
          <a:xfrm>
            <a:off x="4828032"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3. Weryfikacja</a:t>
            </a:r>
            <a:endParaRPr lang="en-US" sz="1250" dirty="0"/>
          </a:p>
        </p:txBody>
      </p:sp>
      <p:sp>
        <p:nvSpPr>
          <p:cNvPr id="20" name="Text 15"/>
          <p:cNvSpPr/>
          <p:nvPr/>
        </p:nvSpPr>
        <p:spPr>
          <a:xfrm>
            <a:off x="4846320"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Sprawdź spójność</a:t>
            </a:r>
            <a:endParaRPr lang="en-US" sz="950" dirty="0"/>
          </a:p>
        </p:txBody>
      </p:sp>
      <p:sp>
        <p:nvSpPr>
          <p:cNvPr id="21" name="Text 16"/>
          <p:cNvSpPr/>
          <p:nvPr/>
        </p:nvSpPr>
        <p:spPr>
          <a:xfrm>
            <a:off x="6510528"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22" name="Shape 17"/>
          <p:cNvSpPr/>
          <p:nvPr/>
        </p:nvSpPr>
        <p:spPr>
          <a:xfrm>
            <a:off x="6821424"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23" name="Shape 18"/>
          <p:cNvSpPr/>
          <p:nvPr/>
        </p:nvSpPr>
        <p:spPr>
          <a:xfrm>
            <a:off x="7434072" y="2167128"/>
            <a:ext cx="566928" cy="566928"/>
          </a:xfrm>
          <a:prstGeom prst="roundRect">
            <a:avLst>
              <a:gd name="adj" fmla="val 22581"/>
            </a:avLst>
          </a:prstGeom>
          <a:solidFill>
            <a:srgbClr val="E11D6B"/>
          </a:solidFill>
          <a:ln/>
        </p:spPr>
      </p:sp>
      <p:pic>
        <p:nvPicPr>
          <p:cNvPr id="24" name="Image 3" descr="preencoded.png">    </p:cNvPr>
          <p:cNvPicPr>
            <a:picLocks noChangeAspect="1"/>
          </p:cNvPicPr>
          <p:nvPr/>
        </p:nvPicPr>
        <p:blipFill>
          <a:blip r:embed="rId4"/>
          <a:stretch>
            <a:fillRect/>
          </a:stretch>
        </p:blipFill>
        <p:spPr>
          <a:xfrm>
            <a:off x="7558796" y="2291852"/>
            <a:ext cx="317480" cy="317480"/>
          </a:xfrm>
          <a:prstGeom prst="rect">
            <a:avLst/>
          </a:prstGeom>
        </p:spPr>
      </p:pic>
      <p:sp>
        <p:nvSpPr>
          <p:cNvPr id="25" name="Text 19"/>
          <p:cNvSpPr/>
          <p:nvPr/>
        </p:nvSpPr>
        <p:spPr>
          <a:xfrm>
            <a:off x="6912864"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4. Złożenie</a:t>
            </a:r>
            <a:endParaRPr lang="en-US" sz="1250" dirty="0"/>
          </a:p>
        </p:txBody>
      </p:sp>
      <p:sp>
        <p:nvSpPr>
          <p:cNvPr id="26" name="Text 20"/>
          <p:cNvSpPr/>
          <p:nvPr/>
        </p:nvSpPr>
        <p:spPr>
          <a:xfrm>
            <a:off x="6931152"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Wygeneruj wynik</a:t>
            </a:r>
            <a:endParaRPr lang="en-US" sz="950" dirty="0"/>
          </a:p>
        </p:txBody>
      </p:sp>
      <p:sp>
        <p:nvSpPr>
          <p:cNvPr id="27" name="Text 21"/>
          <p:cNvSpPr/>
          <p:nvPr/>
        </p:nvSpPr>
        <p:spPr>
          <a:xfrm>
            <a:off x="566928" y="4160520"/>
            <a:ext cx="8046720"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Trudne zadanie → kilka prostych kroków. Każdy prompt robi jedną rzecz dobrze.</a:t>
            </a:r>
            <a:endParaRPr lang="en-US" sz="1250" dirty="0"/>
          </a:p>
        </p:txBody>
      </p:sp>
      <p:sp>
        <p:nvSpPr>
          <p:cNvPr id="28" name="Text 2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DOBÓR PRZYKŁADÓW</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Few-shot, który naprawdę działa</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Jakość przykładów &gt; ich liczba.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Pokaż przypadki brzegowe, nie tylko „łatwe" — to one psują produkcję.</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Zachowaj dokładnie ten format wyjścia, którego oczekujesz.</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Różnicuj przykłady — unikaj sugerowania jednej „poprawnej" klasy.</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Przy klasyfikacji: zbalansuj klasy w przykładach.</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Dynamiczny few-shot: dobieraj przykłady podobne do bieżącego zapytania (retrieval).</a:t>
            </a:r>
            <a:endParaRPr lang="en-US" sz="1450" dirty="0"/>
          </a:p>
        </p:txBody>
      </p:sp>
      <p:sp>
        <p:nvSpPr>
          <p:cNvPr id="5" name="Shape 3"/>
          <p:cNvSpPr/>
          <p:nvPr/>
        </p:nvSpPr>
        <p:spPr>
          <a:xfrm>
            <a:off x="5989320" y="1627632"/>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Jakość</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&gt; ilość</a:t>
            </a:r>
            <a:endParaRPr lang="en-US" sz="1250" dirty="0"/>
          </a:p>
        </p:txBody>
      </p:sp>
      <p:sp>
        <p:nvSpPr>
          <p:cNvPr id="9" name="Shape 6"/>
          <p:cNvSpPr/>
          <p:nvPr/>
        </p:nvSpPr>
        <p:spPr>
          <a:xfrm>
            <a:off x="5989320" y="2752344"/>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Balans</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Klasy równo</a:t>
            </a:r>
            <a:endParaRPr lang="en-US" sz="1250" dirty="0"/>
          </a:p>
        </p:txBody>
      </p:sp>
      <p:sp>
        <p:nvSpPr>
          <p:cNvPr id="13" name="Shape 9"/>
          <p:cNvSpPr/>
          <p:nvPr/>
        </p:nvSpPr>
        <p:spPr>
          <a:xfrm>
            <a:off x="5989320" y="3877056"/>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Dynamicznie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Dobór przez RAG</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ZASTOSOWANIA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Praktyka 1 — ekstrakcja i klasyfikacja</a:t>
            </a:r>
            <a:endParaRPr lang="en-US" sz="3000" dirty="0"/>
          </a:p>
        </p:txBody>
      </p:sp>
      <p:sp>
        <p:nvSpPr>
          <p:cNvPr id="4" name="Shape 2"/>
          <p:cNvSpPr/>
          <p:nvPr/>
        </p:nvSpPr>
        <p:spPr>
          <a:xfrm>
            <a:off x="566928" y="1824228"/>
            <a:ext cx="603504" cy="603504"/>
          </a:xfrm>
          <a:prstGeom prst="roundRect">
            <a:avLst>
              <a:gd name="adj" fmla="val 18182"/>
            </a:avLst>
          </a:prstGeom>
          <a:solidFill>
            <a:srgbClr val="EEF2FF"/>
          </a:solidFill>
          <a:ln/>
        </p:spPr>
      </p:sp>
      <p:pic>
        <p:nvPicPr>
          <p:cNvPr id="5" name="Image 0" descr="preencoded.png">    </p:cNvPr>
          <p:cNvPicPr>
            <a:picLocks noChangeAspect="1"/>
          </p:cNvPicPr>
          <p:nvPr/>
        </p:nvPicPr>
        <p:blipFill>
          <a:blip r:embed="rId1"/>
          <a:stretch>
            <a:fillRect/>
          </a:stretch>
        </p:blipFill>
        <p:spPr>
          <a:xfrm>
            <a:off x="699699" y="1956999"/>
            <a:ext cx="337962" cy="337962"/>
          </a:xfrm>
          <a:prstGeom prst="rect">
            <a:avLst/>
          </a:prstGeom>
        </p:spPr>
      </p:pic>
      <p:sp>
        <p:nvSpPr>
          <p:cNvPr id="6" name="Text 3"/>
          <p:cNvSpPr/>
          <p:nvPr/>
        </p:nvSpPr>
        <p:spPr>
          <a:xfrm>
            <a:off x="1371600" y="164592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Klasyfikacja</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Kategoryzacja zgłoszeń, intencji, sentymentu — z ustalonym zbiorem etykiet.</a:t>
            </a:r>
            <a:endParaRPr lang="en-US" sz="1550" dirty="0"/>
          </a:p>
        </p:txBody>
      </p:sp>
      <p:sp>
        <p:nvSpPr>
          <p:cNvPr id="7" name="Shape 4"/>
          <p:cNvSpPr/>
          <p:nvPr/>
        </p:nvSpPr>
        <p:spPr>
          <a:xfrm>
            <a:off x="566928" y="2784348"/>
            <a:ext cx="603504" cy="603504"/>
          </a:xfrm>
          <a:prstGeom prst="roundRect">
            <a:avLst>
              <a:gd name="adj" fmla="val 18182"/>
            </a:avLst>
          </a:prstGeom>
          <a:solidFill>
            <a:srgbClr val="E6FBF7"/>
          </a:solidFill>
          <a:ln/>
        </p:spPr>
      </p:sp>
      <p:pic>
        <p:nvPicPr>
          <p:cNvPr id="8" name="Image 1" descr="preencoded.png">    </p:cNvPr>
          <p:cNvPicPr>
            <a:picLocks noChangeAspect="1"/>
          </p:cNvPicPr>
          <p:nvPr/>
        </p:nvPicPr>
        <p:blipFill>
          <a:blip r:embed="rId2"/>
          <a:stretch>
            <a:fillRect/>
          </a:stretch>
        </p:blipFill>
        <p:spPr>
          <a:xfrm>
            <a:off x="699699" y="2917119"/>
            <a:ext cx="337962" cy="337962"/>
          </a:xfrm>
          <a:prstGeom prst="rect">
            <a:avLst/>
          </a:prstGeom>
        </p:spPr>
      </p:pic>
      <p:sp>
        <p:nvSpPr>
          <p:cNvPr id="9" name="Text 5"/>
          <p:cNvSpPr/>
          <p:nvPr/>
        </p:nvSpPr>
        <p:spPr>
          <a:xfrm>
            <a:off x="1371600" y="260604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Ekstrakcja danych</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Faktury, umowy, e-maile → ustrukturyzowany JSON ze schematem.</a:t>
            </a:r>
            <a:endParaRPr lang="en-US" sz="1550" dirty="0"/>
          </a:p>
        </p:txBody>
      </p:sp>
      <p:sp>
        <p:nvSpPr>
          <p:cNvPr id="10" name="Shape 6"/>
          <p:cNvSpPr/>
          <p:nvPr/>
        </p:nvSpPr>
        <p:spPr>
          <a:xfrm>
            <a:off x="566928" y="3744468"/>
            <a:ext cx="603504" cy="603504"/>
          </a:xfrm>
          <a:prstGeom prst="roundRect">
            <a:avLst>
              <a:gd name="adj" fmla="val 18182"/>
            </a:avLst>
          </a:prstGeom>
          <a:solidFill>
            <a:srgbClr val="FEF3E2"/>
          </a:solidFill>
          <a:ln/>
        </p:spPr>
      </p:sp>
      <p:pic>
        <p:nvPicPr>
          <p:cNvPr id="11" name="Image 2" descr="preencoded.png">    </p:cNvPr>
          <p:cNvPicPr>
            <a:picLocks noChangeAspect="1"/>
          </p:cNvPicPr>
          <p:nvPr/>
        </p:nvPicPr>
        <p:blipFill>
          <a:blip r:embed="rId3"/>
          <a:stretch>
            <a:fillRect/>
          </a:stretch>
        </p:blipFill>
        <p:spPr>
          <a:xfrm>
            <a:off x="699699" y="3877239"/>
            <a:ext cx="337962" cy="337962"/>
          </a:xfrm>
          <a:prstGeom prst="rect">
            <a:avLst/>
          </a:prstGeom>
        </p:spPr>
      </p:pic>
      <p:sp>
        <p:nvSpPr>
          <p:cNvPr id="12" name="Text 7"/>
          <p:cNvSpPr/>
          <p:nvPr/>
        </p:nvSpPr>
        <p:spPr>
          <a:xfrm>
            <a:off x="1371600" y="356616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Walidacja</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Pydantic odrzuca niepoprawne wyjścia, retry z poprawką.</a:t>
            </a:r>
            <a:endParaRPr lang="en-US" sz="1550" dirty="0"/>
          </a:p>
        </p:txBody>
      </p:sp>
      <p:sp>
        <p:nvSpPr>
          <p:cNvPr id="13"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ZASTOSOWANIA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Praktyka 2 — kod i dokumenty</a:t>
            </a:r>
            <a:endParaRPr lang="en-US" sz="3000" dirty="0"/>
          </a:p>
        </p:txBody>
      </p:sp>
      <p:sp>
        <p:nvSpPr>
          <p:cNvPr id="4" name="Shape 2"/>
          <p:cNvSpPr/>
          <p:nvPr/>
        </p:nvSpPr>
        <p:spPr>
          <a:xfrm>
            <a:off x="566928" y="1824228"/>
            <a:ext cx="603504" cy="603504"/>
          </a:xfrm>
          <a:prstGeom prst="roundRect">
            <a:avLst>
              <a:gd name="adj" fmla="val 18182"/>
            </a:avLst>
          </a:prstGeom>
          <a:solidFill>
            <a:srgbClr val="E6FBF7"/>
          </a:solidFill>
          <a:ln/>
        </p:spPr>
      </p:sp>
      <p:pic>
        <p:nvPicPr>
          <p:cNvPr id="5" name="Image 0" descr="preencoded.png">    </p:cNvPr>
          <p:cNvPicPr>
            <a:picLocks noChangeAspect="1"/>
          </p:cNvPicPr>
          <p:nvPr/>
        </p:nvPicPr>
        <p:blipFill>
          <a:blip r:embed="rId1"/>
          <a:stretch>
            <a:fillRect/>
          </a:stretch>
        </p:blipFill>
        <p:spPr>
          <a:xfrm>
            <a:off x="699699" y="1956999"/>
            <a:ext cx="337962" cy="337962"/>
          </a:xfrm>
          <a:prstGeom prst="rect">
            <a:avLst/>
          </a:prstGeom>
        </p:spPr>
      </p:pic>
      <p:sp>
        <p:nvSpPr>
          <p:cNvPr id="6" name="Text 3"/>
          <p:cNvSpPr/>
          <p:nvPr/>
        </p:nvSpPr>
        <p:spPr>
          <a:xfrm>
            <a:off x="1371600" y="164592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Generowanie kodu</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Szkielety, testy, refaktoryzacja — z jasnym kontekstem i ograniczeniami.</a:t>
            </a:r>
            <a:endParaRPr lang="en-US" sz="1550" dirty="0"/>
          </a:p>
        </p:txBody>
      </p:sp>
      <p:sp>
        <p:nvSpPr>
          <p:cNvPr id="7" name="Shape 4"/>
          <p:cNvSpPr/>
          <p:nvPr/>
        </p:nvSpPr>
        <p:spPr>
          <a:xfrm>
            <a:off x="566928" y="2784348"/>
            <a:ext cx="603504" cy="603504"/>
          </a:xfrm>
          <a:prstGeom prst="roundRect">
            <a:avLst>
              <a:gd name="adj" fmla="val 18182"/>
            </a:avLst>
          </a:prstGeom>
          <a:solidFill>
            <a:srgbClr val="EEF2FF"/>
          </a:solidFill>
          <a:ln/>
        </p:spPr>
      </p:sp>
      <p:pic>
        <p:nvPicPr>
          <p:cNvPr id="8" name="Image 1" descr="preencoded.png">    </p:cNvPr>
          <p:cNvPicPr>
            <a:picLocks noChangeAspect="1"/>
          </p:cNvPicPr>
          <p:nvPr/>
        </p:nvPicPr>
        <p:blipFill>
          <a:blip r:embed="rId2"/>
          <a:stretch>
            <a:fillRect/>
          </a:stretch>
        </p:blipFill>
        <p:spPr>
          <a:xfrm>
            <a:off x="699699" y="2917119"/>
            <a:ext cx="337962" cy="337962"/>
          </a:xfrm>
          <a:prstGeom prst="rect">
            <a:avLst/>
          </a:prstGeom>
        </p:spPr>
      </p:pic>
      <p:sp>
        <p:nvSpPr>
          <p:cNvPr id="9" name="Text 5"/>
          <p:cNvSpPr/>
          <p:nvPr/>
        </p:nvSpPr>
        <p:spPr>
          <a:xfrm>
            <a:off x="1371600" y="260604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Code review</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Wykrywanie błędów, podatności, antywzorców — model jako drugi recenzent.</a:t>
            </a:r>
            <a:endParaRPr lang="en-US" sz="1550" dirty="0"/>
          </a:p>
        </p:txBody>
      </p:sp>
      <p:sp>
        <p:nvSpPr>
          <p:cNvPr id="10" name="Shape 6"/>
          <p:cNvSpPr/>
          <p:nvPr/>
        </p:nvSpPr>
        <p:spPr>
          <a:xfrm>
            <a:off x="566928" y="3744468"/>
            <a:ext cx="603504" cy="603504"/>
          </a:xfrm>
          <a:prstGeom prst="roundRect">
            <a:avLst>
              <a:gd name="adj" fmla="val 18182"/>
            </a:avLst>
          </a:prstGeom>
          <a:solidFill>
            <a:srgbClr val="FEF3E2"/>
          </a:solidFill>
          <a:ln/>
        </p:spPr>
      </p:sp>
      <p:pic>
        <p:nvPicPr>
          <p:cNvPr id="11" name="Image 2" descr="preencoded.png">    </p:cNvPr>
          <p:cNvPicPr>
            <a:picLocks noChangeAspect="1"/>
          </p:cNvPicPr>
          <p:nvPr/>
        </p:nvPicPr>
        <p:blipFill>
          <a:blip r:embed="rId3"/>
          <a:stretch>
            <a:fillRect/>
          </a:stretch>
        </p:blipFill>
        <p:spPr>
          <a:xfrm>
            <a:off x="699699" y="3877239"/>
            <a:ext cx="337962" cy="337962"/>
          </a:xfrm>
          <a:prstGeom prst="rect">
            <a:avLst/>
          </a:prstGeom>
        </p:spPr>
      </p:pic>
      <p:sp>
        <p:nvSpPr>
          <p:cNvPr id="12" name="Text 7"/>
          <p:cNvSpPr/>
          <p:nvPr/>
        </p:nvSpPr>
        <p:spPr>
          <a:xfrm>
            <a:off x="1371600" y="356616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Analiza dokumentów</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Streszczenia, ekstrakcja klauzul, Q&amp;A nad treścią (most do RAG).</a:t>
            </a:r>
            <a:endParaRPr lang="en-US" sz="1550" dirty="0"/>
          </a:p>
        </p:txBody>
      </p:sp>
      <p:sp>
        <p:nvSpPr>
          <p:cNvPr id="13"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KONTROLA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Negocjacje z modelem i kontrola outputu</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Output to wynik instrukcji — jeśli coś nie działa, najpierw popraw prompt.</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Iteruj: uruchom, zobacz błąd, dopnij regułę. Prompt engineering jest empiryczny.</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Wymuszaj format twardo: schemat + walidacja + retry przy niezgodności.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Steruj długością i stylem wprost („maksymalnie 3 zdania", „tylko kod").</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Gdy model „nie słucha": przenieś kluczową regułę do system promptu i podaj przykład.</a:t>
            </a:r>
            <a:endParaRPr lang="en-US" sz="1450" dirty="0"/>
          </a:p>
        </p:txBody>
      </p:sp>
      <p:sp>
        <p:nvSpPr>
          <p:cNvPr id="5" name="Shape 3"/>
          <p:cNvSpPr/>
          <p:nvPr/>
        </p:nvSpPr>
        <p:spPr>
          <a:xfrm>
            <a:off x="5989320" y="1627632"/>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Iteruj</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Empirycznie</a:t>
            </a:r>
            <a:endParaRPr lang="en-US" sz="1250" dirty="0"/>
          </a:p>
        </p:txBody>
      </p:sp>
      <p:sp>
        <p:nvSpPr>
          <p:cNvPr id="9" name="Shape 6"/>
          <p:cNvSpPr/>
          <p:nvPr/>
        </p:nvSpPr>
        <p:spPr>
          <a:xfrm>
            <a:off x="5989320" y="2752344"/>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Wymuszaj</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Schemat</a:t>
            </a:r>
            <a:endParaRPr lang="en-US" sz="1250" dirty="0"/>
          </a:p>
        </p:txBody>
      </p:sp>
      <p:sp>
        <p:nvSpPr>
          <p:cNvPr id="13" name="Shape 9"/>
          <p:cNvSpPr/>
          <p:nvPr/>
        </p:nvSpPr>
        <p:spPr>
          <a:xfrm>
            <a:off x="5989320" y="3877056"/>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Steruj</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Długość/styl</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E11D6B"/>
                </a:solidFill>
                <a:latin typeface="Calibri" pitchFamily="34" charset="0"/>
                <a:ea typeface="Calibri" pitchFamily="34" charset="-122"/>
                <a:cs typeface="Calibri" pitchFamily="34" charset="-120"/>
              </a:rPr>
              <a:t>CZEGO UNIKAĆ</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Antywzorce promptów</a:t>
            </a:r>
            <a:endParaRPr lang="en-US" sz="3000" dirty="0"/>
          </a:p>
        </p:txBody>
      </p:sp>
      <p:sp>
        <p:nvSpPr>
          <p:cNvPr id="4" name="Shape 2"/>
          <p:cNvSpPr/>
          <p:nvPr/>
        </p:nvSpPr>
        <p:spPr>
          <a:xfrm>
            <a:off x="56692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566928" y="1645920"/>
            <a:ext cx="3977640" cy="640080"/>
          </a:xfrm>
          <a:prstGeom prst="roundRect">
            <a:avLst>
              <a:gd name="adj" fmla="val 14286"/>
            </a:avLst>
          </a:prstGeom>
          <a:solidFill>
            <a:srgbClr val="E11D6B"/>
          </a:solidFill>
          <a:ln/>
        </p:spPr>
      </p:sp>
      <p:sp>
        <p:nvSpPr>
          <p:cNvPr id="6" name="Shape 4"/>
          <p:cNvSpPr/>
          <p:nvPr/>
        </p:nvSpPr>
        <p:spPr>
          <a:xfrm>
            <a:off x="566928" y="1965960"/>
            <a:ext cx="3977640" cy="320040"/>
          </a:xfrm>
          <a:prstGeom prst="rect">
            <a:avLst/>
          </a:prstGeom>
          <a:solidFill>
            <a:srgbClr val="E11D6B"/>
          </a:solidFill>
          <a:ln/>
        </p:spPr>
      </p:sp>
      <p:sp>
        <p:nvSpPr>
          <p:cNvPr id="7" name="Text 5"/>
          <p:cNvSpPr/>
          <p:nvPr/>
        </p:nvSpPr>
        <p:spPr>
          <a:xfrm>
            <a:off x="74980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Robisz źle</a:t>
            </a:r>
            <a:endParaRPr lang="en-US" sz="1600" dirty="0"/>
          </a:p>
        </p:txBody>
      </p:sp>
      <p:sp>
        <p:nvSpPr>
          <p:cNvPr id="8" name="Text 6"/>
          <p:cNvSpPr/>
          <p:nvPr/>
        </p:nvSpPr>
        <p:spPr>
          <a:xfrm>
            <a:off x="76809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Wiele zadań w jednym mglistym promptcie</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Brak określonego formatu wyjścia</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Sprzeczne instrukcje („krótko, ale wyczerpująco")</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Dane i instrukcje zlane w jeden blok</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Założenie, że model „domyśli się" kontekstu</a:t>
            </a:r>
            <a:endParaRPr lang="en-US" sz="1250" dirty="0"/>
          </a:p>
        </p:txBody>
      </p:sp>
      <p:sp>
        <p:nvSpPr>
          <p:cNvPr id="9" name="Shape 7"/>
          <p:cNvSpPr/>
          <p:nvPr/>
        </p:nvSpPr>
        <p:spPr>
          <a:xfrm>
            <a:off x="481888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10" name="Shape 8"/>
          <p:cNvSpPr/>
          <p:nvPr/>
        </p:nvSpPr>
        <p:spPr>
          <a:xfrm>
            <a:off x="4818888" y="1645920"/>
            <a:ext cx="3977640" cy="640080"/>
          </a:xfrm>
          <a:prstGeom prst="roundRect">
            <a:avLst>
              <a:gd name="adj" fmla="val 14286"/>
            </a:avLst>
          </a:prstGeom>
          <a:solidFill>
            <a:srgbClr val="16A34A"/>
          </a:solidFill>
          <a:ln/>
        </p:spPr>
      </p:sp>
      <p:sp>
        <p:nvSpPr>
          <p:cNvPr id="11" name="Shape 9"/>
          <p:cNvSpPr/>
          <p:nvPr/>
        </p:nvSpPr>
        <p:spPr>
          <a:xfrm>
            <a:off x="4818888" y="1965960"/>
            <a:ext cx="3977640" cy="320040"/>
          </a:xfrm>
          <a:prstGeom prst="rect">
            <a:avLst/>
          </a:prstGeom>
          <a:solidFill>
            <a:srgbClr val="16A34A"/>
          </a:solidFill>
          <a:ln/>
        </p:spPr>
      </p:sp>
      <p:sp>
        <p:nvSpPr>
          <p:cNvPr id="12" name="Text 10"/>
          <p:cNvSpPr/>
          <p:nvPr/>
        </p:nvSpPr>
        <p:spPr>
          <a:xfrm>
            <a:off x="500176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Rób tak</a:t>
            </a:r>
            <a:endParaRPr lang="en-US" sz="1600" dirty="0"/>
          </a:p>
        </p:txBody>
      </p:sp>
      <p:sp>
        <p:nvSpPr>
          <p:cNvPr id="13" name="Text 11"/>
          <p:cNvSpPr/>
          <p:nvPr/>
        </p:nvSpPr>
        <p:spPr>
          <a:xfrm>
            <a:off x="502005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Jeden prompt = jedno jasne zadanie</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Dokładny schemat / przykład wyjścia</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Spójne, niesprzeczne reguły</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Wyraźne oddzielenie danych od instrukcji</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Podaj kontekst wprost — model nie czyta w myślach</a:t>
            </a:r>
            <a:endParaRPr lang="en-US" sz="1250" dirty="0"/>
          </a:p>
        </p:txBody>
      </p:sp>
      <p:sp>
        <p:nvSpPr>
          <p:cNvPr id="14"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840000">
            <a:off x="7680960" y="-1097280"/>
            <a:ext cx="4023360" cy="4023360"/>
          </a:xfrm>
          <a:prstGeom prst="roundRect">
            <a:avLst>
              <a:gd name="adj" fmla="val 11364"/>
            </a:avLst>
          </a:prstGeom>
          <a:solidFill>
            <a:srgbClr val="F59E0B">
              <a:alpha val="10000"/>
            </a:srgbClr>
          </a:solidFill>
          <a:ln/>
        </p:spPr>
      </p:sp>
      <p:sp>
        <p:nvSpPr>
          <p:cNvPr id="3" name="Shape 1"/>
          <p:cNvSpPr/>
          <p:nvPr/>
        </p:nvSpPr>
        <p:spPr>
          <a:xfrm>
            <a:off x="548640" y="566928"/>
            <a:ext cx="822960" cy="822960"/>
          </a:xfrm>
          <a:prstGeom prst="roundRect">
            <a:avLst>
              <a:gd name="adj" fmla="val 20000"/>
            </a:avLst>
          </a:prstGeom>
          <a:solidFill>
            <a:srgbClr val="F59E0B"/>
          </a:solidFill>
          <a:ln/>
        </p:spPr>
      </p:sp>
      <p:pic>
        <p:nvPicPr>
          <p:cNvPr id="4" name="Image 0" descr="preencoded.png">    </p:cNvPr>
          <p:cNvPicPr>
            <a:picLocks noChangeAspect="1"/>
          </p:cNvPicPr>
          <p:nvPr/>
        </p:nvPicPr>
        <p:blipFill>
          <a:blip r:embed="rId1"/>
          <a:stretch>
            <a:fillRect/>
          </a:stretch>
        </p:blipFill>
        <p:spPr>
          <a:xfrm>
            <a:off x="729691" y="747979"/>
            <a:ext cx="460858" cy="460858"/>
          </a:xfrm>
          <a:prstGeom prst="rect">
            <a:avLst/>
          </a:prstGeom>
        </p:spPr>
      </p:pic>
      <p:sp>
        <p:nvSpPr>
          <p:cNvPr id="5" name="Text 2"/>
          <p:cNvSpPr/>
          <p:nvPr/>
        </p:nvSpPr>
        <p:spPr>
          <a:xfrm>
            <a:off x="1554480" y="548640"/>
            <a:ext cx="5486400" cy="411480"/>
          </a:xfrm>
          <a:prstGeom prst="rect">
            <a:avLst/>
          </a:prstGeom>
          <a:noFill/>
          <a:ln/>
        </p:spPr>
        <p:txBody>
          <a:bodyPr wrap="square" lIns="0" tIns="0" rIns="0" bIns="0" rtlCol="0" anchor="ctr"/>
          <a:lstStyle/>
          <a:p>
            <a:pPr indent="0" marL="0">
              <a:buNone/>
            </a:pPr>
            <a:r>
              <a:rPr lang="en-US" sz="1400" b="1" spc="200" kern="0" dirty="0">
                <a:solidFill>
                  <a:srgbClr val="F59E0B"/>
                </a:solidFill>
                <a:latin typeface="Calibri" pitchFamily="34" charset="0"/>
                <a:ea typeface="Calibri" pitchFamily="34" charset="-122"/>
                <a:cs typeface="Calibri" pitchFamily="34" charset="-120"/>
              </a:rPr>
              <a:t>LAB 1</a:t>
            </a:r>
            <a:endParaRPr lang="en-US" sz="1400" dirty="0"/>
          </a:p>
        </p:txBody>
      </p:sp>
      <p:sp>
        <p:nvSpPr>
          <p:cNvPr id="6" name="Text 3"/>
          <p:cNvSpPr/>
          <p:nvPr/>
        </p:nvSpPr>
        <p:spPr>
          <a:xfrm>
            <a:off x="1554480" y="932688"/>
            <a:ext cx="694944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Prompt engineering w praktyce</a:t>
            </a:r>
            <a:endParaRPr lang="en-US" sz="2400" dirty="0"/>
          </a:p>
        </p:txBody>
      </p:sp>
      <p:sp>
        <p:nvSpPr>
          <p:cNvPr id="7" name="Shape 4"/>
          <p:cNvSpPr/>
          <p:nvPr/>
        </p:nvSpPr>
        <p:spPr>
          <a:xfrm>
            <a:off x="548640" y="1783080"/>
            <a:ext cx="8046720" cy="713232"/>
          </a:xfrm>
          <a:prstGeom prst="roundRect">
            <a:avLst>
              <a:gd name="adj" fmla="val 10256"/>
            </a:avLst>
          </a:prstGeom>
          <a:solidFill>
            <a:srgbClr val="1F1D45"/>
          </a:solidFill>
          <a:ln/>
        </p:spPr>
      </p:sp>
      <p:sp>
        <p:nvSpPr>
          <p:cNvPr id="8" name="Text 5"/>
          <p:cNvSpPr/>
          <p:nvPr/>
        </p:nvSpPr>
        <p:spPr>
          <a:xfrm>
            <a:off x="731520" y="1783080"/>
            <a:ext cx="7680960" cy="713232"/>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Cel:  </a:t>
            </a:r>
            <a:pPr indent="0" marL="0">
              <a:buNone/>
            </a:pPr>
            <a:r>
              <a:rPr lang="en-US" sz="1300" dirty="0">
                <a:solidFill>
                  <a:srgbClr val="FFFFFF"/>
                </a:solidFill>
                <a:latin typeface="Calibri" pitchFamily="34" charset="0"/>
                <a:ea typeface="Calibri" pitchFamily="34" charset="-122"/>
                <a:cs typeface="Calibri" pitchFamily="34" charset="-120"/>
              </a:rPr>
              <a:t>Zbudować niezawodny ekstraktor danych z e-maili reklamacyjnych do JSON ze schematem.</a:t>
            </a:r>
            <a:endParaRPr lang="en-US" sz="1300" dirty="0"/>
          </a:p>
        </p:txBody>
      </p:sp>
      <p:sp>
        <p:nvSpPr>
          <p:cNvPr id="9" name="Text 6"/>
          <p:cNvSpPr/>
          <p:nvPr/>
        </p:nvSpPr>
        <p:spPr>
          <a:xfrm>
            <a:off x="566928" y="2670048"/>
            <a:ext cx="7315200" cy="320040"/>
          </a:xfrm>
          <a:prstGeom prst="rect">
            <a:avLst/>
          </a:prstGeom>
          <a:noFill/>
          <a:ln/>
        </p:spPr>
        <p:txBody>
          <a:bodyPr wrap="square" lIns="0" tIns="0" rIns="0" bIns="0"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Zadania:</a:t>
            </a:r>
            <a:endParaRPr lang="en-US" sz="1300" dirty="0"/>
          </a:p>
        </p:txBody>
      </p:sp>
      <p:sp>
        <p:nvSpPr>
          <p:cNvPr id="10" name="Text 7"/>
          <p:cNvSpPr/>
          <p:nvPr/>
        </p:nvSpPr>
        <p:spPr>
          <a:xfrm>
            <a:off x="603504" y="2999232"/>
            <a:ext cx="7955280" cy="1371600"/>
          </a:xfrm>
          <a:prstGeom prst="rect">
            <a:avLst/>
          </a:prstGeom>
          <a:noFill/>
          <a:ln/>
        </p:spPr>
        <p:txBody>
          <a:bodyPr wrap="square" lIns="0" tIns="0" rIns="0" bIns="0" rtlCol="0" anchor="t"/>
          <a:lstStyle/>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Napisz system prompt definiujący rolę i format wyjścia (Pydantic).</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Dodaj 2–3 przykłady few-shot obejmujące przypadki brzegowe.</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Zastosuj structured outputs i walidację; obsłuż retry przy błędzie.</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Porównaj wynik dla temperatury 0 i 0.7 na 5 przykładach.</a:t>
            </a:r>
            <a:endParaRPr lang="en-US" sz="1250" dirty="0"/>
          </a:p>
        </p:txBody>
      </p:sp>
      <p:sp>
        <p:nvSpPr>
          <p:cNvPr id="11" name="Text 8"/>
          <p:cNvSpPr/>
          <p:nvPr/>
        </p:nvSpPr>
        <p:spPr>
          <a:xfrm>
            <a:off x="566928" y="4526280"/>
            <a:ext cx="8046720" cy="457200"/>
          </a:xfrm>
          <a:prstGeom prst="rect">
            <a:avLst/>
          </a:prstGeom>
          <a:noFill/>
          <a:ln/>
        </p:spPr>
        <p:txBody>
          <a:bodyPr wrap="square" lIns="0" tIns="0" rIns="0" bIns="0" rtlCol="0" anchor="ctr"/>
          <a:lstStyle/>
          <a:p>
            <a:pPr indent="0" marL="0">
              <a:buNone/>
            </a:pPr>
            <a:r>
              <a:rPr lang="en-US" sz="1150" dirty="0">
                <a:solidFill>
                  <a:srgbClr val="14B8A6"/>
                </a:solidFill>
                <a:latin typeface="Courier New" pitchFamily="34" charset="0"/>
                <a:ea typeface="Courier New" pitchFamily="34" charset="-122"/>
                <a:cs typeface="Courier New" pitchFamily="34" charset="-120"/>
              </a:rPr>
              <a:t>📁 labs/01-prompt-engineering/</a:t>
            </a:r>
            <a:endParaRPr lang="en-US" sz="1150" dirty="0"/>
          </a:p>
          <a:p>
            <a:pPr indent="0" marL="0">
              <a:buNone/>
            </a:pPr>
            <a:r>
              <a:rPr lang="en-US" sz="1150" dirty="0">
                <a:solidFill>
                  <a:srgbClr val="F59E0B"/>
                </a:solidFill>
                <a:latin typeface="Courier New" pitchFamily="34" charset="0"/>
                <a:ea typeface="Courier New" pitchFamily="34" charset="-122"/>
                <a:cs typeface="Courier New" pitchFamily="34" charset="-120"/>
              </a:rPr>
              <a:t>⏱ ok. 30–40 min</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960000">
            <a:off x="7498080" y="-1188720"/>
            <a:ext cx="4206240" cy="4206240"/>
          </a:xfrm>
          <a:prstGeom prst="roundRect">
            <a:avLst>
              <a:gd name="adj" fmla="val 10870"/>
            </a:avLst>
          </a:prstGeom>
          <a:solidFill>
            <a:srgbClr val="14B8A6">
              <a:alpha val="12000"/>
            </a:srgbClr>
          </a:solidFill>
          <a:ln/>
        </p:spPr>
      </p:sp>
      <p:sp>
        <p:nvSpPr>
          <p:cNvPr id="3" name="Shape 1"/>
          <p:cNvSpPr/>
          <p:nvPr/>
        </p:nvSpPr>
        <p:spPr>
          <a:xfrm>
            <a:off x="548640" y="1371600"/>
            <a:ext cx="914400" cy="914400"/>
          </a:xfrm>
          <a:prstGeom prst="roundRect">
            <a:avLst>
              <a:gd name="adj" fmla="val 20000"/>
            </a:avLst>
          </a:prstGeom>
          <a:solidFill>
            <a:srgbClr val="14B8A6"/>
          </a:solidFill>
          <a:ln/>
        </p:spPr>
      </p:sp>
      <p:pic>
        <p:nvPicPr>
          <p:cNvPr id="4" name="Image 0" descr="preencoded.png">    </p:cNvPr>
          <p:cNvPicPr>
            <a:picLocks noChangeAspect="1"/>
          </p:cNvPicPr>
          <p:nvPr/>
        </p:nvPicPr>
        <p:blipFill>
          <a:blip r:embed="rId1"/>
          <a:stretch>
            <a:fillRect/>
          </a:stretch>
        </p:blipFill>
        <p:spPr>
          <a:xfrm>
            <a:off x="749808" y="1572768"/>
            <a:ext cx="512064" cy="512064"/>
          </a:xfrm>
          <a:prstGeom prst="rect">
            <a:avLst/>
          </a:prstGeom>
        </p:spPr>
      </p:pic>
      <p:sp>
        <p:nvSpPr>
          <p:cNvPr id="5" name="Text 2"/>
          <p:cNvSpPr/>
          <p:nvPr/>
        </p:nvSpPr>
        <p:spPr>
          <a:xfrm>
            <a:off x="566928" y="640080"/>
            <a:ext cx="7315200" cy="365760"/>
          </a:xfrm>
          <a:prstGeom prst="rect">
            <a:avLst/>
          </a:prstGeom>
          <a:noFill/>
          <a:ln/>
        </p:spPr>
        <p:txBody>
          <a:bodyPr wrap="square" lIns="0" tIns="0" rIns="0" bIns="0"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DZIEŃ 1</a:t>
            </a:r>
            <a:endParaRPr lang="en-US" sz="1300" dirty="0"/>
          </a:p>
        </p:txBody>
      </p:sp>
      <p:sp>
        <p:nvSpPr>
          <p:cNvPr id="6" name="Text 3"/>
          <p:cNvSpPr/>
          <p:nvPr/>
        </p:nvSpPr>
        <p:spPr>
          <a:xfrm>
            <a:off x="548640" y="2514600"/>
            <a:ext cx="8229600" cy="1188720"/>
          </a:xfrm>
          <a:prstGeom prst="rect">
            <a:avLst/>
          </a:prstGeom>
          <a:noFill/>
          <a:ln/>
        </p:spPr>
        <p:txBody>
          <a:bodyPr wrap="square" lIns="0" tIns="0" rIns="0" bIns="0" rtlCol="0" anchor="ctr"/>
          <a:lstStyle/>
          <a:p>
            <a:pPr indent="0" marL="0">
              <a:lnSpc>
                <a:spcPct val="98000"/>
              </a:lnSpc>
              <a:buNone/>
            </a:pPr>
            <a:r>
              <a:rPr lang="en-US" sz="3300" b="1" dirty="0">
                <a:solidFill>
                  <a:srgbClr val="14B8A6"/>
                </a:solidFill>
                <a:latin typeface="Cambria" pitchFamily="34" charset="0"/>
                <a:ea typeface="Cambria" pitchFamily="34" charset="-122"/>
                <a:cs typeface="Cambria" pitchFamily="34" charset="-120"/>
              </a:rPr>
              <a:t>Sekcja 4  </a:t>
            </a:r>
            <a:pPr indent="0" marL="0">
              <a:lnSpc>
                <a:spcPct val="98000"/>
              </a:lnSpc>
              <a:buNone/>
            </a:pPr>
            <a:r>
              <a:rPr lang="en-US" sz="3300" b="1" dirty="0">
                <a:solidFill>
                  <a:srgbClr val="FFFFFF"/>
                </a:solidFill>
                <a:latin typeface="Cambria" pitchFamily="34" charset="0"/>
                <a:ea typeface="Cambria" pitchFamily="34" charset="-122"/>
                <a:cs typeface="Cambria" pitchFamily="34" charset="-120"/>
              </a:rPr>
              <a:t>Function calling i tool use</a:t>
            </a:r>
            <a:endParaRPr lang="en-US" sz="3300" dirty="0"/>
          </a:p>
        </p:txBody>
      </p:sp>
      <p:sp>
        <p:nvSpPr>
          <p:cNvPr id="7" name="Text 4"/>
          <p:cNvSpPr/>
          <p:nvPr/>
        </p:nvSpPr>
        <p:spPr>
          <a:xfrm>
            <a:off x="585216" y="3794760"/>
            <a:ext cx="8229600" cy="1097280"/>
          </a:xfrm>
          <a:prstGeom prst="rect">
            <a:avLst/>
          </a:prstGeom>
          <a:noFill/>
          <a:ln/>
        </p:spPr>
        <p:txBody>
          <a:bodyPr wrap="square" lIns="0" tIns="0" rIns="0" bIns="0" rtlCol="0" anchor="ctr"/>
          <a:lstStyle/>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Definiowanie narzędzi i schematów</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Przepływ wywołań</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Parallel calling, error handling</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PO CO</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Po co modelowi narzędzia?</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Model sam w sobie nie ma dostępu do aktualnych danych ani nie wykonuje akcji.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Narzędzia dają mu: świeże dane (API, baza), obliczenia, akcje w świecie (wysyłka maila).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Model nie wykonuje funkcji — decyduje, że trzeba ją wywołać, i z jakimi argumentami.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Twój kod wykonuje funkcję i zwraca wynik; model komponuje z niego odpowiedź.</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To wzorzec ReAct w wersji API: model myśli → prosi o akcję → dostaje obserwację.</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Świeże dane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API / baza</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Obliczenia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Pewny wynik</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Akcje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Świat zew.</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PRZEPŁYW</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Jak działa function calling</a:t>
            </a:r>
            <a:endParaRPr lang="en-US" sz="3000" dirty="0"/>
          </a:p>
        </p:txBody>
      </p:sp>
      <p:sp>
        <p:nvSpPr>
          <p:cNvPr id="4" name="Shape 2"/>
          <p:cNvSpPr/>
          <p:nvPr/>
        </p:nvSpPr>
        <p:spPr>
          <a:xfrm>
            <a:off x="566928"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1179576" y="2167128"/>
            <a:ext cx="566928" cy="566928"/>
          </a:xfrm>
          <a:prstGeom prst="roundRect">
            <a:avLst>
              <a:gd name="adj" fmla="val 22581"/>
            </a:avLst>
          </a:prstGeom>
          <a:solidFill>
            <a:srgbClr val="4F46E5"/>
          </a:solidFill>
          <a:ln/>
        </p:spPr>
      </p:sp>
      <p:pic>
        <p:nvPicPr>
          <p:cNvPr id="6" name="Image 0" descr="preencoded.png">    </p:cNvPr>
          <p:cNvPicPr>
            <a:picLocks noChangeAspect="1"/>
          </p:cNvPicPr>
          <p:nvPr/>
        </p:nvPicPr>
        <p:blipFill>
          <a:blip r:embed="rId1"/>
          <a:stretch>
            <a:fillRect/>
          </a:stretch>
        </p:blipFill>
        <p:spPr>
          <a:xfrm>
            <a:off x="1304300" y="2291852"/>
            <a:ext cx="317480" cy="317480"/>
          </a:xfrm>
          <a:prstGeom prst="rect">
            <a:avLst/>
          </a:prstGeom>
        </p:spPr>
      </p:pic>
      <p:sp>
        <p:nvSpPr>
          <p:cNvPr id="7" name="Text 4"/>
          <p:cNvSpPr/>
          <p:nvPr/>
        </p:nvSpPr>
        <p:spPr>
          <a:xfrm>
            <a:off x="658368"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1. Definicja</a:t>
            </a:r>
            <a:endParaRPr lang="en-US" sz="1250" dirty="0"/>
          </a:p>
        </p:txBody>
      </p:sp>
      <p:sp>
        <p:nvSpPr>
          <p:cNvPr id="8" name="Text 5"/>
          <p:cNvSpPr/>
          <p:nvPr/>
        </p:nvSpPr>
        <p:spPr>
          <a:xfrm>
            <a:off x="676656"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Opisujesz narzędzia (schemat)</a:t>
            </a:r>
            <a:endParaRPr lang="en-US" sz="950" dirty="0"/>
          </a:p>
        </p:txBody>
      </p:sp>
      <p:sp>
        <p:nvSpPr>
          <p:cNvPr id="9" name="Text 6"/>
          <p:cNvSpPr/>
          <p:nvPr/>
        </p:nvSpPr>
        <p:spPr>
          <a:xfrm>
            <a:off x="2340864"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0" name="Shape 7"/>
          <p:cNvSpPr/>
          <p:nvPr/>
        </p:nvSpPr>
        <p:spPr>
          <a:xfrm>
            <a:off x="2651760"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1" name="Shape 8"/>
          <p:cNvSpPr/>
          <p:nvPr/>
        </p:nvSpPr>
        <p:spPr>
          <a:xfrm>
            <a:off x="3264408" y="2167128"/>
            <a:ext cx="566928" cy="566928"/>
          </a:xfrm>
          <a:prstGeom prst="roundRect">
            <a:avLst>
              <a:gd name="adj" fmla="val 22581"/>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3389132" y="2291852"/>
            <a:ext cx="317480" cy="317480"/>
          </a:xfrm>
          <a:prstGeom prst="rect">
            <a:avLst/>
          </a:prstGeom>
        </p:spPr>
      </p:pic>
      <p:sp>
        <p:nvSpPr>
          <p:cNvPr id="13" name="Text 9"/>
          <p:cNvSpPr/>
          <p:nvPr/>
        </p:nvSpPr>
        <p:spPr>
          <a:xfrm>
            <a:off x="2743200"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2. Decyzja</a:t>
            </a:r>
            <a:endParaRPr lang="en-US" sz="1250" dirty="0"/>
          </a:p>
        </p:txBody>
      </p:sp>
      <p:sp>
        <p:nvSpPr>
          <p:cNvPr id="14" name="Text 10"/>
          <p:cNvSpPr/>
          <p:nvPr/>
        </p:nvSpPr>
        <p:spPr>
          <a:xfrm>
            <a:off x="2761488"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Model wybiera narzędzie + args</a:t>
            </a:r>
            <a:endParaRPr lang="en-US" sz="950" dirty="0"/>
          </a:p>
        </p:txBody>
      </p:sp>
      <p:sp>
        <p:nvSpPr>
          <p:cNvPr id="15" name="Text 11"/>
          <p:cNvSpPr/>
          <p:nvPr/>
        </p:nvSpPr>
        <p:spPr>
          <a:xfrm>
            <a:off x="4425696"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6" name="Shape 12"/>
          <p:cNvSpPr/>
          <p:nvPr/>
        </p:nvSpPr>
        <p:spPr>
          <a:xfrm>
            <a:off x="4736592"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7" name="Shape 13"/>
          <p:cNvSpPr/>
          <p:nvPr/>
        </p:nvSpPr>
        <p:spPr>
          <a:xfrm>
            <a:off x="5349240" y="2167128"/>
            <a:ext cx="566928" cy="566928"/>
          </a:xfrm>
          <a:prstGeom prst="roundRect">
            <a:avLst>
              <a:gd name="adj" fmla="val 22581"/>
            </a:avLst>
          </a:prstGeom>
          <a:solidFill>
            <a:srgbClr val="F59E0B"/>
          </a:solidFill>
          <a:ln/>
        </p:spPr>
      </p:sp>
      <p:pic>
        <p:nvPicPr>
          <p:cNvPr id="18" name="Image 2" descr="preencoded.png">    </p:cNvPr>
          <p:cNvPicPr>
            <a:picLocks noChangeAspect="1"/>
          </p:cNvPicPr>
          <p:nvPr/>
        </p:nvPicPr>
        <p:blipFill>
          <a:blip r:embed="rId3"/>
          <a:stretch>
            <a:fillRect/>
          </a:stretch>
        </p:blipFill>
        <p:spPr>
          <a:xfrm>
            <a:off x="5473964" y="2291852"/>
            <a:ext cx="317480" cy="317480"/>
          </a:xfrm>
          <a:prstGeom prst="rect">
            <a:avLst/>
          </a:prstGeom>
        </p:spPr>
      </p:pic>
      <p:sp>
        <p:nvSpPr>
          <p:cNvPr id="19" name="Text 14"/>
          <p:cNvSpPr/>
          <p:nvPr/>
        </p:nvSpPr>
        <p:spPr>
          <a:xfrm>
            <a:off x="4828032"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3. Wykonanie</a:t>
            </a:r>
            <a:endParaRPr lang="en-US" sz="1250" dirty="0"/>
          </a:p>
        </p:txBody>
      </p:sp>
      <p:sp>
        <p:nvSpPr>
          <p:cNvPr id="20" name="Text 15"/>
          <p:cNvSpPr/>
          <p:nvPr/>
        </p:nvSpPr>
        <p:spPr>
          <a:xfrm>
            <a:off x="4846320"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Twój kod uruchamia funkcję</a:t>
            </a:r>
            <a:endParaRPr lang="en-US" sz="950" dirty="0"/>
          </a:p>
        </p:txBody>
      </p:sp>
      <p:sp>
        <p:nvSpPr>
          <p:cNvPr id="21" name="Text 16"/>
          <p:cNvSpPr/>
          <p:nvPr/>
        </p:nvSpPr>
        <p:spPr>
          <a:xfrm>
            <a:off x="6510528"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22" name="Shape 17"/>
          <p:cNvSpPr/>
          <p:nvPr/>
        </p:nvSpPr>
        <p:spPr>
          <a:xfrm>
            <a:off x="6821424"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23" name="Shape 18"/>
          <p:cNvSpPr/>
          <p:nvPr/>
        </p:nvSpPr>
        <p:spPr>
          <a:xfrm>
            <a:off x="7434072" y="2167128"/>
            <a:ext cx="566928" cy="566928"/>
          </a:xfrm>
          <a:prstGeom prst="roundRect">
            <a:avLst>
              <a:gd name="adj" fmla="val 22581"/>
            </a:avLst>
          </a:prstGeom>
          <a:solidFill>
            <a:srgbClr val="E11D6B"/>
          </a:solidFill>
          <a:ln/>
        </p:spPr>
      </p:sp>
      <p:pic>
        <p:nvPicPr>
          <p:cNvPr id="24" name="Image 3" descr="preencoded.png">    </p:cNvPr>
          <p:cNvPicPr>
            <a:picLocks noChangeAspect="1"/>
          </p:cNvPicPr>
          <p:nvPr/>
        </p:nvPicPr>
        <p:blipFill>
          <a:blip r:embed="rId4"/>
          <a:stretch>
            <a:fillRect/>
          </a:stretch>
        </p:blipFill>
        <p:spPr>
          <a:xfrm>
            <a:off x="7558796" y="2291852"/>
            <a:ext cx="317480" cy="317480"/>
          </a:xfrm>
          <a:prstGeom prst="rect">
            <a:avLst/>
          </a:prstGeom>
        </p:spPr>
      </p:pic>
      <p:sp>
        <p:nvSpPr>
          <p:cNvPr id="25" name="Text 19"/>
          <p:cNvSpPr/>
          <p:nvPr/>
        </p:nvSpPr>
        <p:spPr>
          <a:xfrm>
            <a:off x="6912864"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4. Odpowiedź</a:t>
            </a:r>
            <a:endParaRPr lang="en-US" sz="1250" dirty="0"/>
          </a:p>
        </p:txBody>
      </p:sp>
      <p:sp>
        <p:nvSpPr>
          <p:cNvPr id="26" name="Text 20"/>
          <p:cNvSpPr/>
          <p:nvPr/>
        </p:nvSpPr>
        <p:spPr>
          <a:xfrm>
            <a:off x="6931152"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Model używa wyniku</a:t>
            </a:r>
            <a:endParaRPr lang="en-US" sz="950" dirty="0"/>
          </a:p>
        </p:txBody>
      </p:sp>
      <p:sp>
        <p:nvSpPr>
          <p:cNvPr id="27" name="Text 21"/>
          <p:cNvSpPr/>
          <p:nvPr/>
        </p:nvSpPr>
        <p:spPr>
          <a:xfrm>
            <a:off x="566928" y="4160520"/>
            <a:ext cx="8046720"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Pętla może się powtarzać — model może poprosić o kolejne narzędzia, zanim odpowie.</a:t>
            </a:r>
            <a:endParaRPr lang="en-US" sz="1250" dirty="0"/>
          </a:p>
        </p:txBody>
      </p:sp>
      <p:sp>
        <p:nvSpPr>
          <p:cNvPr id="28" name="Text 2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SCHEMAT</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Definiowanie narzędzia</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Narzędzie = nazwa + opis + schemat argumentów.</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Opis jest dla modelu — pisz go starannie.</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Schemat to JSON Schema (typy, wymagane pola).</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Dobry opis = trafniejszy wybór narzędzia.</a:t>
            </a:r>
            <a:endParaRPr lang="en-US" sz="1300" dirty="0"/>
          </a:p>
        </p:txBody>
      </p:sp>
      <p:sp>
        <p:nvSpPr>
          <p:cNvPr id="5" name="Shape 3"/>
          <p:cNvSpPr/>
          <p:nvPr/>
        </p:nvSpPr>
        <p:spPr>
          <a:xfrm>
            <a:off x="4160520" y="1627632"/>
            <a:ext cx="4434840" cy="3122676"/>
          </a:xfrm>
          <a:prstGeom prst="roundRect">
            <a:avLst>
              <a:gd name="adj" fmla="val 1757"/>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7" name="Text 5"/>
          <p:cNvSpPr/>
          <p:nvPr/>
        </p:nvSpPr>
        <p:spPr>
          <a:xfrm>
            <a:off x="4361688" y="1920240"/>
            <a:ext cx="4069080" cy="2738628"/>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tools =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"type": "function",</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"name": "kurs_waluty",</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"description": "Zwraca aktualny kurs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"waluty do PLN. Użyj, gdy pytanie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"dotyczy przeliczeń walutowych.",</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"parameters":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"type": "object",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"properties":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"symbol": {"type": "string",</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"description": "np. EUR, USD"}</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"required": ["symbol"]</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8" name="Shape 6"/>
          <p:cNvSpPr/>
          <p:nvPr/>
        </p:nvSpPr>
        <p:spPr>
          <a:xfrm>
            <a:off x="4160520" y="4896612"/>
            <a:ext cx="4434840" cy="566928"/>
          </a:xfrm>
          <a:prstGeom prst="roundRect">
            <a:avLst>
              <a:gd name="adj" fmla="val 9677"/>
            </a:avLst>
          </a:prstGeom>
          <a:solidFill>
            <a:srgbClr val="EEF2FF"/>
          </a:solidFill>
          <a:ln/>
        </p:spPr>
      </p:sp>
      <p:sp>
        <p:nvSpPr>
          <p:cNvPr id="9" name="Text 7"/>
          <p:cNvSpPr/>
          <p:nvPr/>
        </p:nvSpPr>
        <p:spPr>
          <a:xfrm>
            <a:off x="4325112" y="4896612"/>
            <a:ext cx="4105656" cy="566928"/>
          </a:xfrm>
          <a:prstGeom prst="rect">
            <a:avLst/>
          </a:prstGeom>
          <a:noFill/>
          <a:ln/>
        </p:spPr>
        <p:txBody>
          <a:bodyPr wrap="square" lIns="0" tIns="0" rIns="0" bIns="0" rtlCol="0" anchor="ctr"/>
          <a:lstStyle/>
          <a:p>
            <a:pPr indent="0" marL="0">
              <a:buNone/>
            </a:pPr>
            <a:r>
              <a:rPr lang="en-US" sz="1150" b="1" dirty="0">
                <a:solidFill>
                  <a:srgbClr val="4F46E5"/>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Opis narzędzia to też prompt — od jego jakości zależy, czy model trafnie go użyje.</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PEŁNA PĘTLA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Function calling end-to-end</a:t>
            </a:r>
            <a:endParaRPr lang="en-US" sz="3000" dirty="0"/>
          </a:p>
        </p:txBody>
      </p:sp>
      <p:sp>
        <p:nvSpPr>
          <p:cNvPr id="4" name="Shape 2"/>
          <p:cNvSpPr/>
          <p:nvPr/>
        </p:nvSpPr>
        <p:spPr>
          <a:xfrm>
            <a:off x="566928" y="1627632"/>
            <a:ext cx="8046720" cy="3122676"/>
          </a:xfrm>
          <a:prstGeom prst="roundRect">
            <a:avLst>
              <a:gd name="adj" fmla="val 1757"/>
            </a:avLst>
          </a:prstGeom>
          <a:solidFill>
            <a:srgbClr val="0E0D24"/>
          </a:solidFill>
          <a:ln/>
          <a:effectLst>
            <a:outerShdw sx="100000" sy="100000" kx="0" ky="0" algn="bl" rotWithShape="0" blurRad="101600" dist="38100" dir="5400000">
              <a:srgbClr val="000000">
                <a:alpha val="20000"/>
              </a:srgbClr>
            </a:outerShdw>
          </a:effectLst>
        </p:spPr>
      </p:sp>
      <p:sp>
        <p:nvSpPr>
          <p:cNvPr id="5" name="Text 3"/>
          <p:cNvSpPr/>
          <p:nvPr/>
        </p:nvSpPr>
        <p:spPr>
          <a:xfrm>
            <a:off x="704088" y="1700784"/>
            <a:ext cx="777240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6" name="Text 4"/>
          <p:cNvSpPr/>
          <p:nvPr/>
        </p:nvSpPr>
        <p:spPr>
          <a:xfrm>
            <a:off x="768096" y="1920240"/>
            <a:ext cx="7680960" cy="2738628"/>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resp = client.responses.create(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model="gpt-4...", input=msgs, tools=tools)</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for item in resp.output: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if item.type == "function_call":</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args = json.loads(item.arguments)</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wynik = WYKONAJ[item.name](**args)   </a:t>
            </a: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Twój kod</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msgs.append(item)</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msgs.append({"type":"function_call_output",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"call_id": item.call_id,</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"output": json.dumps(wynik)})</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drugie wywołanie: model komponuje odpowiedz</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final = client.responses.create(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model="gpt-4...", input=msgs, tools=tools)</a:t>
            </a:r>
            <a:endParaRPr lang="en-US" sz="1050" dirty="0"/>
          </a:p>
        </p:txBody>
      </p:sp>
      <p:sp>
        <p:nvSpPr>
          <p:cNvPr id="7" name="Shape 5"/>
          <p:cNvSpPr/>
          <p:nvPr/>
        </p:nvSpPr>
        <p:spPr>
          <a:xfrm>
            <a:off x="566928" y="4896612"/>
            <a:ext cx="8046720" cy="566928"/>
          </a:xfrm>
          <a:prstGeom prst="roundRect">
            <a:avLst>
              <a:gd name="adj" fmla="val 9677"/>
            </a:avLst>
          </a:prstGeom>
          <a:solidFill>
            <a:srgbClr val="E6FBF7"/>
          </a:solidFill>
          <a:ln/>
        </p:spPr>
      </p:sp>
      <p:sp>
        <p:nvSpPr>
          <p:cNvPr id="8" name="Text 6"/>
          <p:cNvSpPr/>
          <p:nvPr/>
        </p:nvSpPr>
        <p:spPr>
          <a:xfrm>
            <a:off x="731520" y="4896612"/>
            <a:ext cx="771753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Wzorzec: wywołaj → wykonaj zwrócone funkcje → dołącz wyniki → wywołaj ponownie.</a:t>
            </a:r>
            <a:endParaRPr lang="en-US" sz="1150" dirty="0"/>
          </a:p>
        </p:txBody>
      </p:sp>
      <p:sp>
        <p:nvSpPr>
          <p:cNvPr id="9" name="Text 7"/>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WYDAJNOŚĆ</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Parallel function calling</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Model może w jednym kroku poprosić o kilka niezależnych wywołań naraz.</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Np. „pogoda w Gdańsku i w Krakowie" → dwa wywołania tego samego narzędzia równolegle.</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Wykonaj je współbieżnie (asyncio / wątki) i zwróć wszystkie wyniki.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Skraca latencję przy zadaniach z wieloma niezależnymi krokami.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Uwaga na kolejność i zależności — równolegle tylko to, co naprawdę niezależne.</a:t>
            </a:r>
            <a:endParaRPr lang="en-US" sz="1450" dirty="0"/>
          </a:p>
        </p:txBody>
      </p:sp>
      <p:sp>
        <p:nvSpPr>
          <p:cNvPr id="5" name="Shape 3"/>
          <p:cNvSpPr/>
          <p:nvPr/>
        </p:nvSpPr>
        <p:spPr>
          <a:xfrm>
            <a:off x="5989320" y="1627632"/>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Wiele naraz</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1 krok</a:t>
            </a:r>
            <a:endParaRPr lang="en-US" sz="1250" dirty="0"/>
          </a:p>
        </p:txBody>
      </p:sp>
      <p:sp>
        <p:nvSpPr>
          <p:cNvPr id="9" name="Shape 6"/>
          <p:cNvSpPr/>
          <p:nvPr/>
        </p:nvSpPr>
        <p:spPr>
          <a:xfrm>
            <a:off x="5989320" y="2752344"/>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Mniej latencji</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Współbieżnie</a:t>
            </a:r>
            <a:endParaRPr lang="en-US" sz="1250" dirty="0"/>
          </a:p>
        </p:txBody>
      </p:sp>
      <p:sp>
        <p:nvSpPr>
          <p:cNvPr id="13" name="Shape 9"/>
          <p:cNvSpPr/>
          <p:nvPr/>
        </p:nvSpPr>
        <p:spPr>
          <a:xfrm>
            <a:off x="5989320" y="3877056"/>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Niezależność</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Bez zależności</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E11D6B"/>
                </a:solidFill>
                <a:latin typeface="Calibri" pitchFamily="34" charset="0"/>
                <a:ea typeface="Calibri" pitchFamily="34" charset="-122"/>
                <a:cs typeface="Calibri" pitchFamily="34" charset="-120"/>
              </a:rPr>
              <a:t>NIEZAWODNOŚĆ</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Error handling i walidacja narzędzi</a:t>
            </a:r>
            <a:endParaRPr lang="en-US" sz="3000" dirty="0"/>
          </a:p>
        </p:txBody>
      </p:sp>
      <p:sp>
        <p:nvSpPr>
          <p:cNvPr id="4" name="Shape 2"/>
          <p:cNvSpPr/>
          <p:nvPr/>
        </p:nvSpPr>
        <p:spPr>
          <a:xfrm>
            <a:off x="566928" y="1704213"/>
            <a:ext cx="603504" cy="603504"/>
          </a:xfrm>
          <a:prstGeom prst="roundRect">
            <a:avLst>
              <a:gd name="adj" fmla="val 18182"/>
            </a:avLst>
          </a:prstGeom>
          <a:solidFill>
            <a:srgbClr val="FCE7F0"/>
          </a:solidFill>
          <a:ln/>
        </p:spPr>
      </p:sp>
      <p:pic>
        <p:nvPicPr>
          <p:cNvPr id="5" name="Image 0" descr="preencoded.png">    </p:cNvPr>
          <p:cNvPicPr>
            <a:picLocks noChangeAspect="1"/>
          </p:cNvPicPr>
          <p:nvPr/>
        </p:nvPicPr>
        <p:blipFill>
          <a:blip r:embed="rId1"/>
          <a:stretch>
            <a:fillRect/>
          </a:stretch>
        </p:blipFill>
        <p:spPr>
          <a:xfrm>
            <a:off x="699699" y="1836984"/>
            <a:ext cx="337962" cy="337962"/>
          </a:xfrm>
          <a:prstGeom prst="rect">
            <a:avLst/>
          </a:prstGeom>
        </p:spPr>
      </p:pic>
      <p:sp>
        <p:nvSpPr>
          <p:cNvPr id="6" name="Text 3"/>
          <p:cNvSpPr/>
          <p:nvPr/>
        </p:nvSpPr>
        <p:spPr>
          <a:xfrm>
            <a:off x="1371600" y="164592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Waliduj argumenty</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Model bywa kreatywny — sprawdź typy i zakresy przed wykonaniem.</a:t>
            </a:r>
            <a:endParaRPr lang="en-US" sz="1550" dirty="0"/>
          </a:p>
        </p:txBody>
      </p:sp>
      <p:sp>
        <p:nvSpPr>
          <p:cNvPr id="7" name="Shape 4"/>
          <p:cNvSpPr/>
          <p:nvPr/>
        </p:nvSpPr>
        <p:spPr>
          <a:xfrm>
            <a:off x="566928" y="2424303"/>
            <a:ext cx="603504" cy="603504"/>
          </a:xfrm>
          <a:prstGeom prst="roundRect">
            <a:avLst>
              <a:gd name="adj" fmla="val 18182"/>
            </a:avLst>
          </a:prstGeom>
          <a:solidFill>
            <a:srgbClr val="EEF2FF"/>
          </a:solidFill>
          <a:ln/>
        </p:spPr>
      </p:sp>
      <p:pic>
        <p:nvPicPr>
          <p:cNvPr id="8" name="Image 1" descr="preencoded.png">    </p:cNvPr>
          <p:cNvPicPr>
            <a:picLocks noChangeAspect="1"/>
          </p:cNvPicPr>
          <p:nvPr/>
        </p:nvPicPr>
        <p:blipFill>
          <a:blip r:embed="rId2"/>
          <a:stretch>
            <a:fillRect/>
          </a:stretch>
        </p:blipFill>
        <p:spPr>
          <a:xfrm>
            <a:off x="699699" y="2557074"/>
            <a:ext cx="337962" cy="337962"/>
          </a:xfrm>
          <a:prstGeom prst="rect">
            <a:avLst/>
          </a:prstGeom>
        </p:spPr>
      </p:pic>
      <p:sp>
        <p:nvSpPr>
          <p:cNvPr id="9" name="Text 5"/>
          <p:cNvSpPr/>
          <p:nvPr/>
        </p:nvSpPr>
        <p:spPr>
          <a:xfrm>
            <a:off x="1371600" y="236601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Zwracaj błędy modelowi</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Czytelny komunikat błędu pozwala modelowi spróbować inaczej.</a:t>
            </a:r>
            <a:endParaRPr lang="en-US" sz="1550" dirty="0"/>
          </a:p>
        </p:txBody>
      </p:sp>
      <p:sp>
        <p:nvSpPr>
          <p:cNvPr id="10" name="Shape 6"/>
          <p:cNvSpPr/>
          <p:nvPr/>
        </p:nvSpPr>
        <p:spPr>
          <a:xfrm>
            <a:off x="566928" y="3144393"/>
            <a:ext cx="603504" cy="603504"/>
          </a:xfrm>
          <a:prstGeom prst="roundRect">
            <a:avLst>
              <a:gd name="adj" fmla="val 18182"/>
            </a:avLst>
          </a:prstGeom>
          <a:solidFill>
            <a:srgbClr val="E6FBF7"/>
          </a:solidFill>
          <a:ln/>
        </p:spPr>
      </p:sp>
      <p:pic>
        <p:nvPicPr>
          <p:cNvPr id="11" name="Image 2" descr="preencoded.png">    </p:cNvPr>
          <p:cNvPicPr>
            <a:picLocks noChangeAspect="1"/>
          </p:cNvPicPr>
          <p:nvPr/>
        </p:nvPicPr>
        <p:blipFill>
          <a:blip r:embed="rId3"/>
          <a:stretch>
            <a:fillRect/>
          </a:stretch>
        </p:blipFill>
        <p:spPr>
          <a:xfrm>
            <a:off x="699699" y="3277164"/>
            <a:ext cx="337962" cy="337962"/>
          </a:xfrm>
          <a:prstGeom prst="rect">
            <a:avLst/>
          </a:prstGeom>
        </p:spPr>
      </p:pic>
      <p:sp>
        <p:nvSpPr>
          <p:cNvPr id="12" name="Text 7"/>
          <p:cNvSpPr/>
          <p:nvPr/>
        </p:nvSpPr>
        <p:spPr>
          <a:xfrm>
            <a:off x="1371600" y="308610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Ogranicz uprawnienia</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Narzędzia z efektami ubocznymi: whitelisty, limity, potwierdzenia.</a:t>
            </a:r>
            <a:endParaRPr lang="en-US" sz="1550" dirty="0"/>
          </a:p>
        </p:txBody>
      </p:sp>
      <p:sp>
        <p:nvSpPr>
          <p:cNvPr id="13" name="Shape 8"/>
          <p:cNvSpPr/>
          <p:nvPr/>
        </p:nvSpPr>
        <p:spPr>
          <a:xfrm>
            <a:off x="566928" y="3864483"/>
            <a:ext cx="603504" cy="603504"/>
          </a:xfrm>
          <a:prstGeom prst="roundRect">
            <a:avLst>
              <a:gd name="adj" fmla="val 18182"/>
            </a:avLst>
          </a:prstGeom>
          <a:solidFill>
            <a:srgbClr val="FEF3E2"/>
          </a:solidFill>
          <a:ln/>
        </p:spPr>
      </p:sp>
      <p:pic>
        <p:nvPicPr>
          <p:cNvPr id="14" name="Image 3" descr="preencoded.png">    </p:cNvPr>
          <p:cNvPicPr>
            <a:picLocks noChangeAspect="1"/>
          </p:cNvPicPr>
          <p:nvPr/>
        </p:nvPicPr>
        <p:blipFill>
          <a:blip r:embed="rId4"/>
          <a:stretch>
            <a:fillRect/>
          </a:stretch>
        </p:blipFill>
        <p:spPr>
          <a:xfrm>
            <a:off x="699699" y="3997254"/>
            <a:ext cx="337962" cy="337962"/>
          </a:xfrm>
          <a:prstGeom prst="rect">
            <a:avLst/>
          </a:prstGeom>
        </p:spPr>
      </p:pic>
      <p:sp>
        <p:nvSpPr>
          <p:cNvPr id="15" name="Text 9"/>
          <p:cNvSpPr/>
          <p:nvPr/>
        </p:nvSpPr>
        <p:spPr>
          <a:xfrm>
            <a:off x="1371600" y="380619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Limit pętli</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Twardy limit kroków — chroni przed zapętleniem i kosztami.</a:t>
            </a:r>
            <a:endParaRPr lang="en-US" sz="1550" dirty="0"/>
          </a:p>
        </p:txBody>
      </p:sp>
      <p:sp>
        <p:nvSpPr>
          <p:cNvPr id="16" name="Text 10"/>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840000">
            <a:off x="7680960" y="-1097280"/>
            <a:ext cx="4023360" cy="4023360"/>
          </a:xfrm>
          <a:prstGeom prst="roundRect">
            <a:avLst>
              <a:gd name="adj" fmla="val 11364"/>
            </a:avLst>
          </a:prstGeom>
          <a:solidFill>
            <a:srgbClr val="F59E0B">
              <a:alpha val="10000"/>
            </a:srgbClr>
          </a:solidFill>
          <a:ln/>
        </p:spPr>
      </p:sp>
      <p:sp>
        <p:nvSpPr>
          <p:cNvPr id="3" name="Shape 1"/>
          <p:cNvSpPr/>
          <p:nvPr/>
        </p:nvSpPr>
        <p:spPr>
          <a:xfrm>
            <a:off x="548640" y="566928"/>
            <a:ext cx="822960" cy="822960"/>
          </a:xfrm>
          <a:prstGeom prst="roundRect">
            <a:avLst>
              <a:gd name="adj" fmla="val 20000"/>
            </a:avLst>
          </a:prstGeom>
          <a:solidFill>
            <a:srgbClr val="F59E0B"/>
          </a:solidFill>
          <a:ln/>
        </p:spPr>
      </p:sp>
      <p:pic>
        <p:nvPicPr>
          <p:cNvPr id="4" name="Image 0" descr="preencoded.png">    </p:cNvPr>
          <p:cNvPicPr>
            <a:picLocks noChangeAspect="1"/>
          </p:cNvPicPr>
          <p:nvPr/>
        </p:nvPicPr>
        <p:blipFill>
          <a:blip r:embed="rId1"/>
          <a:stretch>
            <a:fillRect/>
          </a:stretch>
        </p:blipFill>
        <p:spPr>
          <a:xfrm>
            <a:off x="729691" y="747979"/>
            <a:ext cx="460858" cy="460858"/>
          </a:xfrm>
          <a:prstGeom prst="rect">
            <a:avLst/>
          </a:prstGeom>
        </p:spPr>
      </p:pic>
      <p:sp>
        <p:nvSpPr>
          <p:cNvPr id="5" name="Text 2"/>
          <p:cNvSpPr/>
          <p:nvPr/>
        </p:nvSpPr>
        <p:spPr>
          <a:xfrm>
            <a:off x="1554480" y="548640"/>
            <a:ext cx="5486400" cy="411480"/>
          </a:xfrm>
          <a:prstGeom prst="rect">
            <a:avLst/>
          </a:prstGeom>
          <a:noFill/>
          <a:ln/>
        </p:spPr>
        <p:txBody>
          <a:bodyPr wrap="square" lIns="0" tIns="0" rIns="0" bIns="0" rtlCol="0" anchor="ctr"/>
          <a:lstStyle/>
          <a:p>
            <a:pPr indent="0" marL="0">
              <a:buNone/>
            </a:pPr>
            <a:r>
              <a:rPr lang="en-US" sz="1400" b="1" spc="200" kern="0" dirty="0">
                <a:solidFill>
                  <a:srgbClr val="F59E0B"/>
                </a:solidFill>
                <a:latin typeface="Calibri" pitchFamily="34" charset="0"/>
                <a:ea typeface="Calibri" pitchFamily="34" charset="-122"/>
                <a:cs typeface="Calibri" pitchFamily="34" charset="-120"/>
              </a:rPr>
              <a:t>LAB 2</a:t>
            </a:r>
            <a:endParaRPr lang="en-US" sz="1400" dirty="0"/>
          </a:p>
        </p:txBody>
      </p:sp>
      <p:sp>
        <p:nvSpPr>
          <p:cNvPr id="6" name="Text 3"/>
          <p:cNvSpPr/>
          <p:nvPr/>
        </p:nvSpPr>
        <p:spPr>
          <a:xfrm>
            <a:off x="1554480" y="932688"/>
            <a:ext cx="694944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Agent narzędziowy bez frameworka</a:t>
            </a:r>
            <a:endParaRPr lang="en-US" sz="2400" dirty="0"/>
          </a:p>
        </p:txBody>
      </p:sp>
      <p:sp>
        <p:nvSpPr>
          <p:cNvPr id="7" name="Shape 4"/>
          <p:cNvSpPr/>
          <p:nvPr/>
        </p:nvSpPr>
        <p:spPr>
          <a:xfrm>
            <a:off x="548640" y="1783080"/>
            <a:ext cx="8046720" cy="713232"/>
          </a:xfrm>
          <a:prstGeom prst="roundRect">
            <a:avLst>
              <a:gd name="adj" fmla="val 10256"/>
            </a:avLst>
          </a:prstGeom>
          <a:solidFill>
            <a:srgbClr val="1F1D45"/>
          </a:solidFill>
          <a:ln/>
        </p:spPr>
      </p:sp>
      <p:sp>
        <p:nvSpPr>
          <p:cNvPr id="8" name="Text 5"/>
          <p:cNvSpPr/>
          <p:nvPr/>
        </p:nvSpPr>
        <p:spPr>
          <a:xfrm>
            <a:off x="731520" y="1783080"/>
            <a:ext cx="7680960" cy="713232"/>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Cel:  </a:t>
            </a:r>
            <a:pPr indent="0" marL="0">
              <a:buNone/>
            </a:pPr>
            <a:r>
              <a:rPr lang="en-US" sz="1300" dirty="0">
                <a:solidFill>
                  <a:srgbClr val="FFFFFF"/>
                </a:solidFill>
                <a:latin typeface="Calibri" pitchFamily="34" charset="0"/>
                <a:ea typeface="Calibri" pitchFamily="34" charset="-122"/>
                <a:cs typeface="Calibri" pitchFamily="34" charset="-120"/>
              </a:rPr>
              <a:t>Zbudować mini-agenta z dwoma narzędziami (kurs waluty + kalkulator) w czystym SDK.</a:t>
            </a:r>
            <a:endParaRPr lang="en-US" sz="1300" dirty="0"/>
          </a:p>
        </p:txBody>
      </p:sp>
      <p:sp>
        <p:nvSpPr>
          <p:cNvPr id="9" name="Text 6"/>
          <p:cNvSpPr/>
          <p:nvPr/>
        </p:nvSpPr>
        <p:spPr>
          <a:xfrm>
            <a:off x="566928" y="2670048"/>
            <a:ext cx="7315200" cy="320040"/>
          </a:xfrm>
          <a:prstGeom prst="rect">
            <a:avLst/>
          </a:prstGeom>
          <a:noFill/>
          <a:ln/>
        </p:spPr>
        <p:txBody>
          <a:bodyPr wrap="square" lIns="0" tIns="0" rIns="0" bIns="0"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Zadania:</a:t>
            </a:r>
            <a:endParaRPr lang="en-US" sz="1300" dirty="0"/>
          </a:p>
        </p:txBody>
      </p:sp>
      <p:sp>
        <p:nvSpPr>
          <p:cNvPr id="10" name="Text 7"/>
          <p:cNvSpPr/>
          <p:nvPr/>
        </p:nvSpPr>
        <p:spPr>
          <a:xfrm>
            <a:off x="603504" y="2999232"/>
            <a:ext cx="7955280" cy="1371600"/>
          </a:xfrm>
          <a:prstGeom prst="rect">
            <a:avLst/>
          </a:prstGeom>
          <a:noFill/>
          <a:ln/>
        </p:spPr>
        <p:txBody>
          <a:bodyPr wrap="square" lIns="0" tIns="0" rIns="0" bIns="0" rtlCol="0" anchor="t"/>
          <a:lstStyle/>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Zdefiniuj dwa narzędzia ze schematami i opisami.</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Zaimplementuj pętlę: wywołanie → wykonanie funkcji → ponowne wywołanie.</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Dodaj walidację argumentów i limit liczby kroków.</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Przetestuj zapytanie wymagające obu narzędzi naraz.</a:t>
            </a:r>
            <a:endParaRPr lang="en-US" sz="1250" dirty="0"/>
          </a:p>
        </p:txBody>
      </p:sp>
      <p:sp>
        <p:nvSpPr>
          <p:cNvPr id="11" name="Text 8"/>
          <p:cNvSpPr/>
          <p:nvPr/>
        </p:nvSpPr>
        <p:spPr>
          <a:xfrm>
            <a:off x="566928" y="4526280"/>
            <a:ext cx="8046720" cy="457200"/>
          </a:xfrm>
          <a:prstGeom prst="rect">
            <a:avLst/>
          </a:prstGeom>
          <a:noFill/>
          <a:ln/>
        </p:spPr>
        <p:txBody>
          <a:bodyPr wrap="square" lIns="0" tIns="0" rIns="0" bIns="0" rtlCol="0" anchor="ctr"/>
          <a:lstStyle/>
          <a:p>
            <a:pPr indent="0" marL="0">
              <a:buNone/>
            </a:pPr>
            <a:r>
              <a:rPr lang="en-US" sz="1150" dirty="0">
                <a:solidFill>
                  <a:srgbClr val="14B8A6"/>
                </a:solidFill>
                <a:latin typeface="Courier New" pitchFamily="34" charset="0"/>
                <a:ea typeface="Courier New" pitchFamily="34" charset="-122"/>
                <a:cs typeface="Courier New" pitchFamily="34" charset="-120"/>
              </a:rPr>
              <a:t>📁 labs/02-function-calling/</a:t>
            </a:r>
            <a:endParaRPr lang="en-US" sz="1150" dirty="0"/>
          </a:p>
          <a:p>
            <a:pPr indent="0" marL="0">
              <a:buNone/>
            </a:pPr>
            <a:r>
              <a:rPr lang="en-US" sz="1150" dirty="0">
                <a:solidFill>
                  <a:srgbClr val="F59E0B"/>
                </a:solidFill>
                <a:latin typeface="Courier New" pitchFamily="34" charset="0"/>
                <a:ea typeface="Courier New" pitchFamily="34" charset="-122"/>
                <a:cs typeface="Courier New" pitchFamily="34" charset="-120"/>
              </a:rPr>
              <a:t>⏱ ok. 35–45 min</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PODSUMOWANIE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Dzień 1 — co już umiesz</a:t>
            </a:r>
            <a:endParaRPr lang="en-US" sz="3000" dirty="0"/>
          </a:p>
        </p:txBody>
      </p:sp>
      <p:sp>
        <p:nvSpPr>
          <p:cNvPr id="4" name="Shape 2"/>
          <p:cNvSpPr/>
          <p:nvPr/>
        </p:nvSpPr>
        <p:spPr>
          <a:xfrm>
            <a:off x="566928" y="1874520"/>
            <a:ext cx="2499360" cy="2103120"/>
          </a:xfrm>
          <a:prstGeom prst="roundRect">
            <a:avLst>
              <a:gd name="adj" fmla="val 4348"/>
            </a:avLst>
          </a:prstGeom>
          <a:solidFill>
            <a:srgbClr val="EEF2FF"/>
          </a:solidFill>
          <a:ln/>
          <a:effectLst>
            <a:outerShdw sx="100000" sy="100000" kx="0" ky="0" algn="bl" rotWithShape="0" blurRad="101600" dist="38100" dir="5400000">
              <a:srgbClr val="000000">
                <a:alpha val="12000"/>
              </a:srgbClr>
            </a:outerShdw>
          </a:effectLst>
        </p:spPr>
      </p:sp>
      <p:sp>
        <p:nvSpPr>
          <p:cNvPr id="5" name="Text 3"/>
          <p:cNvSpPr/>
          <p:nvPr/>
        </p:nvSpPr>
        <p:spPr>
          <a:xfrm>
            <a:off x="658368" y="2194560"/>
            <a:ext cx="2316480" cy="868680"/>
          </a:xfrm>
          <a:prstGeom prst="rect">
            <a:avLst/>
          </a:prstGeom>
          <a:noFill/>
          <a:ln/>
        </p:spPr>
        <p:txBody>
          <a:bodyPr wrap="square" lIns="0" tIns="0" rIns="0" bIns="0" rtlCol="0" anchor="ctr"/>
          <a:lstStyle/>
          <a:p>
            <a:pPr algn="ctr" indent="0" marL="0">
              <a:buNone/>
            </a:pPr>
            <a:r>
              <a:rPr lang="en-US" sz="4400" b="1" dirty="0">
                <a:solidFill>
                  <a:srgbClr val="4F46E5"/>
                </a:solidFill>
                <a:latin typeface="Cambria" pitchFamily="34" charset="0"/>
                <a:ea typeface="Cambria" pitchFamily="34" charset="-122"/>
                <a:cs typeface="Cambria" pitchFamily="34" charset="-120"/>
              </a:rPr>
              <a:t>1</a:t>
            </a:r>
            <a:endParaRPr lang="en-US" sz="4400" dirty="0"/>
          </a:p>
        </p:txBody>
      </p:sp>
      <p:sp>
        <p:nvSpPr>
          <p:cNvPr id="6" name="Text 4"/>
          <p:cNvSpPr/>
          <p:nvPr/>
        </p:nvSpPr>
        <p:spPr>
          <a:xfrm>
            <a:off x="704088" y="3154680"/>
            <a:ext cx="2225040" cy="685800"/>
          </a:xfrm>
          <a:prstGeom prst="rect">
            <a:avLst/>
          </a:prstGeom>
          <a:noFill/>
          <a:ln/>
        </p:spPr>
        <p:txBody>
          <a:bodyPr wrap="square" lIns="0" tIns="0" rIns="0" bIns="0" rtlCol="0" anchor="t"/>
          <a:lstStyle/>
          <a:p>
            <a:pPr algn="ctr" indent="0" marL="0">
              <a:lnSpc>
                <a:spcPct val="95000"/>
              </a:lnSpc>
              <a:buNone/>
            </a:pPr>
            <a:r>
              <a:rPr lang="en-US" sz="1200" dirty="0">
                <a:solidFill>
                  <a:srgbClr val="64748B"/>
                </a:solidFill>
                <a:latin typeface="Calibri" pitchFamily="34" charset="0"/>
                <a:ea typeface="Calibri" pitchFamily="34" charset="-122"/>
                <a:cs typeface="Calibri" pitchFamily="34" charset="-120"/>
              </a:rPr>
              <a:t>Rozumiesz, jak działa LLM od środka</a:t>
            </a:r>
            <a:endParaRPr lang="en-US" sz="1200" dirty="0"/>
          </a:p>
        </p:txBody>
      </p:sp>
      <p:sp>
        <p:nvSpPr>
          <p:cNvPr id="7" name="Shape 5"/>
          <p:cNvSpPr/>
          <p:nvPr/>
        </p:nvSpPr>
        <p:spPr>
          <a:xfrm>
            <a:off x="3340608" y="1874520"/>
            <a:ext cx="2499360" cy="2103120"/>
          </a:xfrm>
          <a:prstGeom prst="roundRect">
            <a:avLst>
              <a:gd name="adj" fmla="val 4348"/>
            </a:avLst>
          </a:prstGeom>
          <a:solidFill>
            <a:srgbClr val="E6FBF7"/>
          </a:solidFill>
          <a:ln/>
          <a:effectLst>
            <a:outerShdw sx="100000" sy="100000" kx="0" ky="0" algn="bl" rotWithShape="0" blurRad="101600" dist="38100" dir="5400000">
              <a:srgbClr val="000000">
                <a:alpha val="12000"/>
              </a:srgbClr>
            </a:outerShdw>
          </a:effectLst>
        </p:spPr>
      </p:sp>
      <p:sp>
        <p:nvSpPr>
          <p:cNvPr id="8" name="Text 6"/>
          <p:cNvSpPr/>
          <p:nvPr/>
        </p:nvSpPr>
        <p:spPr>
          <a:xfrm>
            <a:off x="3432048" y="2194560"/>
            <a:ext cx="2316480" cy="868680"/>
          </a:xfrm>
          <a:prstGeom prst="rect">
            <a:avLst/>
          </a:prstGeom>
          <a:noFill/>
          <a:ln/>
        </p:spPr>
        <p:txBody>
          <a:bodyPr wrap="square" lIns="0" tIns="0" rIns="0" bIns="0" rtlCol="0" anchor="ctr"/>
          <a:lstStyle/>
          <a:p>
            <a:pPr algn="ctr" indent="0" marL="0">
              <a:buNone/>
            </a:pPr>
            <a:r>
              <a:rPr lang="en-US" sz="4400" b="1" dirty="0">
                <a:solidFill>
                  <a:srgbClr val="14B8A6"/>
                </a:solidFill>
                <a:latin typeface="Cambria" pitchFamily="34" charset="0"/>
                <a:ea typeface="Cambria" pitchFamily="34" charset="-122"/>
                <a:cs typeface="Cambria" pitchFamily="34" charset="-120"/>
              </a:rPr>
              <a:t>2</a:t>
            </a:r>
            <a:endParaRPr lang="en-US" sz="4400" dirty="0"/>
          </a:p>
        </p:txBody>
      </p:sp>
      <p:sp>
        <p:nvSpPr>
          <p:cNvPr id="9" name="Text 7"/>
          <p:cNvSpPr/>
          <p:nvPr/>
        </p:nvSpPr>
        <p:spPr>
          <a:xfrm>
            <a:off x="3477768" y="3154680"/>
            <a:ext cx="2225040" cy="685800"/>
          </a:xfrm>
          <a:prstGeom prst="rect">
            <a:avLst/>
          </a:prstGeom>
          <a:noFill/>
          <a:ln/>
        </p:spPr>
        <p:txBody>
          <a:bodyPr wrap="square" lIns="0" tIns="0" rIns="0" bIns="0" rtlCol="0" anchor="t"/>
          <a:lstStyle/>
          <a:p>
            <a:pPr algn="ctr" indent="0" marL="0">
              <a:lnSpc>
                <a:spcPct val="95000"/>
              </a:lnSpc>
              <a:buNone/>
            </a:pPr>
            <a:r>
              <a:rPr lang="en-US" sz="1200" dirty="0">
                <a:solidFill>
                  <a:srgbClr val="64748B"/>
                </a:solidFill>
                <a:latin typeface="Calibri" pitchFamily="34" charset="0"/>
                <a:ea typeface="Calibri" pitchFamily="34" charset="-122"/>
                <a:cs typeface="Calibri" pitchFamily="34" charset="-120"/>
              </a:rPr>
              <a:t>Sterujesz modelem przez zaawansowane prompty</a:t>
            </a:r>
            <a:endParaRPr lang="en-US" sz="1200" dirty="0"/>
          </a:p>
        </p:txBody>
      </p:sp>
      <p:sp>
        <p:nvSpPr>
          <p:cNvPr id="10" name="Shape 8"/>
          <p:cNvSpPr/>
          <p:nvPr/>
        </p:nvSpPr>
        <p:spPr>
          <a:xfrm>
            <a:off x="6114288" y="1874520"/>
            <a:ext cx="2499360" cy="2103120"/>
          </a:xfrm>
          <a:prstGeom prst="roundRect">
            <a:avLst>
              <a:gd name="adj" fmla="val 4348"/>
            </a:avLst>
          </a:prstGeom>
          <a:solidFill>
            <a:srgbClr val="FEF3E2"/>
          </a:solidFill>
          <a:ln/>
          <a:effectLst>
            <a:outerShdw sx="100000" sy="100000" kx="0" ky="0" algn="bl" rotWithShape="0" blurRad="101600" dist="38100" dir="5400000">
              <a:srgbClr val="000000">
                <a:alpha val="12000"/>
              </a:srgbClr>
            </a:outerShdw>
          </a:effectLst>
        </p:spPr>
      </p:sp>
      <p:sp>
        <p:nvSpPr>
          <p:cNvPr id="11" name="Text 9"/>
          <p:cNvSpPr/>
          <p:nvPr/>
        </p:nvSpPr>
        <p:spPr>
          <a:xfrm>
            <a:off x="6205728" y="2194560"/>
            <a:ext cx="2316480" cy="868680"/>
          </a:xfrm>
          <a:prstGeom prst="rect">
            <a:avLst/>
          </a:prstGeom>
          <a:noFill/>
          <a:ln/>
        </p:spPr>
        <p:txBody>
          <a:bodyPr wrap="square" lIns="0" tIns="0" rIns="0" bIns="0" rtlCol="0" anchor="ctr"/>
          <a:lstStyle/>
          <a:p>
            <a:pPr algn="ctr" indent="0" marL="0">
              <a:buNone/>
            </a:pPr>
            <a:r>
              <a:rPr lang="en-US" sz="4400" b="1" dirty="0">
                <a:solidFill>
                  <a:srgbClr val="F59E0B"/>
                </a:solidFill>
                <a:latin typeface="Cambria" pitchFamily="34" charset="0"/>
                <a:ea typeface="Cambria" pitchFamily="34" charset="-122"/>
                <a:cs typeface="Cambria" pitchFamily="34" charset="-120"/>
              </a:rPr>
              <a:t>3</a:t>
            </a:r>
            <a:endParaRPr lang="en-US" sz="4400" dirty="0"/>
          </a:p>
        </p:txBody>
      </p:sp>
      <p:sp>
        <p:nvSpPr>
          <p:cNvPr id="12" name="Text 10"/>
          <p:cNvSpPr/>
          <p:nvPr/>
        </p:nvSpPr>
        <p:spPr>
          <a:xfrm>
            <a:off x="6251448" y="3154680"/>
            <a:ext cx="2225040" cy="685800"/>
          </a:xfrm>
          <a:prstGeom prst="rect">
            <a:avLst/>
          </a:prstGeom>
          <a:noFill/>
          <a:ln/>
        </p:spPr>
        <p:txBody>
          <a:bodyPr wrap="square" lIns="0" tIns="0" rIns="0" bIns="0" rtlCol="0" anchor="t"/>
          <a:lstStyle/>
          <a:p>
            <a:pPr algn="ctr" indent="0" marL="0">
              <a:lnSpc>
                <a:spcPct val="95000"/>
              </a:lnSpc>
              <a:buNone/>
            </a:pPr>
            <a:r>
              <a:rPr lang="en-US" sz="1200" dirty="0">
                <a:solidFill>
                  <a:srgbClr val="64748B"/>
                </a:solidFill>
                <a:latin typeface="Calibri" pitchFamily="34" charset="0"/>
                <a:ea typeface="Calibri" pitchFamily="34" charset="-122"/>
                <a:cs typeface="Calibri" pitchFamily="34" charset="-120"/>
              </a:rPr>
              <a:t>Podłączasz narzędzia przez function calling</a:t>
            </a:r>
            <a:endParaRPr lang="en-US" sz="1200" dirty="0"/>
          </a:p>
        </p:txBody>
      </p:sp>
      <p:sp>
        <p:nvSpPr>
          <p:cNvPr id="13" name="Text 11"/>
          <p:cNvSpPr/>
          <p:nvPr/>
        </p:nvSpPr>
        <p:spPr>
          <a:xfrm>
            <a:off x="566928" y="4206240"/>
            <a:ext cx="8046720"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Jutro: budujemy z tego realne aplikacje — RAG i agentów. Dzięki za dziś!</a:t>
            </a:r>
            <a:endParaRPr lang="en-US" sz="1250" dirty="0"/>
          </a:p>
        </p:txBody>
      </p:sp>
      <p:sp>
        <p:nvSpPr>
          <p:cNvPr id="14"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960000">
            <a:off x="7498080" y="-1188720"/>
            <a:ext cx="4206240" cy="4206240"/>
          </a:xfrm>
          <a:prstGeom prst="roundRect">
            <a:avLst>
              <a:gd name="adj" fmla="val 10870"/>
            </a:avLst>
          </a:prstGeom>
          <a:solidFill>
            <a:srgbClr val="14B8A6">
              <a:alpha val="12000"/>
            </a:srgbClr>
          </a:solidFill>
          <a:ln/>
        </p:spPr>
      </p:sp>
      <p:sp>
        <p:nvSpPr>
          <p:cNvPr id="3" name="Shape 1"/>
          <p:cNvSpPr/>
          <p:nvPr/>
        </p:nvSpPr>
        <p:spPr>
          <a:xfrm>
            <a:off x="548640" y="1371600"/>
            <a:ext cx="914400" cy="914400"/>
          </a:xfrm>
          <a:prstGeom prst="roundRect">
            <a:avLst>
              <a:gd name="adj" fmla="val 20000"/>
            </a:avLst>
          </a:prstGeom>
          <a:solidFill>
            <a:srgbClr val="14B8A6"/>
          </a:solidFill>
          <a:ln/>
        </p:spPr>
      </p:sp>
      <p:pic>
        <p:nvPicPr>
          <p:cNvPr id="4" name="Image 0" descr="preencoded.png">    </p:cNvPr>
          <p:cNvPicPr>
            <a:picLocks noChangeAspect="1"/>
          </p:cNvPicPr>
          <p:nvPr/>
        </p:nvPicPr>
        <p:blipFill>
          <a:blip r:embed="rId1"/>
          <a:stretch>
            <a:fillRect/>
          </a:stretch>
        </p:blipFill>
        <p:spPr>
          <a:xfrm>
            <a:off x="749808" y="1572768"/>
            <a:ext cx="512064" cy="512064"/>
          </a:xfrm>
          <a:prstGeom prst="rect">
            <a:avLst/>
          </a:prstGeom>
        </p:spPr>
      </p:pic>
      <p:sp>
        <p:nvSpPr>
          <p:cNvPr id="5" name="Text 2"/>
          <p:cNvSpPr/>
          <p:nvPr/>
        </p:nvSpPr>
        <p:spPr>
          <a:xfrm>
            <a:off x="566928" y="640080"/>
            <a:ext cx="7315200" cy="365760"/>
          </a:xfrm>
          <a:prstGeom prst="rect">
            <a:avLst/>
          </a:prstGeom>
          <a:noFill/>
          <a:ln/>
        </p:spPr>
        <p:txBody>
          <a:bodyPr wrap="square" lIns="0" tIns="0" rIns="0" bIns="0"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DZIEŃ 2</a:t>
            </a:r>
            <a:endParaRPr lang="en-US" sz="1300" dirty="0"/>
          </a:p>
        </p:txBody>
      </p:sp>
      <p:sp>
        <p:nvSpPr>
          <p:cNvPr id="6" name="Text 3"/>
          <p:cNvSpPr/>
          <p:nvPr/>
        </p:nvSpPr>
        <p:spPr>
          <a:xfrm>
            <a:off x="548640" y="2514600"/>
            <a:ext cx="8229600" cy="1188720"/>
          </a:xfrm>
          <a:prstGeom prst="rect">
            <a:avLst/>
          </a:prstGeom>
          <a:noFill/>
          <a:ln/>
        </p:spPr>
        <p:txBody>
          <a:bodyPr wrap="square" lIns="0" tIns="0" rIns="0" bIns="0" rtlCol="0" anchor="ctr"/>
          <a:lstStyle/>
          <a:p>
            <a:pPr indent="0" marL="0">
              <a:lnSpc>
                <a:spcPct val="98000"/>
              </a:lnSpc>
              <a:buNone/>
            </a:pPr>
            <a:pPr indent="0" marL="0">
              <a:lnSpc>
                <a:spcPct val="98000"/>
              </a:lnSpc>
              <a:buNone/>
            </a:pPr>
            <a:r>
              <a:rPr lang="en-US" sz="3300" b="1" dirty="0">
                <a:solidFill>
                  <a:srgbClr val="FFFFFF"/>
                </a:solidFill>
                <a:latin typeface="Cambria" pitchFamily="34" charset="0"/>
                <a:ea typeface="Cambria" pitchFamily="34" charset="-122"/>
                <a:cs typeface="Cambria" pitchFamily="34" charset="-120"/>
              </a:rPr>
              <a:t>Budowa aplikacji AI i systemy produkcyjne</a:t>
            </a:r>
            <a:endParaRPr lang="en-US" sz="3300" dirty="0"/>
          </a:p>
        </p:txBody>
      </p:sp>
      <p:sp>
        <p:nvSpPr>
          <p:cNvPr id="7" name="Text 4"/>
          <p:cNvSpPr/>
          <p:nvPr/>
        </p:nvSpPr>
        <p:spPr>
          <a:xfrm>
            <a:off x="585216" y="3794760"/>
            <a:ext cx="8229600" cy="1097280"/>
          </a:xfrm>
          <a:prstGeom prst="rect">
            <a:avLst/>
          </a:prstGeom>
          <a:noFill/>
          <a:ln/>
        </p:spPr>
        <p:txBody>
          <a:bodyPr wrap="square" lIns="0" tIns="0" rIns="0" bIns="0" rtlCol="0" anchor="ctr"/>
          <a:lstStyle/>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Python, Streamlit, FastAPI</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RAG od podstaw</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Agenci w LangChain i LangGraph</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Aspekty produkcyjne</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PLAN DNIA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Agenda dnia 2</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Python dla AI — środowiska, SDK, klucze</a:t>
            </a:r>
            <a:endParaRPr lang="en-US" sz="1450" dirty="0"/>
          </a:p>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Frameworki — Streamlit (prototyp) i FastAPI (produkcja)</a:t>
            </a:r>
            <a:endParaRPr lang="en-US" sz="1450" dirty="0"/>
          </a:p>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RAG — architektura, vector DB, hybrid search, reranking</a:t>
            </a:r>
            <a:endParaRPr lang="en-US" sz="1450" dirty="0"/>
          </a:p>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AI Agents — LangChain, narzędzia, LangGraph, multi-agent, pamięć</a:t>
            </a:r>
            <a:endParaRPr lang="en-US" sz="1450" dirty="0"/>
          </a:p>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Produkcja — monitoring, koszty, bezpieczeństwo, wdrożenie</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Narzędzia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Python + API</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RAG</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Wiedza</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Agenci</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Rdzeń dnia</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960000">
            <a:off x="7498080" y="-1188720"/>
            <a:ext cx="4206240" cy="4206240"/>
          </a:xfrm>
          <a:prstGeom prst="roundRect">
            <a:avLst>
              <a:gd name="adj" fmla="val 10870"/>
            </a:avLst>
          </a:prstGeom>
          <a:solidFill>
            <a:srgbClr val="14B8A6">
              <a:alpha val="12000"/>
            </a:srgbClr>
          </a:solidFill>
          <a:ln/>
        </p:spPr>
      </p:sp>
      <p:sp>
        <p:nvSpPr>
          <p:cNvPr id="3" name="Shape 1"/>
          <p:cNvSpPr/>
          <p:nvPr/>
        </p:nvSpPr>
        <p:spPr>
          <a:xfrm>
            <a:off x="548640" y="1371600"/>
            <a:ext cx="914400" cy="914400"/>
          </a:xfrm>
          <a:prstGeom prst="roundRect">
            <a:avLst>
              <a:gd name="adj" fmla="val 20000"/>
            </a:avLst>
          </a:prstGeom>
          <a:solidFill>
            <a:srgbClr val="14B8A6"/>
          </a:solidFill>
          <a:ln/>
        </p:spPr>
      </p:sp>
      <p:pic>
        <p:nvPicPr>
          <p:cNvPr id="4" name="Image 0" descr="preencoded.png">    </p:cNvPr>
          <p:cNvPicPr>
            <a:picLocks noChangeAspect="1"/>
          </p:cNvPicPr>
          <p:nvPr/>
        </p:nvPicPr>
        <p:blipFill>
          <a:blip r:embed="rId1"/>
          <a:stretch>
            <a:fillRect/>
          </a:stretch>
        </p:blipFill>
        <p:spPr>
          <a:xfrm>
            <a:off x="749808" y="1572768"/>
            <a:ext cx="512064" cy="512064"/>
          </a:xfrm>
          <a:prstGeom prst="rect">
            <a:avLst/>
          </a:prstGeom>
        </p:spPr>
      </p:pic>
      <p:sp>
        <p:nvSpPr>
          <p:cNvPr id="5" name="Text 2"/>
          <p:cNvSpPr/>
          <p:nvPr/>
        </p:nvSpPr>
        <p:spPr>
          <a:xfrm>
            <a:off x="566928" y="640080"/>
            <a:ext cx="7315200" cy="365760"/>
          </a:xfrm>
          <a:prstGeom prst="rect">
            <a:avLst/>
          </a:prstGeom>
          <a:noFill/>
          <a:ln/>
        </p:spPr>
        <p:txBody>
          <a:bodyPr wrap="square" lIns="0" tIns="0" rIns="0" bIns="0"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DZIEŃ 2</a:t>
            </a:r>
            <a:endParaRPr lang="en-US" sz="1300" dirty="0"/>
          </a:p>
        </p:txBody>
      </p:sp>
      <p:sp>
        <p:nvSpPr>
          <p:cNvPr id="6" name="Text 3"/>
          <p:cNvSpPr/>
          <p:nvPr/>
        </p:nvSpPr>
        <p:spPr>
          <a:xfrm>
            <a:off x="548640" y="2514600"/>
            <a:ext cx="8229600" cy="1188720"/>
          </a:xfrm>
          <a:prstGeom prst="rect">
            <a:avLst/>
          </a:prstGeom>
          <a:noFill/>
          <a:ln/>
        </p:spPr>
        <p:txBody>
          <a:bodyPr wrap="square" lIns="0" tIns="0" rIns="0" bIns="0" rtlCol="0" anchor="ctr"/>
          <a:lstStyle/>
          <a:p>
            <a:pPr indent="0" marL="0">
              <a:lnSpc>
                <a:spcPct val="98000"/>
              </a:lnSpc>
              <a:buNone/>
            </a:pPr>
            <a:r>
              <a:rPr lang="en-US" sz="3300" b="1" dirty="0">
                <a:solidFill>
                  <a:srgbClr val="14B8A6"/>
                </a:solidFill>
                <a:latin typeface="Cambria" pitchFamily="34" charset="0"/>
                <a:ea typeface="Cambria" pitchFamily="34" charset="-122"/>
                <a:cs typeface="Cambria" pitchFamily="34" charset="-120"/>
              </a:rPr>
              <a:t>Sekcja 1  </a:t>
            </a:r>
            <a:pPr indent="0" marL="0">
              <a:lnSpc>
                <a:spcPct val="98000"/>
              </a:lnSpc>
              <a:buNone/>
            </a:pPr>
            <a:r>
              <a:rPr lang="en-US" sz="3300" b="1" dirty="0">
                <a:solidFill>
                  <a:srgbClr val="FFFFFF"/>
                </a:solidFill>
                <a:latin typeface="Cambria" pitchFamily="34" charset="0"/>
                <a:ea typeface="Cambria" pitchFamily="34" charset="-122"/>
                <a:cs typeface="Cambria" pitchFamily="34" charset="-120"/>
              </a:rPr>
              <a:t>Python dla AI — praktyczne podstawy</a:t>
            </a:r>
            <a:endParaRPr lang="en-US" sz="3300" dirty="0"/>
          </a:p>
        </p:txBody>
      </p:sp>
      <p:sp>
        <p:nvSpPr>
          <p:cNvPr id="7" name="Text 4"/>
          <p:cNvSpPr/>
          <p:nvPr/>
        </p:nvSpPr>
        <p:spPr>
          <a:xfrm>
            <a:off x="585216" y="3794760"/>
            <a:ext cx="8229600" cy="1097280"/>
          </a:xfrm>
          <a:prstGeom prst="rect">
            <a:avLst/>
          </a:prstGeom>
          <a:noFill/>
          <a:ln/>
        </p:spPr>
        <p:txBody>
          <a:bodyPr wrap="square" lIns="0" tIns="0" rIns="0" bIns="0" rtlCol="0" anchor="ctr"/>
          <a:lstStyle/>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Środowiska: venv, conda, uv</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SDK: OpenAI, Anthropic, LangChain</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Bezpieczne zarządzanie kluczami</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IZOLACJA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Środowiska: venv, conda, uv</a:t>
            </a:r>
            <a:endParaRPr lang="en-US" sz="3000" dirty="0"/>
          </a:p>
        </p:txBody>
      </p:sp>
      <p:sp>
        <p:nvSpPr>
          <p:cNvPr id="4" name="Shape 2"/>
          <p:cNvSpPr/>
          <p:nvPr/>
        </p:nvSpPr>
        <p:spPr>
          <a:xfrm>
            <a:off x="566928" y="1824228"/>
            <a:ext cx="603504" cy="603504"/>
          </a:xfrm>
          <a:prstGeom prst="roundRect">
            <a:avLst>
              <a:gd name="adj" fmla="val 18182"/>
            </a:avLst>
          </a:prstGeom>
          <a:solidFill>
            <a:srgbClr val="EEF2FF"/>
          </a:solidFill>
          <a:ln/>
        </p:spPr>
      </p:sp>
      <p:pic>
        <p:nvPicPr>
          <p:cNvPr id="5" name="Image 0" descr="preencoded.png">    </p:cNvPr>
          <p:cNvPicPr>
            <a:picLocks noChangeAspect="1"/>
          </p:cNvPicPr>
          <p:nvPr/>
        </p:nvPicPr>
        <p:blipFill>
          <a:blip r:embed="rId1"/>
          <a:stretch>
            <a:fillRect/>
          </a:stretch>
        </p:blipFill>
        <p:spPr>
          <a:xfrm>
            <a:off x="699699" y="1956999"/>
            <a:ext cx="337962" cy="337962"/>
          </a:xfrm>
          <a:prstGeom prst="rect">
            <a:avLst/>
          </a:prstGeom>
        </p:spPr>
      </p:pic>
      <p:sp>
        <p:nvSpPr>
          <p:cNvPr id="6" name="Text 3"/>
          <p:cNvSpPr/>
          <p:nvPr/>
        </p:nvSpPr>
        <p:spPr>
          <a:xfrm>
            <a:off x="1371600" y="164592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venv</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Standard biblioteczny Pythona — lekki, wbudowany, wystarcza w większości projektów.</a:t>
            </a:r>
            <a:endParaRPr lang="en-US" sz="1550" dirty="0"/>
          </a:p>
        </p:txBody>
      </p:sp>
      <p:sp>
        <p:nvSpPr>
          <p:cNvPr id="7" name="Shape 4"/>
          <p:cNvSpPr/>
          <p:nvPr/>
        </p:nvSpPr>
        <p:spPr>
          <a:xfrm>
            <a:off x="566928" y="2784348"/>
            <a:ext cx="603504" cy="603504"/>
          </a:xfrm>
          <a:prstGeom prst="roundRect">
            <a:avLst>
              <a:gd name="adj" fmla="val 18182"/>
            </a:avLst>
          </a:prstGeom>
          <a:solidFill>
            <a:srgbClr val="E6FBF7"/>
          </a:solidFill>
          <a:ln/>
        </p:spPr>
      </p:sp>
      <p:pic>
        <p:nvPicPr>
          <p:cNvPr id="8" name="Image 1" descr="preencoded.png">    </p:cNvPr>
          <p:cNvPicPr>
            <a:picLocks noChangeAspect="1"/>
          </p:cNvPicPr>
          <p:nvPr/>
        </p:nvPicPr>
        <p:blipFill>
          <a:blip r:embed="rId2"/>
          <a:stretch>
            <a:fillRect/>
          </a:stretch>
        </p:blipFill>
        <p:spPr>
          <a:xfrm>
            <a:off x="699699" y="2917119"/>
            <a:ext cx="337962" cy="337962"/>
          </a:xfrm>
          <a:prstGeom prst="rect">
            <a:avLst/>
          </a:prstGeom>
        </p:spPr>
      </p:pic>
      <p:sp>
        <p:nvSpPr>
          <p:cNvPr id="9" name="Text 5"/>
          <p:cNvSpPr/>
          <p:nvPr/>
        </p:nvSpPr>
        <p:spPr>
          <a:xfrm>
            <a:off x="1371600" y="260604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conda</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Gdy potrzebujesz zależności natywnych / CUDA — popularne w świecie ML.</a:t>
            </a:r>
            <a:endParaRPr lang="en-US" sz="1550" dirty="0"/>
          </a:p>
        </p:txBody>
      </p:sp>
      <p:sp>
        <p:nvSpPr>
          <p:cNvPr id="10" name="Shape 6"/>
          <p:cNvSpPr/>
          <p:nvPr/>
        </p:nvSpPr>
        <p:spPr>
          <a:xfrm>
            <a:off x="566928" y="3744468"/>
            <a:ext cx="603504" cy="603504"/>
          </a:xfrm>
          <a:prstGeom prst="roundRect">
            <a:avLst>
              <a:gd name="adj" fmla="val 18182"/>
            </a:avLst>
          </a:prstGeom>
          <a:solidFill>
            <a:srgbClr val="FEF3E2"/>
          </a:solidFill>
          <a:ln/>
        </p:spPr>
      </p:sp>
      <p:pic>
        <p:nvPicPr>
          <p:cNvPr id="11" name="Image 2" descr="preencoded.png">    </p:cNvPr>
          <p:cNvPicPr>
            <a:picLocks noChangeAspect="1"/>
          </p:cNvPicPr>
          <p:nvPr/>
        </p:nvPicPr>
        <p:blipFill>
          <a:blip r:embed="rId3"/>
          <a:stretch>
            <a:fillRect/>
          </a:stretch>
        </p:blipFill>
        <p:spPr>
          <a:xfrm>
            <a:off x="699699" y="3877239"/>
            <a:ext cx="337962" cy="337962"/>
          </a:xfrm>
          <a:prstGeom prst="rect">
            <a:avLst/>
          </a:prstGeom>
        </p:spPr>
      </p:pic>
      <p:sp>
        <p:nvSpPr>
          <p:cNvPr id="12" name="Text 7"/>
          <p:cNvSpPr/>
          <p:nvPr/>
        </p:nvSpPr>
        <p:spPr>
          <a:xfrm>
            <a:off x="1371600" y="356616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uv</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Nowoczesny, bardzo szybki menedżer — instalacja i lock w sekundach.</a:t>
            </a:r>
            <a:endParaRPr lang="en-US" sz="1550" dirty="0"/>
          </a:p>
        </p:txBody>
      </p:sp>
      <p:sp>
        <p:nvSpPr>
          <p:cNvPr id="13"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BIBLIOTEKI</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Kluczowe SDK i instalacja</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Trzy filary stosu aplikacji AI.</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openai / anthropic — dostęp do modeli.</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langchain / langgraph — orkiestracja.</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Plus: chromadb, fastapi, streamlit.</a:t>
            </a:r>
            <a:endParaRPr lang="en-US" sz="1300" dirty="0"/>
          </a:p>
        </p:txBody>
      </p:sp>
      <p:sp>
        <p:nvSpPr>
          <p:cNvPr id="5" name="Shape 3"/>
          <p:cNvSpPr/>
          <p:nvPr/>
        </p:nvSpPr>
        <p:spPr>
          <a:xfrm>
            <a:off x="4160520" y="1627632"/>
            <a:ext cx="4434840" cy="2372868"/>
          </a:xfrm>
          <a:prstGeom prst="roundRect">
            <a:avLst>
              <a:gd name="adj" fmla="val 2312"/>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bash</a:t>
            </a:r>
            <a:endParaRPr lang="en-US" sz="900" dirty="0"/>
          </a:p>
        </p:txBody>
      </p:sp>
      <p:sp>
        <p:nvSpPr>
          <p:cNvPr id="7" name="Text 5"/>
          <p:cNvSpPr/>
          <p:nvPr/>
        </p:nvSpPr>
        <p:spPr>
          <a:xfrm>
            <a:off x="4361688" y="1920240"/>
            <a:ext cx="4069080" cy="1988820"/>
          </a:xfrm>
          <a:prstGeom prst="rect">
            <a:avLst/>
          </a:prstGeom>
          <a:noFill/>
          <a:ln/>
        </p:spPr>
        <p:txBody>
          <a:bodyPr wrap="square" lIns="0" tIns="0" rIns="0" bIns="0" rtlCol="0" anchor="t"/>
          <a:lstStyle/>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szybkie środowisko z uv</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uv venv &amp;&amp; source .venv/bin/activate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rdzen stosu</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uv pip install openai anthropic</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uv pip install langchain langgraph</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uv pip install langchain-openai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RAG i UI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uv pip install chromadb</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uv pip install fastapi uvicorn streamlit</a:t>
            </a:r>
            <a:endParaRPr lang="en-US" sz="1050" dirty="0"/>
          </a:p>
        </p:txBody>
      </p:sp>
      <p:sp>
        <p:nvSpPr>
          <p:cNvPr id="8" name="Shape 6"/>
          <p:cNvSpPr/>
          <p:nvPr/>
        </p:nvSpPr>
        <p:spPr>
          <a:xfrm>
            <a:off x="4160520" y="4146804"/>
            <a:ext cx="4434840" cy="566928"/>
          </a:xfrm>
          <a:prstGeom prst="roundRect">
            <a:avLst>
              <a:gd name="adj" fmla="val 9677"/>
            </a:avLst>
          </a:prstGeom>
          <a:solidFill>
            <a:srgbClr val="E6FBF7"/>
          </a:solidFill>
          <a:ln/>
        </p:spPr>
      </p:sp>
      <p:sp>
        <p:nvSpPr>
          <p:cNvPr id="9" name="Text 7"/>
          <p:cNvSpPr/>
          <p:nvPr/>
        </p:nvSpPr>
        <p:spPr>
          <a:xfrm>
            <a:off x="4325112" y="4146804"/>
            <a:ext cx="410565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Trzymaj wersje w pliku lock — ekosystem LLM zmienia API częściej niż przeciętna biblioteka.</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E11D6B"/>
                </a:solidFill>
                <a:latin typeface="Calibri" pitchFamily="34" charset="0"/>
                <a:ea typeface="Calibri" pitchFamily="34" charset="-122"/>
                <a:cs typeface="Calibri" pitchFamily="34" charset="-120"/>
              </a:rPr>
              <a:t>BEZPIECZEŃSTWO</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Klucze API — rób to dobrze</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Klucz API to hasło — traktuj jak hasło.</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Nigdy w kodzie ani w repo.</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.env + .gitignore lokalnie.</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Secret manager na produkcji.</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Rotuj i ograniczaj uprawnienia.</a:t>
            </a:r>
            <a:endParaRPr lang="en-US" sz="1300" dirty="0"/>
          </a:p>
        </p:txBody>
      </p:sp>
      <p:sp>
        <p:nvSpPr>
          <p:cNvPr id="5" name="Shape 3"/>
          <p:cNvSpPr/>
          <p:nvPr/>
        </p:nvSpPr>
        <p:spPr>
          <a:xfrm>
            <a:off x="4160520" y="1627632"/>
            <a:ext cx="4434840" cy="2560320"/>
          </a:xfrm>
          <a:prstGeom prst="roundRect">
            <a:avLst>
              <a:gd name="adj" fmla="val 2143"/>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7" name="Text 5"/>
          <p:cNvSpPr/>
          <p:nvPr/>
        </p:nvSpPr>
        <p:spPr>
          <a:xfrm>
            <a:off x="4361688" y="1920240"/>
            <a:ext cx="4069080" cy="2176272"/>
          </a:xfrm>
          <a:prstGeom prst="rect">
            <a:avLst/>
          </a:prstGeom>
          <a:noFill/>
          <a:ln/>
        </p:spPr>
        <p:txBody>
          <a:bodyPr wrap="square" lIns="0" tIns="0" rIns="0" bIns="0" rtlCol="0" anchor="t"/>
          <a:lstStyle/>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.env  (NIGDY do gita!)</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OPENAI_API_KEY=sk-...</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.gitignore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.env</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kod</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dotenv import load_dotenv</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import os</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load_dotenv()</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client = OpenAI(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api_key=os.environ["OPENAI_API_KEY"])</a:t>
            </a:r>
            <a:endParaRPr lang="en-US" sz="1050" dirty="0"/>
          </a:p>
        </p:txBody>
      </p:sp>
      <p:sp>
        <p:nvSpPr>
          <p:cNvPr id="8" name="Shape 6"/>
          <p:cNvSpPr/>
          <p:nvPr/>
        </p:nvSpPr>
        <p:spPr>
          <a:xfrm>
            <a:off x="4160520" y="4334256"/>
            <a:ext cx="4434840" cy="566928"/>
          </a:xfrm>
          <a:prstGeom prst="roundRect">
            <a:avLst>
              <a:gd name="adj" fmla="val 9677"/>
            </a:avLst>
          </a:prstGeom>
          <a:solidFill>
            <a:srgbClr val="EEF2FF"/>
          </a:solidFill>
          <a:ln/>
        </p:spPr>
      </p:sp>
      <p:sp>
        <p:nvSpPr>
          <p:cNvPr id="9" name="Text 7"/>
          <p:cNvSpPr/>
          <p:nvPr/>
        </p:nvSpPr>
        <p:spPr>
          <a:xfrm>
            <a:off x="4325112" y="4334256"/>
            <a:ext cx="4105656" cy="566928"/>
          </a:xfrm>
          <a:prstGeom prst="rect">
            <a:avLst/>
          </a:prstGeom>
          <a:noFill/>
          <a:ln/>
        </p:spPr>
        <p:txBody>
          <a:bodyPr wrap="square" lIns="0" tIns="0" rIns="0" bIns="0" rtlCol="0" anchor="ctr"/>
          <a:lstStyle/>
          <a:p>
            <a:pPr indent="0" marL="0">
              <a:buNone/>
            </a:pPr>
            <a:r>
              <a:rPr lang="en-US" sz="1150" b="1" dirty="0">
                <a:solidFill>
                  <a:srgbClr val="E11D6B"/>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Klucz w publicznym repo bywa wykorzystany w minuty — boty skanują GitHub na bieżąco.</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960000">
            <a:off x="7498080" y="-1188720"/>
            <a:ext cx="4206240" cy="4206240"/>
          </a:xfrm>
          <a:prstGeom prst="roundRect">
            <a:avLst>
              <a:gd name="adj" fmla="val 10870"/>
            </a:avLst>
          </a:prstGeom>
          <a:solidFill>
            <a:srgbClr val="14B8A6">
              <a:alpha val="12000"/>
            </a:srgbClr>
          </a:solidFill>
          <a:ln/>
        </p:spPr>
      </p:sp>
      <p:sp>
        <p:nvSpPr>
          <p:cNvPr id="3" name="Shape 1"/>
          <p:cNvSpPr/>
          <p:nvPr/>
        </p:nvSpPr>
        <p:spPr>
          <a:xfrm>
            <a:off x="548640" y="1371600"/>
            <a:ext cx="914400" cy="914400"/>
          </a:xfrm>
          <a:prstGeom prst="roundRect">
            <a:avLst>
              <a:gd name="adj" fmla="val 20000"/>
            </a:avLst>
          </a:prstGeom>
          <a:solidFill>
            <a:srgbClr val="14B8A6"/>
          </a:solidFill>
          <a:ln/>
        </p:spPr>
      </p:sp>
      <p:pic>
        <p:nvPicPr>
          <p:cNvPr id="4" name="Image 0" descr="preencoded.png">    </p:cNvPr>
          <p:cNvPicPr>
            <a:picLocks noChangeAspect="1"/>
          </p:cNvPicPr>
          <p:nvPr/>
        </p:nvPicPr>
        <p:blipFill>
          <a:blip r:embed="rId1"/>
          <a:stretch>
            <a:fillRect/>
          </a:stretch>
        </p:blipFill>
        <p:spPr>
          <a:xfrm>
            <a:off x="749808" y="1572768"/>
            <a:ext cx="512064" cy="512064"/>
          </a:xfrm>
          <a:prstGeom prst="rect">
            <a:avLst/>
          </a:prstGeom>
        </p:spPr>
      </p:pic>
      <p:sp>
        <p:nvSpPr>
          <p:cNvPr id="5" name="Text 2"/>
          <p:cNvSpPr/>
          <p:nvPr/>
        </p:nvSpPr>
        <p:spPr>
          <a:xfrm>
            <a:off x="566928" y="640080"/>
            <a:ext cx="7315200" cy="365760"/>
          </a:xfrm>
          <a:prstGeom prst="rect">
            <a:avLst/>
          </a:prstGeom>
          <a:noFill/>
          <a:ln/>
        </p:spPr>
        <p:txBody>
          <a:bodyPr wrap="square" lIns="0" tIns="0" rIns="0" bIns="0"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DZIEŃ 2</a:t>
            </a:r>
            <a:endParaRPr lang="en-US" sz="1300" dirty="0"/>
          </a:p>
        </p:txBody>
      </p:sp>
      <p:sp>
        <p:nvSpPr>
          <p:cNvPr id="6" name="Text 3"/>
          <p:cNvSpPr/>
          <p:nvPr/>
        </p:nvSpPr>
        <p:spPr>
          <a:xfrm>
            <a:off x="548640" y="2514600"/>
            <a:ext cx="8229600" cy="1188720"/>
          </a:xfrm>
          <a:prstGeom prst="rect">
            <a:avLst/>
          </a:prstGeom>
          <a:noFill/>
          <a:ln/>
        </p:spPr>
        <p:txBody>
          <a:bodyPr wrap="square" lIns="0" tIns="0" rIns="0" bIns="0" rtlCol="0" anchor="ctr"/>
          <a:lstStyle/>
          <a:p>
            <a:pPr indent="0" marL="0">
              <a:lnSpc>
                <a:spcPct val="98000"/>
              </a:lnSpc>
              <a:buNone/>
            </a:pPr>
            <a:r>
              <a:rPr lang="en-US" sz="3300" b="1" dirty="0">
                <a:solidFill>
                  <a:srgbClr val="14B8A6"/>
                </a:solidFill>
                <a:latin typeface="Cambria" pitchFamily="34" charset="0"/>
                <a:ea typeface="Cambria" pitchFamily="34" charset="-122"/>
                <a:cs typeface="Cambria" pitchFamily="34" charset="-120"/>
              </a:rPr>
              <a:t>Sekcja 2  </a:t>
            </a:r>
            <a:pPr indent="0" marL="0">
              <a:lnSpc>
                <a:spcPct val="98000"/>
              </a:lnSpc>
              <a:buNone/>
            </a:pPr>
            <a:r>
              <a:rPr lang="en-US" sz="3300" b="1" dirty="0">
                <a:solidFill>
                  <a:srgbClr val="FFFFFF"/>
                </a:solidFill>
                <a:latin typeface="Cambria" pitchFamily="34" charset="0"/>
                <a:ea typeface="Cambria" pitchFamily="34" charset="-122"/>
                <a:cs typeface="Cambria" pitchFamily="34" charset="-120"/>
              </a:rPr>
              <a:t>Frameworki dla aplikacji AI</a:t>
            </a:r>
            <a:endParaRPr lang="en-US" sz="3300" dirty="0"/>
          </a:p>
        </p:txBody>
      </p:sp>
      <p:sp>
        <p:nvSpPr>
          <p:cNvPr id="7" name="Text 4"/>
          <p:cNvSpPr/>
          <p:nvPr/>
        </p:nvSpPr>
        <p:spPr>
          <a:xfrm>
            <a:off x="585216" y="3794760"/>
            <a:ext cx="8229600" cy="1097280"/>
          </a:xfrm>
          <a:prstGeom prst="rect">
            <a:avLst/>
          </a:prstGeom>
          <a:noFill/>
          <a:ln/>
        </p:spPr>
        <p:txBody>
          <a:bodyPr wrap="square" lIns="0" tIns="0" rIns="0" bIns="0" rtlCol="0" anchor="ctr"/>
          <a:lstStyle/>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Streamlit — szybkie prototypowanie UI</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FastAPI — produkcyjne REST API</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Kiedy czego użyć</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PROTOTYP</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Streamlit — UI w kilku linijkach</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Od pomysłu do klikalnego demo w minuty.</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Czysty Python, zero HTML/JS.</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Idealne na PoC i narzędzia wewnętrzne.</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Słabsze do dużego ruchu produkcyjnego.</a:t>
            </a:r>
            <a:endParaRPr lang="en-US" sz="1300" dirty="0"/>
          </a:p>
        </p:txBody>
      </p:sp>
      <p:sp>
        <p:nvSpPr>
          <p:cNvPr id="5" name="Shape 3"/>
          <p:cNvSpPr/>
          <p:nvPr/>
        </p:nvSpPr>
        <p:spPr>
          <a:xfrm>
            <a:off x="4160520" y="1627632"/>
            <a:ext cx="4434840" cy="2560320"/>
          </a:xfrm>
          <a:prstGeom prst="roundRect">
            <a:avLst>
              <a:gd name="adj" fmla="val 2143"/>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7" name="Text 5"/>
          <p:cNvSpPr/>
          <p:nvPr/>
        </p:nvSpPr>
        <p:spPr>
          <a:xfrm>
            <a:off x="4361688" y="1920240"/>
            <a:ext cx="4069080" cy="2176272"/>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import streamlit as st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openai import OpenAI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st.title("Asystent AI")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client = OpenAI()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if prompt := st.chat_input("Zapytaj..."):</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st.chat_message("user").write(prompt)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 = client.responses.create(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model="gpt-4...", input=prompt)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st.chat_message("assistant").write(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r.output_text)</a:t>
            </a:r>
            <a:endParaRPr lang="en-US" sz="1050" dirty="0"/>
          </a:p>
        </p:txBody>
      </p:sp>
      <p:sp>
        <p:nvSpPr>
          <p:cNvPr id="8" name="Shape 6"/>
          <p:cNvSpPr/>
          <p:nvPr/>
        </p:nvSpPr>
        <p:spPr>
          <a:xfrm>
            <a:off x="4160520" y="4334256"/>
            <a:ext cx="4434840" cy="566928"/>
          </a:xfrm>
          <a:prstGeom prst="roundRect">
            <a:avLst>
              <a:gd name="adj" fmla="val 9677"/>
            </a:avLst>
          </a:prstGeom>
          <a:solidFill>
            <a:srgbClr val="EEF2FF"/>
          </a:solidFill>
          <a:ln/>
        </p:spPr>
      </p:sp>
      <p:sp>
        <p:nvSpPr>
          <p:cNvPr id="9" name="Text 7"/>
          <p:cNvSpPr/>
          <p:nvPr/>
        </p:nvSpPr>
        <p:spPr>
          <a:xfrm>
            <a:off x="4325112" y="4334256"/>
            <a:ext cx="4105656" cy="566928"/>
          </a:xfrm>
          <a:prstGeom prst="rect">
            <a:avLst/>
          </a:prstGeom>
          <a:noFill/>
          <a:ln/>
        </p:spPr>
        <p:txBody>
          <a:bodyPr wrap="square" lIns="0" tIns="0" rIns="0" bIns="0" rtlCol="0" anchor="ctr"/>
          <a:lstStyle/>
          <a:p>
            <a:pPr indent="0" marL="0">
              <a:buNone/>
            </a:pPr>
            <a:r>
              <a:rPr lang="en-US" sz="1150" b="1" dirty="0">
                <a:solidFill>
                  <a:srgbClr val="4F46E5"/>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Streamlit świetnie nadaje się na PoC i demo dla biznesu — nie na backend dużej aplikacji.</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PRODUKCJA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FastAPI — produkcyjne API</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Asynchroniczne, szybkie, z walidacją.</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Pydantic = kontrakt wejścia/wyjścia.</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Auto-dokumentacja (OpenAPI/Swagger).</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Standard backendu aplikacji AI.</a:t>
            </a:r>
            <a:endParaRPr lang="en-US" sz="1300" dirty="0"/>
          </a:p>
        </p:txBody>
      </p:sp>
      <p:sp>
        <p:nvSpPr>
          <p:cNvPr id="5" name="Shape 3"/>
          <p:cNvSpPr/>
          <p:nvPr/>
        </p:nvSpPr>
        <p:spPr>
          <a:xfrm>
            <a:off x="4160520" y="1627632"/>
            <a:ext cx="4434840" cy="2747772"/>
          </a:xfrm>
          <a:prstGeom prst="roundRect">
            <a:avLst>
              <a:gd name="adj" fmla="val 1997"/>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7" name="Text 5"/>
          <p:cNvSpPr/>
          <p:nvPr/>
        </p:nvSpPr>
        <p:spPr>
          <a:xfrm>
            <a:off x="4361688" y="1920240"/>
            <a:ext cx="4069080" cy="2363724"/>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fastapi import FastAPI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pydantic import BaseModel</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app = FastAPI()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class Pytanie(BaseModel):</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tresc: str</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@app.post("/chat")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async def chat(p: Pytanie):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 = await aclient.responses.create(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model="gpt-4...", input=p.tresc)</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return {"odpowiedz": r.output_text}</a:t>
            </a:r>
            <a:endParaRPr lang="en-US" sz="1050" dirty="0"/>
          </a:p>
        </p:txBody>
      </p:sp>
      <p:sp>
        <p:nvSpPr>
          <p:cNvPr id="8" name="Shape 6"/>
          <p:cNvSpPr/>
          <p:nvPr/>
        </p:nvSpPr>
        <p:spPr>
          <a:xfrm>
            <a:off x="4160520" y="4521708"/>
            <a:ext cx="4434840" cy="566928"/>
          </a:xfrm>
          <a:prstGeom prst="roundRect">
            <a:avLst>
              <a:gd name="adj" fmla="val 9677"/>
            </a:avLst>
          </a:prstGeom>
          <a:solidFill>
            <a:srgbClr val="E6FBF7"/>
          </a:solidFill>
          <a:ln/>
        </p:spPr>
      </p:sp>
      <p:sp>
        <p:nvSpPr>
          <p:cNvPr id="9" name="Text 7"/>
          <p:cNvSpPr/>
          <p:nvPr/>
        </p:nvSpPr>
        <p:spPr>
          <a:xfrm>
            <a:off x="4325112" y="4521708"/>
            <a:ext cx="410565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FastAPI + Pydantic to de facto standard backendu dla usług AI w Pythonie.</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DECYZJA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Streamlit czy FastAPI?</a:t>
            </a:r>
            <a:endParaRPr lang="en-US" sz="3000" dirty="0"/>
          </a:p>
        </p:txBody>
      </p:sp>
      <p:sp>
        <p:nvSpPr>
          <p:cNvPr id="4" name="Shape 2"/>
          <p:cNvSpPr/>
          <p:nvPr/>
        </p:nvSpPr>
        <p:spPr>
          <a:xfrm>
            <a:off x="56692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566928" y="1645920"/>
            <a:ext cx="3977640" cy="640080"/>
          </a:xfrm>
          <a:prstGeom prst="roundRect">
            <a:avLst>
              <a:gd name="adj" fmla="val 14286"/>
            </a:avLst>
          </a:prstGeom>
          <a:solidFill>
            <a:srgbClr val="4F46E5"/>
          </a:solidFill>
          <a:ln/>
        </p:spPr>
      </p:sp>
      <p:sp>
        <p:nvSpPr>
          <p:cNvPr id="6" name="Shape 4"/>
          <p:cNvSpPr/>
          <p:nvPr/>
        </p:nvSpPr>
        <p:spPr>
          <a:xfrm>
            <a:off x="566928" y="1965960"/>
            <a:ext cx="3977640" cy="320040"/>
          </a:xfrm>
          <a:prstGeom prst="rect">
            <a:avLst/>
          </a:prstGeom>
          <a:solidFill>
            <a:srgbClr val="4F46E5"/>
          </a:solidFill>
          <a:ln/>
        </p:spPr>
      </p:sp>
      <p:sp>
        <p:nvSpPr>
          <p:cNvPr id="7" name="Text 5"/>
          <p:cNvSpPr/>
          <p:nvPr/>
        </p:nvSpPr>
        <p:spPr>
          <a:xfrm>
            <a:off x="74980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Streamlit — gdy</a:t>
            </a:r>
            <a:endParaRPr lang="en-US" sz="1600" dirty="0"/>
          </a:p>
        </p:txBody>
      </p:sp>
      <p:sp>
        <p:nvSpPr>
          <p:cNvPr id="8" name="Text 6"/>
          <p:cNvSpPr/>
          <p:nvPr/>
        </p:nvSpPr>
        <p:spPr>
          <a:xfrm>
            <a:off x="76809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Potrzebujesz UI „na wczoraj"</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PoC, demo, narzędzie wewnętrzne</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Mała liczba użytkowników</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Nie chcesz pisać frontendu</a:t>
            </a:r>
            <a:endParaRPr lang="en-US" sz="1250" dirty="0"/>
          </a:p>
        </p:txBody>
      </p:sp>
      <p:sp>
        <p:nvSpPr>
          <p:cNvPr id="9" name="Shape 7"/>
          <p:cNvSpPr/>
          <p:nvPr/>
        </p:nvSpPr>
        <p:spPr>
          <a:xfrm>
            <a:off x="481888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10" name="Shape 8"/>
          <p:cNvSpPr/>
          <p:nvPr/>
        </p:nvSpPr>
        <p:spPr>
          <a:xfrm>
            <a:off x="4818888" y="1645920"/>
            <a:ext cx="3977640" cy="640080"/>
          </a:xfrm>
          <a:prstGeom prst="roundRect">
            <a:avLst>
              <a:gd name="adj" fmla="val 14286"/>
            </a:avLst>
          </a:prstGeom>
          <a:solidFill>
            <a:srgbClr val="14B8A6"/>
          </a:solidFill>
          <a:ln/>
        </p:spPr>
      </p:sp>
      <p:sp>
        <p:nvSpPr>
          <p:cNvPr id="11" name="Shape 9"/>
          <p:cNvSpPr/>
          <p:nvPr/>
        </p:nvSpPr>
        <p:spPr>
          <a:xfrm>
            <a:off x="4818888" y="1965960"/>
            <a:ext cx="3977640" cy="320040"/>
          </a:xfrm>
          <a:prstGeom prst="rect">
            <a:avLst/>
          </a:prstGeom>
          <a:solidFill>
            <a:srgbClr val="14B8A6"/>
          </a:solidFill>
          <a:ln/>
        </p:spPr>
      </p:sp>
      <p:sp>
        <p:nvSpPr>
          <p:cNvPr id="12" name="Text 10"/>
          <p:cNvSpPr/>
          <p:nvPr/>
        </p:nvSpPr>
        <p:spPr>
          <a:xfrm>
            <a:off x="500176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FastAPI — gdy</a:t>
            </a:r>
            <a:endParaRPr lang="en-US" sz="1600" dirty="0"/>
          </a:p>
        </p:txBody>
      </p:sp>
      <p:sp>
        <p:nvSpPr>
          <p:cNvPr id="13" name="Text 11"/>
          <p:cNvSpPr/>
          <p:nvPr/>
        </p:nvSpPr>
        <p:spPr>
          <a:xfrm>
            <a:off x="502005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Budujesz usługę dla innych systemów</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Potrzebujesz skali i wydajności</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Integracja: web, mobile, inne backendy</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Kontrola, async, autentykacja</a:t>
            </a:r>
            <a:endParaRPr lang="en-US" sz="1250" dirty="0"/>
          </a:p>
        </p:txBody>
      </p:sp>
      <p:sp>
        <p:nvSpPr>
          <p:cNvPr id="14"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960000">
            <a:off x="7498080" y="-1188720"/>
            <a:ext cx="4206240" cy="4206240"/>
          </a:xfrm>
          <a:prstGeom prst="roundRect">
            <a:avLst>
              <a:gd name="adj" fmla="val 10870"/>
            </a:avLst>
          </a:prstGeom>
          <a:solidFill>
            <a:srgbClr val="14B8A6">
              <a:alpha val="12000"/>
            </a:srgbClr>
          </a:solidFill>
          <a:ln/>
        </p:spPr>
      </p:sp>
      <p:sp>
        <p:nvSpPr>
          <p:cNvPr id="3" name="Shape 1"/>
          <p:cNvSpPr/>
          <p:nvPr/>
        </p:nvSpPr>
        <p:spPr>
          <a:xfrm>
            <a:off x="548640" y="1371600"/>
            <a:ext cx="914400" cy="914400"/>
          </a:xfrm>
          <a:prstGeom prst="roundRect">
            <a:avLst>
              <a:gd name="adj" fmla="val 20000"/>
            </a:avLst>
          </a:prstGeom>
          <a:solidFill>
            <a:srgbClr val="14B8A6"/>
          </a:solidFill>
          <a:ln/>
        </p:spPr>
      </p:sp>
      <p:pic>
        <p:nvPicPr>
          <p:cNvPr id="4" name="Image 0" descr="preencoded.png">    </p:cNvPr>
          <p:cNvPicPr>
            <a:picLocks noChangeAspect="1"/>
          </p:cNvPicPr>
          <p:nvPr/>
        </p:nvPicPr>
        <p:blipFill>
          <a:blip r:embed="rId1"/>
          <a:stretch>
            <a:fillRect/>
          </a:stretch>
        </p:blipFill>
        <p:spPr>
          <a:xfrm>
            <a:off x="749808" y="1572768"/>
            <a:ext cx="512064" cy="512064"/>
          </a:xfrm>
          <a:prstGeom prst="rect">
            <a:avLst/>
          </a:prstGeom>
        </p:spPr>
      </p:pic>
      <p:sp>
        <p:nvSpPr>
          <p:cNvPr id="5" name="Text 2"/>
          <p:cNvSpPr/>
          <p:nvPr/>
        </p:nvSpPr>
        <p:spPr>
          <a:xfrm>
            <a:off x="566928" y="640080"/>
            <a:ext cx="7315200" cy="365760"/>
          </a:xfrm>
          <a:prstGeom prst="rect">
            <a:avLst/>
          </a:prstGeom>
          <a:noFill/>
          <a:ln/>
        </p:spPr>
        <p:txBody>
          <a:bodyPr wrap="square" lIns="0" tIns="0" rIns="0" bIns="0"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DZIEŃ 2</a:t>
            </a:r>
            <a:endParaRPr lang="en-US" sz="1300" dirty="0"/>
          </a:p>
        </p:txBody>
      </p:sp>
      <p:sp>
        <p:nvSpPr>
          <p:cNvPr id="6" name="Text 3"/>
          <p:cNvSpPr/>
          <p:nvPr/>
        </p:nvSpPr>
        <p:spPr>
          <a:xfrm>
            <a:off x="548640" y="2514600"/>
            <a:ext cx="8229600" cy="1188720"/>
          </a:xfrm>
          <a:prstGeom prst="rect">
            <a:avLst/>
          </a:prstGeom>
          <a:noFill/>
          <a:ln/>
        </p:spPr>
        <p:txBody>
          <a:bodyPr wrap="square" lIns="0" tIns="0" rIns="0" bIns="0" rtlCol="0" anchor="ctr"/>
          <a:lstStyle/>
          <a:p>
            <a:pPr indent="0" marL="0">
              <a:lnSpc>
                <a:spcPct val="98000"/>
              </a:lnSpc>
              <a:buNone/>
            </a:pPr>
            <a:r>
              <a:rPr lang="en-US" sz="3300" b="1" dirty="0">
                <a:solidFill>
                  <a:srgbClr val="14B8A6"/>
                </a:solidFill>
                <a:latin typeface="Cambria" pitchFamily="34" charset="0"/>
                <a:ea typeface="Cambria" pitchFamily="34" charset="-122"/>
                <a:cs typeface="Cambria" pitchFamily="34" charset="-120"/>
              </a:rPr>
              <a:t>Sekcja 3  </a:t>
            </a:r>
            <a:pPr indent="0" marL="0">
              <a:lnSpc>
                <a:spcPct val="98000"/>
              </a:lnSpc>
              <a:buNone/>
            </a:pPr>
            <a:r>
              <a:rPr lang="en-US" sz="3300" b="1" dirty="0">
                <a:solidFill>
                  <a:srgbClr val="FFFFFF"/>
                </a:solidFill>
                <a:latin typeface="Cambria" pitchFamily="34" charset="0"/>
                <a:ea typeface="Cambria" pitchFamily="34" charset="-122"/>
                <a:cs typeface="Cambria" pitchFamily="34" charset="-120"/>
              </a:rPr>
              <a:t>RAG — Retrieval-Augmented Generation</a:t>
            </a:r>
            <a:endParaRPr lang="en-US" sz="3300" dirty="0"/>
          </a:p>
        </p:txBody>
      </p:sp>
      <p:sp>
        <p:nvSpPr>
          <p:cNvPr id="7" name="Text 4"/>
          <p:cNvSpPr/>
          <p:nvPr/>
        </p:nvSpPr>
        <p:spPr>
          <a:xfrm>
            <a:off x="585216" y="3794760"/>
            <a:ext cx="8229600" cy="1097280"/>
          </a:xfrm>
          <a:prstGeom prst="rect">
            <a:avLst/>
          </a:prstGeom>
          <a:noFill/>
          <a:ln/>
        </p:spPr>
        <p:txBody>
          <a:bodyPr wrap="square" lIns="0" tIns="0" rIns="0" bIns="0" rtlCol="0" anchor="ctr"/>
          <a:lstStyle/>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Architektura i pipeline</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Vector DB, embeddingi</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Hybrid search, reranking, ewaluacja</a:t>
            </a:r>
            <a:endParaRPr lang="en-US" sz="13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PO CO</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Dlaczego RAG?</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Daje modelowi dostęp do Twojej, aktualnej i prywatnej wiedzy — bez fine-tuningu.</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Redukuje halucynacje — model odpowiada na podstawie dostarczonych źródeł.</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Umożliwia cytowanie źródeł — kluczowe w sektorze regulowanym.</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Tańsze i szybsze niż dotrenowywanie modelu na zmieniających się danych.</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Aktualizacja wiedzy = aktualizacja bazy, nie modelu.</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Twoja wiedza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Bez treningu</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Cytowanie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Źródła</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Aktualność</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Update bazy</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ARCHITEKTURA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Pipeline RAG — przepływ</a:t>
            </a:r>
            <a:endParaRPr lang="en-US" sz="3000" dirty="0"/>
          </a:p>
        </p:txBody>
      </p:sp>
      <p:sp>
        <p:nvSpPr>
          <p:cNvPr id="4" name="Shape 2"/>
          <p:cNvSpPr/>
          <p:nvPr/>
        </p:nvSpPr>
        <p:spPr>
          <a:xfrm>
            <a:off x="566928" y="1691640"/>
            <a:ext cx="548640" cy="548640"/>
          </a:xfrm>
          <a:prstGeom prst="oval">
            <a:avLst/>
          </a:prstGeom>
          <a:solidFill>
            <a:srgbClr val="4F46E5"/>
          </a:solidFill>
          <a:ln/>
        </p:spPr>
      </p:sp>
      <p:sp>
        <p:nvSpPr>
          <p:cNvPr id="5" name="Text 3"/>
          <p:cNvSpPr/>
          <p:nvPr/>
        </p:nvSpPr>
        <p:spPr>
          <a:xfrm>
            <a:off x="566928"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841248" y="2240280"/>
            <a:ext cx="0" cy="182880"/>
          </a:xfrm>
          <a:prstGeom prst="line">
            <a:avLst/>
          </a:prstGeom>
          <a:noFill/>
          <a:ln w="19050">
            <a:solidFill>
              <a:srgbClr val="94A3B8"/>
            </a:solidFill>
            <a:prstDash val="dash"/>
          </a:ln>
        </p:spPr>
      </p:sp>
      <p:sp>
        <p:nvSpPr>
          <p:cNvPr id="7" name="Text 5"/>
          <p:cNvSpPr/>
          <p:nvPr/>
        </p:nvSpPr>
        <p:spPr>
          <a:xfrm>
            <a:off x="1325880" y="160020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Indeksacja (offline)</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Dokumenty → chunki → embeddingi → vector DB.</a:t>
            </a:r>
            <a:endParaRPr lang="en-US" sz="1500" dirty="0"/>
          </a:p>
        </p:txBody>
      </p:sp>
      <p:sp>
        <p:nvSpPr>
          <p:cNvPr id="8" name="Shape 6"/>
          <p:cNvSpPr/>
          <p:nvPr/>
        </p:nvSpPr>
        <p:spPr>
          <a:xfrm>
            <a:off x="566928" y="2423160"/>
            <a:ext cx="548640" cy="548640"/>
          </a:xfrm>
          <a:prstGeom prst="oval">
            <a:avLst/>
          </a:prstGeom>
          <a:solidFill>
            <a:srgbClr val="14B8A6"/>
          </a:solidFill>
          <a:ln/>
        </p:spPr>
      </p:sp>
      <p:sp>
        <p:nvSpPr>
          <p:cNvPr id="9" name="Text 7"/>
          <p:cNvSpPr/>
          <p:nvPr/>
        </p:nvSpPr>
        <p:spPr>
          <a:xfrm>
            <a:off x="566928"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841248" y="2971800"/>
            <a:ext cx="0" cy="182880"/>
          </a:xfrm>
          <a:prstGeom prst="line">
            <a:avLst/>
          </a:prstGeom>
          <a:noFill/>
          <a:ln w="19050">
            <a:solidFill>
              <a:srgbClr val="94A3B8"/>
            </a:solidFill>
            <a:prstDash val="dash"/>
          </a:ln>
        </p:spPr>
      </p:sp>
      <p:sp>
        <p:nvSpPr>
          <p:cNvPr id="11" name="Text 9"/>
          <p:cNvSpPr/>
          <p:nvPr/>
        </p:nvSpPr>
        <p:spPr>
          <a:xfrm>
            <a:off x="1325880" y="233172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Zapytanie</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Pytanie użytkownika → embedding zapytania.</a:t>
            </a:r>
            <a:endParaRPr lang="en-US" sz="1500" dirty="0"/>
          </a:p>
        </p:txBody>
      </p:sp>
      <p:sp>
        <p:nvSpPr>
          <p:cNvPr id="12" name="Shape 10"/>
          <p:cNvSpPr/>
          <p:nvPr/>
        </p:nvSpPr>
        <p:spPr>
          <a:xfrm>
            <a:off x="566928" y="3154680"/>
            <a:ext cx="548640" cy="548640"/>
          </a:xfrm>
          <a:prstGeom prst="oval">
            <a:avLst/>
          </a:prstGeom>
          <a:solidFill>
            <a:srgbClr val="F59E0B"/>
          </a:solidFill>
          <a:ln/>
        </p:spPr>
      </p:sp>
      <p:sp>
        <p:nvSpPr>
          <p:cNvPr id="13" name="Text 11"/>
          <p:cNvSpPr/>
          <p:nvPr/>
        </p:nvSpPr>
        <p:spPr>
          <a:xfrm>
            <a:off x="566928" y="3154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Shape 12"/>
          <p:cNvSpPr/>
          <p:nvPr/>
        </p:nvSpPr>
        <p:spPr>
          <a:xfrm>
            <a:off x="841248" y="3703320"/>
            <a:ext cx="0" cy="182880"/>
          </a:xfrm>
          <a:prstGeom prst="line">
            <a:avLst/>
          </a:prstGeom>
          <a:noFill/>
          <a:ln w="19050">
            <a:solidFill>
              <a:srgbClr val="94A3B8"/>
            </a:solidFill>
            <a:prstDash val="dash"/>
          </a:ln>
        </p:spPr>
      </p:sp>
      <p:sp>
        <p:nvSpPr>
          <p:cNvPr id="15" name="Text 13"/>
          <p:cNvSpPr/>
          <p:nvPr/>
        </p:nvSpPr>
        <p:spPr>
          <a:xfrm>
            <a:off x="1325880" y="306324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Retrieval</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Wyszukanie najbardziej podobnych fragmentów.</a:t>
            </a:r>
            <a:endParaRPr lang="en-US" sz="1500" dirty="0"/>
          </a:p>
        </p:txBody>
      </p:sp>
      <p:sp>
        <p:nvSpPr>
          <p:cNvPr id="16" name="Shape 14"/>
          <p:cNvSpPr/>
          <p:nvPr/>
        </p:nvSpPr>
        <p:spPr>
          <a:xfrm>
            <a:off x="566928" y="3886200"/>
            <a:ext cx="548640" cy="548640"/>
          </a:xfrm>
          <a:prstGeom prst="oval">
            <a:avLst/>
          </a:prstGeom>
          <a:solidFill>
            <a:srgbClr val="E11D6B"/>
          </a:solidFill>
          <a:ln/>
        </p:spPr>
      </p:sp>
      <p:sp>
        <p:nvSpPr>
          <p:cNvPr id="17" name="Text 15"/>
          <p:cNvSpPr/>
          <p:nvPr/>
        </p:nvSpPr>
        <p:spPr>
          <a:xfrm>
            <a:off x="566928" y="3886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325880" y="379476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Augmentacja + generacja</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Fragmenty + pytanie → prompt → odpowiedź z cytatami.</a:t>
            </a:r>
            <a:endParaRPr lang="en-US" sz="1500" dirty="0"/>
          </a:p>
        </p:txBody>
      </p:sp>
      <p:sp>
        <p:nvSpPr>
          <p:cNvPr id="19" name="Text 17"/>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KROK 1</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Ładowanie i preprocessing dokumentów</a:t>
            </a:r>
            <a:endParaRPr lang="en-US" sz="3000" dirty="0"/>
          </a:p>
        </p:txBody>
      </p:sp>
      <p:sp>
        <p:nvSpPr>
          <p:cNvPr id="4" name="Shape 2"/>
          <p:cNvSpPr/>
          <p:nvPr/>
        </p:nvSpPr>
        <p:spPr>
          <a:xfrm>
            <a:off x="566928" y="1824228"/>
            <a:ext cx="603504" cy="603504"/>
          </a:xfrm>
          <a:prstGeom prst="roundRect">
            <a:avLst>
              <a:gd name="adj" fmla="val 18182"/>
            </a:avLst>
          </a:prstGeom>
          <a:solidFill>
            <a:srgbClr val="EEF2FF"/>
          </a:solidFill>
          <a:ln/>
        </p:spPr>
      </p:sp>
      <p:pic>
        <p:nvPicPr>
          <p:cNvPr id="5" name="Image 0" descr="preencoded.png">    </p:cNvPr>
          <p:cNvPicPr>
            <a:picLocks noChangeAspect="1"/>
          </p:cNvPicPr>
          <p:nvPr/>
        </p:nvPicPr>
        <p:blipFill>
          <a:blip r:embed="rId1"/>
          <a:stretch>
            <a:fillRect/>
          </a:stretch>
        </p:blipFill>
        <p:spPr>
          <a:xfrm>
            <a:off x="699699" y="1956999"/>
            <a:ext cx="337962" cy="337962"/>
          </a:xfrm>
          <a:prstGeom prst="rect">
            <a:avLst/>
          </a:prstGeom>
        </p:spPr>
      </p:pic>
      <p:sp>
        <p:nvSpPr>
          <p:cNvPr id="6" name="Text 3"/>
          <p:cNvSpPr/>
          <p:nvPr/>
        </p:nvSpPr>
        <p:spPr>
          <a:xfrm>
            <a:off x="1371600" y="164592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Loadery</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PDF, DOCX, HTML, strony www, bazy — ujednolicenie do czystego tekstu.</a:t>
            </a:r>
            <a:endParaRPr lang="en-US" sz="1550" dirty="0"/>
          </a:p>
        </p:txBody>
      </p:sp>
      <p:sp>
        <p:nvSpPr>
          <p:cNvPr id="7" name="Shape 4"/>
          <p:cNvSpPr/>
          <p:nvPr/>
        </p:nvSpPr>
        <p:spPr>
          <a:xfrm>
            <a:off x="566928" y="2784348"/>
            <a:ext cx="603504" cy="603504"/>
          </a:xfrm>
          <a:prstGeom prst="roundRect">
            <a:avLst>
              <a:gd name="adj" fmla="val 18182"/>
            </a:avLst>
          </a:prstGeom>
          <a:solidFill>
            <a:srgbClr val="E6FBF7"/>
          </a:solidFill>
          <a:ln/>
        </p:spPr>
      </p:sp>
      <p:pic>
        <p:nvPicPr>
          <p:cNvPr id="8" name="Image 1" descr="preencoded.png">    </p:cNvPr>
          <p:cNvPicPr>
            <a:picLocks noChangeAspect="1"/>
          </p:cNvPicPr>
          <p:nvPr/>
        </p:nvPicPr>
        <p:blipFill>
          <a:blip r:embed="rId2"/>
          <a:stretch>
            <a:fillRect/>
          </a:stretch>
        </p:blipFill>
        <p:spPr>
          <a:xfrm>
            <a:off x="699699" y="2917119"/>
            <a:ext cx="337962" cy="337962"/>
          </a:xfrm>
          <a:prstGeom prst="rect">
            <a:avLst/>
          </a:prstGeom>
        </p:spPr>
      </p:pic>
      <p:sp>
        <p:nvSpPr>
          <p:cNvPr id="9" name="Text 5"/>
          <p:cNvSpPr/>
          <p:nvPr/>
        </p:nvSpPr>
        <p:spPr>
          <a:xfrm>
            <a:off x="1371600" y="260604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Czyszczenie</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Usuwanie szumu (nagłówki, stopki), normalizacja, zachowanie struktury.</a:t>
            </a:r>
            <a:endParaRPr lang="en-US" sz="1550" dirty="0"/>
          </a:p>
        </p:txBody>
      </p:sp>
      <p:sp>
        <p:nvSpPr>
          <p:cNvPr id="10" name="Shape 6"/>
          <p:cNvSpPr/>
          <p:nvPr/>
        </p:nvSpPr>
        <p:spPr>
          <a:xfrm>
            <a:off x="566928" y="3744468"/>
            <a:ext cx="603504" cy="603504"/>
          </a:xfrm>
          <a:prstGeom prst="roundRect">
            <a:avLst>
              <a:gd name="adj" fmla="val 18182"/>
            </a:avLst>
          </a:prstGeom>
          <a:solidFill>
            <a:srgbClr val="FEF3E2"/>
          </a:solidFill>
          <a:ln/>
        </p:spPr>
      </p:sp>
      <p:pic>
        <p:nvPicPr>
          <p:cNvPr id="11" name="Image 2" descr="preencoded.png">    </p:cNvPr>
          <p:cNvPicPr>
            <a:picLocks noChangeAspect="1"/>
          </p:cNvPicPr>
          <p:nvPr/>
        </p:nvPicPr>
        <p:blipFill>
          <a:blip r:embed="rId3"/>
          <a:stretch>
            <a:fillRect/>
          </a:stretch>
        </p:blipFill>
        <p:spPr>
          <a:xfrm>
            <a:off x="699699" y="3877239"/>
            <a:ext cx="337962" cy="337962"/>
          </a:xfrm>
          <a:prstGeom prst="rect">
            <a:avLst/>
          </a:prstGeom>
        </p:spPr>
      </p:pic>
      <p:sp>
        <p:nvSpPr>
          <p:cNvPr id="12" name="Text 7"/>
          <p:cNvSpPr/>
          <p:nvPr/>
        </p:nvSpPr>
        <p:spPr>
          <a:xfrm>
            <a:off x="1371600" y="3566160"/>
            <a:ext cx="7315200" cy="96012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Metadane</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Źródło, data, sekcja, uprawnienia — kluczowe dla filtrowania i cytowania.</a:t>
            </a:r>
            <a:endParaRPr lang="en-US" sz="1550" dirty="0"/>
          </a:p>
        </p:txBody>
      </p:sp>
      <p:sp>
        <p:nvSpPr>
          <p:cNvPr id="13"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KROK 2</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Text splitting — strategie chunkowania</a:t>
            </a:r>
            <a:endParaRPr lang="en-US" sz="3000" dirty="0"/>
          </a:p>
        </p:txBody>
      </p:sp>
      <p:sp>
        <p:nvSpPr>
          <p:cNvPr id="4" name="Shape 2"/>
          <p:cNvSpPr/>
          <p:nvPr/>
        </p:nvSpPr>
        <p:spPr>
          <a:xfrm>
            <a:off x="56692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566928" y="1645920"/>
            <a:ext cx="3977640" cy="640080"/>
          </a:xfrm>
          <a:prstGeom prst="roundRect">
            <a:avLst>
              <a:gd name="adj" fmla="val 14286"/>
            </a:avLst>
          </a:prstGeom>
          <a:solidFill>
            <a:srgbClr val="4F46E5"/>
          </a:solidFill>
          <a:ln/>
        </p:spPr>
      </p:sp>
      <p:sp>
        <p:nvSpPr>
          <p:cNvPr id="6" name="Shape 4"/>
          <p:cNvSpPr/>
          <p:nvPr/>
        </p:nvSpPr>
        <p:spPr>
          <a:xfrm>
            <a:off x="566928" y="1965960"/>
            <a:ext cx="3977640" cy="320040"/>
          </a:xfrm>
          <a:prstGeom prst="rect">
            <a:avLst/>
          </a:prstGeom>
          <a:solidFill>
            <a:srgbClr val="4F46E5"/>
          </a:solidFill>
          <a:ln/>
        </p:spPr>
      </p:sp>
      <p:sp>
        <p:nvSpPr>
          <p:cNvPr id="7" name="Text 5"/>
          <p:cNvSpPr/>
          <p:nvPr/>
        </p:nvSpPr>
        <p:spPr>
          <a:xfrm>
            <a:off x="74980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Recursive (znakowy)</a:t>
            </a:r>
            <a:endParaRPr lang="en-US" sz="1600" dirty="0"/>
          </a:p>
        </p:txBody>
      </p:sp>
      <p:sp>
        <p:nvSpPr>
          <p:cNvPr id="8" name="Text 6"/>
          <p:cNvSpPr/>
          <p:nvPr/>
        </p:nvSpPr>
        <p:spPr>
          <a:xfrm>
            <a:off x="76809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Dzieli po akapitach, zdaniach, słowach</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Stały rozmiar + zakładka (overlap)</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Prosty, szybki, dobry domyślny wybór</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Może rozciąć myśl w pół zdania</a:t>
            </a:r>
            <a:endParaRPr lang="en-US" sz="1250" dirty="0"/>
          </a:p>
        </p:txBody>
      </p:sp>
      <p:sp>
        <p:nvSpPr>
          <p:cNvPr id="9" name="Shape 7"/>
          <p:cNvSpPr/>
          <p:nvPr/>
        </p:nvSpPr>
        <p:spPr>
          <a:xfrm>
            <a:off x="481888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10" name="Shape 8"/>
          <p:cNvSpPr/>
          <p:nvPr/>
        </p:nvSpPr>
        <p:spPr>
          <a:xfrm>
            <a:off x="4818888" y="1645920"/>
            <a:ext cx="3977640" cy="640080"/>
          </a:xfrm>
          <a:prstGeom prst="roundRect">
            <a:avLst>
              <a:gd name="adj" fmla="val 14286"/>
            </a:avLst>
          </a:prstGeom>
          <a:solidFill>
            <a:srgbClr val="14B8A6"/>
          </a:solidFill>
          <a:ln/>
        </p:spPr>
      </p:sp>
      <p:sp>
        <p:nvSpPr>
          <p:cNvPr id="11" name="Shape 9"/>
          <p:cNvSpPr/>
          <p:nvPr/>
        </p:nvSpPr>
        <p:spPr>
          <a:xfrm>
            <a:off x="4818888" y="1965960"/>
            <a:ext cx="3977640" cy="320040"/>
          </a:xfrm>
          <a:prstGeom prst="rect">
            <a:avLst/>
          </a:prstGeom>
          <a:solidFill>
            <a:srgbClr val="14B8A6"/>
          </a:solidFill>
          <a:ln/>
        </p:spPr>
      </p:sp>
      <p:sp>
        <p:nvSpPr>
          <p:cNvPr id="12" name="Text 10"/>
          <p:cNvSpPr/>
          <p:nvPr/>
        </p:nvSpPr>
        <p:spPr>
          <a:xfrm>
            <a:off x="500176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Semantic (znaczeniowy)</a:t>
            </a:r>
            <a:endParaRPr lang="en-US" sz="1600" dirty="0"/>
          </a:p>
        </p:txBody>
      </p:sp>
      <p:sp>
        <p:nvSpPr>
          <p:cNvPr id="13" name="Text 11"/>
          <p:cNvSpPr/>
          <p:nvPr/>
        </p:nvSpPr>
        <p:spPr>
          <a:xfrm>
            <a:off x="502005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Dzieli tam, gdzie zmienia się temat</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Granice na podstawie embeddingów</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Spójniejsze fragmenty, lepszy retrieval</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Wolniejszy i droższy w indeksacji</a:t>
            </a:r>
            <a:endParaRPr lang="en-US" sz="1250" dirty="0"/>
          </a:p>
        </p:txBody>
      </p:sp>
      <p:sp>
        <p:nvSpPr>
          <p:cNvPr id="14"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KROK 3</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Embeddingi — semantyka jako wektory</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Embedding zamienia tekst w wektor tak, że bliskość = podobieństwo znaczeniowe.</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„Pies" i „szczeniak" leżą blisko; „pies" i „faktura" — daleko.</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Ten sam model embeddingowy musi indeksować i odpytywać — inaczej wektory nie pasują.</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Wymiar wektora i jakość modelu wpływają na trafność i koszt.</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Dla polszczyzny: wybieraj modele dobrze wspierające język polski / wielojęzyczne.</a:t>
            </a:r>
            <a:endParaRPr lang="en-US" sz="1450" dirty="0"/>
          </a:p>
        </p:txBody>
      </p:sp>
      <p:sp>
        <p:nvSpPr>
          <p:cNvPr id="5" name="Shape 3"/>
          <p:cNvSpPr/>
          <p:nvPr/>
        </p:nvSpPr>
        <p:spPr>
          <a:xfrm>
            <a:off x="5989320" y="1627632"/>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Wektor</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Znaczenie</a:t>
            </a:r>
            <a:endParaRPr lang="en-US" sz="1250" dirty="0"/>
          </a:p>
        </p:txBody>
      </p:sp>
      <p:sp>
        <p:nvSpPr>
          <p:cNvPr id="9" name="Shape 6"/>
          <p:cNvSpPr/>
          <p:nvPr/>
        </p:nvSpPr>
        <p:spPr>
          <a:xfrm>
            <a:off x="5989320" y="2752344"/>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Dystans</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Podobieństwo</a:t>
            </a:r>
            <a:endParaRPr lang="en-US" sz="1250" dirty="0"/>
          </a:p>
        </p:txBody>
      </p:sp>
      <p:sp>
        <p:nvSpPr>
          <p:cNvPr id="13" name="Shape 9"/>
          <p:cNvSpPr/>
          <p:nvPr/>
        </p:nvSpPr>
        <p:spPr>
          <a:xfrm>
            <a:off x="5989320" y="3877056"/>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Polski</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Wybór modelu</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KROK 4</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Bazy wektorowe: ChromaDB i FAISS</a:t>
            </a:r>
            <a:endParaRPr lang="en-US" sz="3000" dirty="0"/>
          </a:p>
        </p:txBody>
      </p:sp>
      <p:sp>
        <p:nvSpPr>
          <p:cNvPr id="4" name="Shape 2"/>
          <p:cNvSpPr/>
          <p:nvPr/>
        </p:nvSpPr>
        <p:spPr>
          <a:xfrm>
            <a:off x="56692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566928" y="1645920"/>
            <a:ext cx="3977640" cy="640080"/>
          </a:xfrm>
          <a:prstGeom prst="roundRect">
            <a:avLst>
              <a:gd name="adj" fmla="val 14286"/>
            </a:avLst>
          </a:prstGeom>
          <a:solidFill>
            <a:srgbClr val="4F46E5"/>
          </a:solidFill>
          <a:ln/>
        </p:spPr>
      </p:sp>
      <p:sp>
        <p:nvSpPr>
          <p:cNvPr id="6" name="Shape 4"/>
          <p:cNvSpPr/>
          <p:nvPr/>
        </p:nvSpPr>
        <p:spPr>
          <a:xfrm>
            <a:off x="566928" y="1965960"/>
            <a:ext cx="3977640" cy="320040"/>
          </a:xfrm>
          <a:prstGeom prst="rect">
            <a:avLst/>
          </a:prstGeom>
          <a:solidFill>
            <a:srgbClr val="4F46E5"/>
          </a:solidFill>
          <a:ln/>
        </p:spPr>
      </p:sp>
      <p:sp>
        <p:nvSpPr>
          <p:cNvPr id="7" name="Text 5"/>
          <p:cNvSpPr/>
          <p:nvPr/>
        </p:nvSpPr>
        <p:spPr>
          <a:xfrm>
            <a:off x="74980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ChromaDB</a:t>
            </a:r>
            <a:endParaRPr lang="en-US" sz="1600" dirty="0"/>
          </a:p>
        </p:txBody>
      </p:sp>
      <p:sp>
        <p:nvSpPr>
          <p:cNvPr id="8" name="Text 6"/>
          <p:cNvSpPr/>
          <p:nvPr/>
        </p:nvSpPr>
        <p:spPr>
          <a:xfrm>
            <a:off x="76809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Łatwy start, API w Pythonie</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Metadane i filtrowanie z pudełka</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Świetne na development i średnią skalę</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Persistencja na dysku</a:t>
            </a:r>
            <a:endParaRPr lang="en-US" sz="1250" dirty="0"/>
          </a:p>
        </p:txBody>
      </p:sp>
      <p:sp>
        <p:nvSpPr>
          <p:cNvPr id="9" name="Shape 7"/>
          <p:cNvSpPr/>
          <p:nvPr/>
        </p:nvSpPr>
        <p:spPr>
          <a:xfrm>
            <a:off x="481888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10" name="Shape 8"/>
          <p:cNvSpPr/>
          <p:nvPr/>
        </p:nvSpPr>
        <p:spPr>
          <a:xfrm>
            <a:off x="4818888" y="1645920"/>
            <a:ext cx="3977640" cy="640080"/>
          </a:xfrm>
          <a:prstGeom prst="roundRect">
            <a:avLst>
              <a:gd name="adj" fmla="val 14286"/>
            </a:avLst>
          </a:prstGeom>
          <a:solidFill>
            <a:srgbClr val="14B8A6"/>
          </a:solidFill>
          <a:ln/>
        </p:spPr>
      </p:sp>
      <p:sp>
        <p:nvSpPr>
          <p:cNvPr id="11" name="Shape 9"/>
          <p:cNvSpPr/>
          <p:nvPr/>
        </p:nvSpPr>
        <p:spPr>
          <a:xfrm>
            <a:off x="4818888" y="1965960"/>
            <a:ext cx="3977640" cy="320040"/>
          </a:xfrm>
          <a:prstGeom prst="rect">
            <a:avLst/>
          </a:prstGeom>
          <a:solidFill>
            <a:srgbClr val="14B8A6"/>
          </a:solidFill>
          <a:ln/>
        </p:spPr>
      </p:sp>
      <p:sp>
        <p:nvSpPr>
          <p:cNvPr id="12" name="Text 10"/>
          <p:cNvSpPr/>
          <p:nvPr/>
        </p:nvSpPr>
        <p:spPr>
          <a:xfrm>
            <a:off x="500176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FAISS</a:t>
            </a:r>
            <a:endParaRPr lang="en-US" sz="1600" dirty="0"/>
          </a:p>
        </p:txBody>
      </p:sp>
      <p:sp>
        <p:nvSpPr>
          <p:cNvPr id="13" name="Text 11"/>
          <p:cNvSpPr/>
          <p:nvPr/>
        </p:nvSpPr>
        <p:spPr>
          <a:xfrm>
            <a:off x="502005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Biblioteka indeksów od Meta</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Bardzo szybkie wyszukiwanie ANN</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Lekkie, in-memory, ogromna skala</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Mniej „bazodanowych" wygód</a:t>
            </a:r>
            <a:endParaRPr lang="en-US" sz="1250" dirty="0"/>
          </a:p>
        </p:txBody>
      </p:sp>
      <p:sp>
        <p:nvSpPr>
          <p:cNvPr id="14"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PEŁNY PIPELINE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RAG od zera w kilkunastu linijkach</a:t>
            </a:r>
            <a:endParaRPr lang="en-US" sz="3000" dirty="0"/>
          </a:p>
        </p:txBody>
      </p:sp>
      <p:sp>
        <p:nvSpPr>
          <p:cNvPr id="4" name="Shape 2"/>
          <p:cNvSpPr/>
          <p:nvPr/>
        </p:nvSpPr>
        <p:spPr>
          <a:xfrm>
            <a:off x="566928" y="1627632"/>
            <a:ext cx="8046720" cy="2747772"/>
          </a:xfrm>
          <a:prstGeom prst="roundRect">
            <a:avLst>
              <a:gd name="adj" fmla="val 1997"/>
            </a:avLst>
          </a:prstGeom>
          <a:solidFill>
            <a:srgbClr val="0E0D24"/>
          </a:solidFill>
          <a:ln/>
          <a:effectLst>
            <a:outerShdw sx="100000" sy="100000" kx="0" ky="0" algn="bl" rotWithShape="0" blurRad="101600" dist="38100" dir="5400000">
              <a:srgbClr val="000000">
                <a:alpha val="20000"/>
              </a:srgbClr>
            </a:outerShdw>
          </a:effectLst>
        </p:spPr>
      </p:sp>
      <p:sp>
        <p:nvSpPr>
          <p:cNvPr id="5" name="Text 3"/>
          <p:cNvSpPr/>
          <p:nvPr/>
        </p:nvSpPr>
        <p:spPr>
          <a:xfrm>
            <a:off x="704088" y="1700784"/>
            <a:ext cx="777240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6" name="Text 4"/>
          <p:cNvSpPr/>
          <p:nvPr/>
        </p:nvSpPr>
        <p:spPr>
          <a:xfrm>
            <a:off x="768096" y="1920240"/>
            <a:ext cx="7680960" cy="2363724"/>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langchain_chroma import Chroma</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langchain_openai import OpenAIEmbeddings, ChatOpenAI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langchain_text_splitters import RecursiveCharacterTextSplitter</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chunks = RecursiveCharacterTextSplitter(</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chunk_size=800, chunk_overlap=120).split_documents(docs)</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db = Chroma.from_documents(chunks, OpenAIEmbeddings())</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retriever = db.as_retriever(search_kwargs={"k": 4})</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kontekst = retriever.invoke(pytanie)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prompt = f"Na podstawie:\n{kontekst}\n\nPytanie: {pytanie}"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odp = ChatOpenAI(model="gpt-4...").invoke(prompt)</a:t>
            </a:r>
            <a:endParaRPr lang="en-US" sz="1050" dirty="0"/>
          </a:p>
        </p:txBody>
      </p:sp>
      <p:sp>
        <p:nvSpPr>
          <p:cNvPr id="7" name="Shape 5"/>
          <p:cNvSpPr/>
          <p:nvPr/>
        </p:nvSpPr>
        <p:spPr>
          <a:xfrm>
            <a:off x="566928" y="4521708"/>
            <a:ext cx="8046720" cy="566928"/>
          </a:xfrm>
          <a:prstGeom prst="roundRect">
            <a:avLst>
              <a:gd name="adj" fmla="val 9677"/>
            </a:avLst>
          </a:prstGeom>
          <a:solidFill>
            <a:srgbClr val="E6FBF7"/>
          </a:solidFill>
          <a:ln/>
        </p:spPr>
      </p:sp>
      <p:sp>
        <p:nvSpPr>
          <p:cNvPr id="8" name="Text 6"/>
          <p:cNvSpPr/>
          <p:nvPr/>
        </p:nvSpPr>
        <p:spPr>
          <a:xfrm>
            <a:off x="731520" y="4521708"/>
            <a:ext cx="771753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Cały RAG: podziel → osadź → wyszukaj → doklej do promptu → wygeneruj.</a:t>
            </a:r>
            <a:endParaRPr lang="en-US" sz="1150" dirty="0"/>
          </a:p>
        </p:txBody>
      </p:sp>
      <p:sp>
        <p:nvSpPr>
          <p:cNvPr id="9" name="Text 7"/>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E11D6B"/>
                </a:solidFill>
                <a:latin typeface="Calibri" pitchFamily="34" charset="0"/>
                <a:ea typeface="Calibri" pitchFamily="34" charset="-122"/>
                <a:cs typeface="Calibri" pitchFamily="34" charset="-120"/>
              </a:rPr>
              <a:t>RAG ZAAWANSOWANY</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Naiwny RAG zawodzi — i wiadomo dlaczego</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Wyszukiwanie wektorowe gubi dopasowania dokładne — numery umów, kody błędów, nazwy własne.</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Pojedyncze zapytanie użytkownika bywa źle sformułowane lub zbyt ogólne.</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Top-k zwraca fragmenty „podobne", ale niekoniecznie te najtrafniejsze dla pytania.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Brak filtrowania po metadanych — model dostaje fragmenty z nie tych dokumentów lub okresów.</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Brak ewaluacji — nie wiadomo, czy odpowiedź wynika z kontekstu, czy z halucynacji.</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Hybrid search</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Wektory + słowa</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Reranking</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Lepsza kolejność</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Metadane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Zawęź zakres</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HYBRID SEARCH</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Wyszukiwanie hybrydowe: wektory + słowa kluczowe</a:t>
            </a:r>
            <a:endParaRPr lang="en-US" sz="3000" dirty="0"/>
          </a:p>
        </p:txBody>
      </p:sp>
      <p:sp>
        <p:nvSpPr>
          <p:cNvPr id="4" name="Shape 2"/>
          <p:cNvSpPr/>
          <p:nvPr/>
        </p:nvSpPr>
        <p:spPr>
          <a:xfrm>
            <a:off x="56692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566928" y="1645920"/>
            <a:ext cx="3977640" cy="640080"/>
          </a:xfrm>
          <a:prstGeom prst="roundRect">
            <a:avLst>
              <a:gd name="adj" fmla="val 14286"/>
            </a:avLst>
          </a:prstGeom>
          <a:solidFill>
            <a:srgbClr val="4F46E5"/>
          </a:solidFill>
          <a:ln/>
        </p:spPr>
      </p:sp>
      <p:sp>
        <p:nvSpPr>
          <p:cNvPr id="6" name="Shape 4"/>
          <p:cNvSpPr/>
          <p:nvPr/>
        </p:nvSpPr>
        <p:spPr>
          <a:xfrm>
            <a:off x="566928" y="1965960"/>
            <a:ext cx="3977640" cy="320040"/>
          </a:xfrm>
          <a:prstGeom prst="rect">
            <a:avLst/>
          </a:prstGeom>
          <a:solidFill>
            <a:srgbClr val="4F46E5"/>
          </a:solidFill>
          <a:ln/>
        </p:spPr>
      </p:sp>
      <p:sp>
        <p:nvSpPr>
          <p:cNvPr id="7" name="Text 5"/>
          <p:cNvSpPr/>
          <p:nvPr/>
        </p:nvSpPr>
        <p:spPr>
          <a:xfrm>
            <a:off x="74980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Dense (wektorowe)</a:t>
            </a:r>
            <a:endParaRPr lang="en-US" sz="1600" dirty="0"/>
          </a:p>
        </p:txBody>
      </p:sp>
      <p:sp>
        <p:nvSpPr>
          <p:cNvPr id="8" name="Text 6"/>
          <p:cNvSpPr/>
          <p:nvPr/>
        </p:nvSpPr>
        <p:spPr>
          <a:xfrm>
            <a:off x="76809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Rozumie znaczenie i parafrazy</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Dobre dla pytań opisowych</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Gubi dokładne tokeny i kody</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Embedding = sens, nie litera</a:t>
            </a:r>
            <a:endParaRPr lang="en-US" sz="1250" dirty="0"/>
          </a:p>
        </p:txBody>
      </p:sp>
      <p:sp>
        <p:nvSpPr>
          <p:cNvPr id="9" name="Shape 7"/>
          <p:cNvSpPr/>
          <p:nvPr/>
        </p:nvSpPr>
        <p:spPr>
          <a:xfrm>
            <a:off x="481888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10" name="Shape 8"/>
          <p:cNvSpPr/>
          <p:nvPr/>
        </p:nvSpPr>
        <p:spPr>
          <a:xfrm>
            <a:off x="4818888" y="1645920"/>
            <a:ext cx="3977640" cy="640080"/>
          </a:xfrm>
          <a:prstGeom prst="roundRect">
            <a:avLst>
              <a:gd name="adj" fmla="val 14286"/>
            </a:avLst>
          </a:prstGeom>
          <a:solidFill>
            <a:srgbClr val="14B8A6"/>
          </a:solidFill>
          <a:ln/>
        </p:spPr>
      </p:sp>
      <p:sp>
        <p:nvSpPr>
          <p:cNvPr id="11" name="Shape 9"/>
          <p:cNvSpPr/>
          <p:nvPr/>
        </p:nvSpPr>
        <p:spPr>
          <a:xfrm>
            <a:off x="4818888" y="1965960"/>
            <a:ext cx="3977640" cy="320040"/>
          </a:xfrm>
          <a:prstGeom prst="rect">
            <a:avLst/>
          </a:prstGeom>
          <a:solidFill>
            <a:srgbClr val="14B8A6"/>
          </a:solidFill>
          <a:ln/>
        </p:spPr>
      </p:sp>
      <p:sp>
        <p:nvSpPr>
          <p:cNvPr id="12" name="Text 10"/>
          <p:cNvSpPr/>
          <p:nvPr/>
        </p:nvSpPr>
        <p:spPr>
          <a:xfrm>
            <a:off x="500176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Sparse (BM25 / słowa)</a:t>
            </a:r>
            <a:endParaRPr lang="en-US" sz="1600" dirty="0"/>
          </a:p>
        </p:txBody>
      </p:sp>
      <p:sp>
        <p:nvSpPr>
          <p:cNvPr id="13" name="Text 11"/>
          <p:cNvSpPr/>
          <p:nvPr/>
        </p:nvSpPr>
        <p:spPr>
          <a:xfrm>
            <a:off x="502005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Łapie dokładne dopasowania</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Numery, symbole, nazwy własne</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Nie rozumie synonimów</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Klasyka wyszukiwania pełnotekstowego</a:t>
            </a:r>
            <a:endParaRPr lang="en-US" sz="1250" dirty="0"/>
          </a:p>
        </p:txBody>
      </p:sp>
      <p:sp>
        <p:nvSpPr>
          <p:cNvPr id="14"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RERANKING</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Reranking — druga, dokładniejsza selekcja</a:t>
            </a:r>
            <a:endParaRPr lang="en-US" sz="3000" dirty="0"/>
          </a:p>
        </p:txBody>
      </p:sp>
      <p:sp>
        <p:nvSpPr>
          <p:cNvPr id="4" name="Shape 2"/>
          <p:cNvSpPr/>
          <p:nvPr/>
        </p:nvSpPr>
        <p:spPr>
          <a:xfrm>
            <a:off x="566928" y="1965960"/>
            <a:ext cx="2487168" cy="1828800"/>
          </a:xfrm>
          <a:prstGeom prst="roundRect">
            <a:avLst>
              <a:gd name="adj" fmla="val 5000"/>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1527048" y="2167128"/>
            <a:ext cx="566928" cy="566928"/>
          </a:xfrm>
          <a:prstGeom prst="roundRect">
            <a:avLst>
              <a:gd name="adj" fmla="val 22581"/>
            </a:avLst>
          </a:prstGeom>
          <a:solidFill>
            <a:srgbClr val="4F46E5"/>
          </a:solidFill>
          <a:ln/>
        </p:spPr>
      </p:sp>
      <p:pic>
        <p:nvPicPr>
          <p:cNvPr id="6" name="Image 0" descr="preencoded.png">    </p:cNvPr>
          <p:cNvPicPr>
            <a:picLocks noChangeAspect="1"/>
          </p:cNvPicPr>
          <p:nvPr/>
        </p:nvPicPr>
        <p:blipFill>
          <a:blip r:embed="rId1"/>
          <a:stretch>
            <a:fillRect/>
          </a:stretch>
        </p:blipFill>
        <p:spPr>
          <a:xfrm>
            <a:off x="1651772" y="2291852"/>
            <a:ext cx="317480" cy="317480"/>
          </a:xfrm>
          <a:prstGeom prst="rect">
            <a:avLst/>
          </a:prstGeom>
        </p:spPr>
      </p:pic>
      <p:sp>
        <p:nvSpPr>
          <p:cNvPr id="7" name="Text 4"/>
          <p:cNvSpPr/>
          <p:nvPr/>
        </p:nvSpPr>
        <p:spPr>
          <a:xfrm>
            <a:off x="658368" y="2834640"/>
            <a:ext cx="2304288"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1. Retrieve k=20</a:t>
            </a:r>
            <a:endParaRPr lang="en-US" sz="1250" dirty="0"/>
          </a:p>
        </p:txBody>
      </p:sp>
      <p:sp>
        <p:nvSpPr>
          <p:cNvPr id="8" name="Text 5"/>
          <p:cNvSpPr/>
          <p:nvPr/>
        </p:nvSpPr>
        <p:spPr>
          <a:xfrm>
            <a:off x="676656" y="3209544"/>
            <a:ext cx="2267712"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Szeroko, tanio — bi-encoder</a:t>
            </a:r>
            <a:endParaRPr lang="en-US" sz="950" dirty="0"/>
          </a:p>
        </p:txBody>
      </p:sp>
      <p:sp>
        <p:nvSpPr>
          <p:cNvPr id="9" name="Text 6"/>
          <p:cNvSpPr/>
          <p:nvPr/>
        </p:nvSpPr>
        <p:spPr>
          <a:xfrm>
            <a:off x="3035808"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0" name="Shape 7"/>
          <p:cNvSpPr/>
          <p:nvPr/>
        </p:nvSpPr>
        <p:spPr>
          <a:xfrm>
            <a:off x="3346704" y="1965960"/>
            <a:ext cx="2487168" cy="1828800"/>
          </a:xfrm>
          <a:prstGeom prst="roundRect">
            <a:avLst>
              <a:gd name="adj" fmla="val 5000"/>
            </a:avLst>
          </a:prstGeom>
          <a:solidFill>
            <a:srgbClr val="F4F5FB"/>
          </a:solidFill>
          <a:ln/>
          <a:effectLst>
            <a:outerShdw sx="100000" sy="100000" kx="0" ky="0" algn="bl" rotWithShape="0" blurRad="101600" dist="38100" dir="5400000">
              <a:srgbClr val="000000">
                <a:alpha val="12000"/>
              </a:srgbClr>
            </a:outerShdw>
          </a:effectLst>
        </p:spPr>
      </p:sp>
      <p:sp>
        <p:nvSpPr>
          <p:cNvPr id="11" name="Shape 8"/>
          <p:cNvSpPr/>
          <p:nvPr/>
        </p:nvSpPr>
        <p:spPr>
          <a:xfrm>
            <a:off x="4306824" y="2167128"/>
            <a:ext cx="566928" cy="566928"/>
          </a:xfrm>
          <a:prstGeom prst="roundRect">
            <a:avLst>
              <a:gd name="adj" fmla="val 22581"/>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4431548" y="2291852"/>
            <a:ext cx="317480" cy="317480"/>
          </a:xfrm>
          <a:prstGeom prst="rect">
            <a:avLst/>
          </a:prstGeom>
        </p:spPr>
      </p:pic>
      <p:sp>
        <p:nvSpPr>
          <p:cNvPr id="13" name="Text 9"/>
          <p:cNvSpPr/>
          <p:nvPr/>
        </p:nvSpPr>
        <p:spPr>
          <a:xfrm>
            <a:off x="3438144" y="2834640"/>
            <a:ext cx="2304288"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2. Rerank</a:t>
            </a:r>
            <a:endParaRPr lang="en-US" sz="1250" dirty="0"/>
          </a:p>
        </p:txBody>
      </p:sp>
      <p:sp>
        <p:nvSpPr>
          <p:cNvPr id="14" name="Text 10"/>
          <p:cNvSpPr/>
          <p:nvPr/>
        </p:nvSpPr>
        <p:spPr>
          <a:xfrm>
            <a:off x="3456432" y="3209544"/>
            <a:ext cx="2267712"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Cross-encoder ocenia pary</a:t>
            </a:r>
            <a:endParaRPr lang="en-US" sz="950" dirty="0"/>
          </a:p>
        </p:txBody>
      </p:sp>
      <p:sp>
        <p:nvSpPr>
          <p:cNvPr id="15" name="Text 11"/>
          <p:cNvSpPr/>
          <p:nvPr/>
        </p:nvSpPr>
        <p:spPr>
          <a:xfrm>
            <a:off x="5815584"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6" name="Shape 12"/>
          <p:cNvSpPr/>
          <p:nvPr/>
        </p:nvSpPr>
        <p:spPr>
          <a:xfrm>
            <a:off x="6126480" y="1965960"/>
            <a:ext cx="2487168" cy="1828800"/>
          </a:xfrm>
          <a:prstGeom prst="roundRect">
            <a:avLst>
              <a:gd name="adj" fmla="val 5000"/>
            </a:avLst>
          </a:prstGeom>
          <a:solidFill>
            <a:srgbClr val="F4F5FB"/>
          </a:solidFill>
          <a:ln/>
          <a:effectLst>
            <a:outerShdw sx="100000" sy="100000" kx="0" ky="0" algn="bl" rotWithShape="0" blurRad="101600" dist="38100" dir="5400000">
              <a:srgbClr val="000000">
                <a:alpha val="12000"/>
              </a:srgbClr>
            </a:outerShdw>
          </a:effectLst>
        </p:spPr>
      </p:sp>
      <p:sp>
        <p:nvSpPr>
          <p:cNvPr id="17" name="Shape 13"/>
          <p:cNvSpPr/>
          <p:nvPr/>
        </p:nvSpPr>
        <p:spPr>
          <a:xfrm>
            <a:off x="7086600" y="2167128"/>
            <a:ext cx="566928" cy="566928"/>
          </a:xfrm>
          <a:prstGeom prst="roundRect">
            <a:avLst>
              <a:gd name="adj" fmla="val 22581"/>
            </a:avLst>
          </a:prstGeom>
          <a:solidFill>
            <a:srgbClr val="F59E0B"/>
          </a:solidFill>
          <a:ln/>
        </p:spPr>
      </p:sp>
      <p:pic>
        <p:nvPicPr>
          <p:cNvPr id="18" name="Image 2" descr="preencoded.png">    </p:cNvPr>
          <p:cNvPicPr>
            <a:picLocks noChangeAspect="1"/>
          </p:cNvPicPr>
          <p:nvPr/>
        </p:nvPicPr>
        <p:blipFill>
          <a:blip r:embed="rId3"/>
          <a:stretch>
            <a:fillRect/>
          </a:stretch>
        </p:blipFill>
        <p:spPr>
          <a:xfrm>
            <a:off x="7211324" y="2291852"/>
            <a:ext cx="317480" cy="317480"/>
          </a:xfrm>
          <a:prstGeom prst="rect">
            <a:avLst/>
          </a:prstGeom>
        </p:spPr>
      </p:pic>
      <p:sp>
        <p:nvSpPr>
          <p:cNvPr id="19" name="Text 14"/>
          <p:cNvSpPr/>
          <p:nvPr/>
        </p:nvSpPr>
        <p:spPr>
          <a:xfrm>
            <a:off x="6217920" y="2834640"/>
            <a:ext cx="2304288"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3. Top n=4</a:t>
            </a:r>
            <a:endParaRPr lang="en-US" sz="1250" dirty="0"/>
          </a:p>
        </p:txBody>
      </p:sp>
      <p:sp>
        <p:nvSpPr>
          <p:cNvPr id="20" name="Text 15"/>
          <p:cNvSpPr/>
          <p:nvPr/>
        </p:nvSpPr>
        <p:spPr>
          <a:xfrm>
            <a:off x="6236208" y="3209544"/>
            <a:ext cx="2267712"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Najtrafniejsze do promptu</a:t>
            </a:r>
            <a:endParaRPr lang="en-US" sz="950" dirty="0"/>
          </a:p>
        </p:txBody>
      </p:sp>
      <p:sp>
        <p:nvSpPr>
          <p:cNvPr id="21" name="Text 16"/>
          <p:cNvSpPr/>
          <p:nvPr/>
        </p:nvSpPr>
        <p:spPr>
          <a:xfrm>
            <a:off x="566928" y="4160520"/>
            <a:ext cx="8046720"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Bi-encoder łapie szeroko i tanio; cross-encoder dokładnie ocenia trafność każdej pary pytanie–fragment.</a:t>
            </a:r>
            <a:endParaRPr lang="en-US" sz="1250" dirty="0"/>
          </a:p>
        </p:txBody>
      </p:sp>
      <p:sp>
        <p:nvSpPr>
          <p:cNvPr id="22" name="Text 17"/>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QUERY TRANSFORMATION</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Przekształcanie zapytań — napraw pytanie, zanim wyszukasz</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Multi-query: model generuje 3–4 warianty pytania, wyszukujesz każdym i łączysz wyniki.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HyDE: model pisze hipotetyczną odpowiedź, a Ty wyszukujesz jej embeddingiem (często trafniej).</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Dekompozycja: złożone pytanie rozbij na podpytania i odpowiedz etapami.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Step-back: zadaj pytanie ogólniejsze, by wyciągnąć szerszy kontekst.</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Rewriting: przepisz potoczne zapytanie na precyzyjne, „wyszukiwalne".</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Multi-query</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Kilka wariantów</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HyDE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Hipotetyczna odp.</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Dekompozycja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Podpytania</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METADANE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Filtrowanie po metadanych — zawęź, zanim wyszukasz</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Dołącz metadane przy indeksowaniu</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Źródło, data, dział, typ dokumentu</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Filtr odcina nieistotne fragmenty</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Mniej szumu = trafniejszy kontekst</a:t>
            </a:r>
            <a:endParaRPr lang="en-US" sz="1300" dirty="0"/>
          </a:p>
        </p:txBody>
      </p:sp>
      <p:sp>
        <p:nvSpPr>
          <p:cNvPr id="5" name="Shape 3"/>
          <p:cNvSpPr/>
          <p:nvPr/>
        </p:nvSpPr>
        <p:spPr>
          <a:xfrm>
            <a:off x="4160520" y="1627632"/>
            <a:ext cx="4434840" cy="2935224"/>
          </a:xfrm>
          <a:prstGeom prst="roundRect">
            <a:avLst>
              <a:gd name="adj" fmla="val 1869"/>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7" name="Text 5"/>
          <p:cNvSpPr/>
          <p:nvPr/>
        </p:nvSpPr>
        <p:spPr>
          <a:xfrm>
            <a:off x="4361688" y="1920240"/>
            <a:ext cx="4069080" cy="2551176"/>
          </a:xfrm>
          <a:prstGeom prst="rect">
            <a:avLst/>
          </a:prstGeom>
          <a:noFill/>
          <a:ln/>
        </p:spPr>
        <p:txBody>
          <a:bodyPr wrap="square" lIns="0" tIns="0" rIns="0" bIns="0" rtlCol="0" anchor="t"/>
          <a:lstStyle/>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przy indeksowaniu</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chunk.metadata =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"zrodlo": "regulamin_kont.pdf",</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"dzial": "bankowosc_detaliczna",</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"rok": 2025,</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przy wyszukiwaniu — twardy filtr</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retriever = db.as_retriever(</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search_kwargs={</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"k": 4,</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"filter": {"dzial": "bankowosc_detaliczna",</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"rok": 2025},</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p:txBody>
      </p:sp>
      <p:sp>
        <p:nvSpPr>
          <p:cNvPr id="8" name="Shape 6"/>
          <p:cNvSpPr/>
          <p:nvPr/>
        </p:nvSpPr>
        <p:spPr>
          <a:xfrm>
            <a:off x="4160520" y="4709160"/>
            <a:ext cx="4434840" cy="566928"/>
          </a:xfrm>
          <a:prstGeom prst="roundRect">
            <a:avLst>
              <a:gd name="adj" fmla="val 9677"/>
            </a:avLst>
          </a:prstGeom>
          <a:solidFill>
            <a:srgbClr val="E6FBF7"/>
          </a:solidFill>
          <a:ln/>
        </p:spPr>
      </p:sp>
      <p:sp>
        <p:nvSpPr>
          <p:cNvPr id="9" name="Text 7"/>
          <p:cNvSpPr/>
          <p:nvPr/>
        </p:nvSpPr>
        <p:spPr>
          <a:xfrm>
            <a:off x="4325112" y="4709160"/>
            <a:ext cx="410565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Najtańszy zysk jakości: nie przeszukuj całej bazy, tylko właściwy wycinek.</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EWALUACJA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Jak zmierzyć, czy RAG działa dobrze</a:t>
            </a:r>
            <a:endParaRPr lang="en-US" sz="30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8046720" cy="914400"/>
        </p:xfrm>
        <a:graphic>
          <a:graphicData uri="http://schemas.openxmlformats.org/drawingml/2006/table">
            <a:tbl>
              <a:tblPr/>
              <a:tblGrid>
                <a:gridCol w="2011680"/>
                <a:gridCol w="3200400"/>
                <a:gridCol w="2834640"/>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Metryka</a:t>
                      </a: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 mierzy</a:t>
                      </a: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Pytanie kontrolne</a:t>
                      </a: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Faithfulness</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Czy odpowiedź wynika z kontekstu</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Czy model nie zmyśla?</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Answer relevance</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Czy odpowiedź dotyczy pytania</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Czy odpowiada na to, o co pytano?</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Context precision</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Czy pobrane fragmenty są trafne</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Ile szumu w kontekście?</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Context recall</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Czy pobrano wszystko, co trzeba</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Czy czegoś nie pominięto?</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r>
            </a:tbl>
          </a:graphicData>
        </a:graphic>
      </p:graphicFrame>
      <p:sp>
        <p:nvSpPr>
          <p:cNvPr id="5" name="Text 2"/>
          <p:cNvSpPr/>
          <p:nvPr/>
        </p:nvSpPr>
        <p:spPr>
          <a:xfrm>
            <a:off x="566928" y="4617720"/>
            <a:ext cx="8046720" cy="36576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Narzędzia: RAGAS, LangSmith evals. Zbuduj mały złoty zestaw 20–50 par pytanie–odpowiedź.</a:t>
            </a:r>
            <a:endParaRPr lang="en-US" sz="1050" dirty="0"/>
          </a:p>
        </p:txBody>
      </p:sp>
      <p:sp>
        <p:nvSpPr>
          <p:cNvPr id="6" name="Text 3"/>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840000">
            <a:off x="7680960" y="-1097280"/>
            <a:ext cx="4023360" cy="4023360"/>
          </a:xfrm>
          <a:prstGeom prst="roundRect">
            <a:avLst>
              <a:gd name="adj" fmla="val 11364"/>
            </a:avLst>
          </a:prstGeom>
          <a:solidFill>
            <a:srgbClr val="F59E0B">
              <a:alpha val="10000"/>
            </a:srgbClr>
          </a:solidFill>
          <a:ln/>
        </p:spPr>
      </p:sp>
      <p:sp>
        <p:nvSpPr>
          <p:cNvPr id="3" name="Shape 1"/>
          <p:cNvSpPr/>
          <p:nvPr/>
        </p:nvSpPr>
        <p:spPr>
          <a:xfrm>
            <a:off x="548640" y="566928"/>
            <a:ext cx="822960" cy="822960"/>
          </a:xfrm>
          <a:prstGeom prst="roundRect">
            <a:avLst>
              <a:gd name="adj" fmla="val 20000"/>
            </a:avLst>
          </a:prstGeom>
          <a:solidFill>
            <a:srgbClr val="F59E0B"/>
          </a:solidFill>
          <a:ln/>
        </p:spPr>
      </p:sp>
      <p:pic>
        <p:nvPicPr>
          <p:cNvPr id="4" name="Image 0" descr="preencoded.png">    </p:cNvPr>
          <p:cNvPicPr>
            <a:picLocks noChangeAspect="1"/>
          </p:cNvPicPr>
          <p:nvPr/>
        </p:nvPicPr>
        <p:blipFill>
          <a:blip r:embed="rId1"/>
          <a:stretch>
            <a:fillRect/>
          </a:stretch>
        </p:blipFill>
        <p:spPr>
          <a:xfrm>
            <a:off x="729691" y="747979"/>
            <a:ext cx="460858" cy="460858"/>
          </a:xfrm>
          <a:prstGeom prst="rect">
            <a:avLst/>
          </a:prstGeom>
        </p:spPr>
      </p:pic>
      <p:sp>
        <p:nvSpPr>
          <p:cNvPr id="5" name="Text 2"/>
          <p:cNvSpPr/>
          <p:nvPr/>
        </p:nvSpPr>
        <p:spPr>
          <a:xfrm>
            <a:off x="1554480" y="548640"/>
            <a:ext cx="5486400" cy="411480"/>
          </a:xfrm>
          <a:prstGeom prst="rect">
            <a:avLst/>
          </a:prstGeom>
          <a:noFill/>
          <a:ln/>
        </p:spPr>
        <p:txBody>
          <a:bodyPr wrap="square" lIns="0" tIns="0" rIns="0" bIns="0" rtlCol="0" anchor="ctr"/>
          <a:lstStyle/>
          <a:p>
            <a:pPr indent="0" marL="0">
              <a:buNone/>
            </a:pPr>
            <a:r>
              <a:rPr lang="en-US" sz="1400" b="1" spc="200" kern="0" dirty="0">
                <a:solidFill>
                  <a:srgbClr val="F59E0B"/>
                </a:solidFill>
                <a:latin typeface="Calibri" pitchFamily="34" charset="0"/>
                <a:ea typeface="Calibri" pitchFamily="34" charset="-122"/>
                <a:cs typeface="Calibri" pitchFamily="34" charset="-120"/>
              </a:rPr>
              <a:t>LAB 3</a:t>
            </a:r>
            <a:endParaRPr lang="en-US" sz="1400" dirty="0"/>
          </a:p>
        </p:txBody>
      </p:sp>
      <p:sp>
        <p:nvSpPr>
          <p:cNvPr id="6" name="Text 3"/>
          <p:cNvSpPr/>
          <p:nvPr/>
        </p:nvSpPr>
        <p:spPr>
          <a:xfrm>
            <a:off x="1554480" y="932688"/>
            <a:ext cx="694944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Q&amp;A nad dokumentami (RAG)</a:t>
            </a:r>
            <a:endParaRPr lang="en-US" sz="2400" dirty="0"/>
          </a:p>
        </p:txBody>
      </p:sp>
      <p:sp>
        <p:nvSpPr>
          <p:cNvPr id="7" name="Shape 4"/>
          <p:cNvSpPr/>
          <p:nvPr/>
        </p:nvSpPr>
        <p:spPr>
          <a:xfrm>
            <a:off x="548640" y="1783080"/>
            <a:ext cx="8046720" cy="713232"/>
          </a:xfrm>
          <a:prstGeom prst="roundRect">
            <a:avLst>
              <a:gd name="adj" fmla="val 10256"/>
            </a:avLst>
          </a:prstGeom>
          <a:solidFill>
            <a:srgbClr val="1F1D45"/>
          </a:solidFill>
          <a:ln/>
        </p:spPr>
      </p:sp>
      <p:sp>
        <p:nvSpPr>
          <p:cNvPr id="8" name="Text 5"/>
          <p:cNvSpPr/>
          <p:nvPr/>
        </p:nvSpPr>
        <p:spPr>
          <a:xfrm>
            <a:off x="731520" y="1783080"/>
            <a:ext cx="7680960" cy="713232"/>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Cel:  </a:t>
            </a:r>
            <a:pPr indent="0" marL="0">
              <a:buNone/>
            </a:pPr>
            <a:r>
              <a:rPr lang="en-US" sz="1300" dirty="0">
                <a:solidFill>
                  <a:srgbClr val="FFFFFF"/>
                </a:solidFill>
                <a:latin typeface="Calibri" pitchFamily="34" charset="0"/>
                <a:ea typeface="Calibri" pitchFamily="34" charset="-122"/>
                <a:cs typeface="Calibri" pitchFamily="34" charset="-120"/>
              </a:rPr>
              <a:t>Zbuduj asystenta odpowiadającego na pytania o zestaw dokumentów PDF z cytowaniem źródeł.</a:t>
            </a:r>
            <a:endParaRPr lang="en-US" sz="1300" dirty="0"/>
          </a:p>
        </p:txBody>
      </p:sp>
      <p:sp>
        <p:nvSpPr>
          <p:cNvPr id="9" name="Text 6"/>
          <p:cNvSpPr/>
          <p:nvPr/>
        </p:nvSpPr>
        <p:spPr>
          <a:xfrm>
            <a:off x="566928" y="2670048"/>
            <a:ext cx="7315200" cy="320040"/>
          </a:xfrm>
          <a:prstGeom prst="rect">
            <a:avLst/>
          </a:prstGeom>
          <a:noFill/>
          <a:ln/>
        </p:spPr>
        <p:txBody>
          <a:bodyPr wrap="square" lIns="0" tIns="0" rIns="0" bIns="0"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Zadania:</a:t>
            </a:r>
            <a:endParaRPr lang="en-US" sz="1300" dirty="0"/>
          </a:p>
        </p:txBody>
      </p:sp>
      <p:sp>
        <p:nvSpPr>
          <p:cNvPr id="10" name="Text 7"/>
          <p:cNvSpPr/>
          <p:nvPr/>
        </p:nvSpPr>
        <p:spPr>
          <a:xfrm>
            <a:off x="603504" y="2999232"/>
            <a:ext cx="7955280" cy="1371600"/>
          </a:xfrm>
          <a:prstGeom prst="rect">
            <a:avLst/>
          </a:prstGeom>
          <a:noFill/>
          <a:ln/>
        </p:spPr>
        <p:txBody>
          <a:bodyPr wrap="square" lIns="0" tIns="0" rIns="0" bIns="0" rtlCol="0" anchor="t"/>
          <a:lstStyle/>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Załaduj dokumenty, podziel recursive splitterem, zaindeksuj w ChromaDB.</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Zbuduł retriever (k=4) i prosty łańcuch Q&amp;A z promptem opartym o kontekst.</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Dodaj filtrowanie po metadanych i zwracanie źródeł (nazwa pliku + strona).</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Rozszerzenie: multi-query albo reranking i porównaj jakość odpowiedzi.</a:t>
            </a:r>
            <a:endParaRPr lang="en-US" sz="1250" dirty="0"/>
          </a:p>
        </p:txBody>
      </p:sp>
      <p:sp>
        <p:nvSpPr>
          <p:cNvPr id="11" name="Text 8"/>
          <p:cNvSpPr/>
          <p:nvPr/>
        </p:nvSpPr>
        <p:spPr>
          <a:xfrm>
            <a:off x="566928" y="4526280"/>
            <a:ext cx="8046720" cy="457200"/>
          </a:xfrm>
          <a:prstGeom prst="rect">
            <a:avLst/>
          </a:prstGeom>
          <a:noFill/>
          <a:ln/>
        </p:spPr>
        <p:txBody>
          <a:bodyPr wrap="square" lIns="0" tIns="0" rIns="0" bIns="0" rtlCol="0" anchor="ctr"/>
          <a:lstStyle/>
          <a:p>
            <a:pPr indent="0" marL="0">
              <a:buNone/>
            </a:pPr>
            <a:r>
              <a:rPr lang="en-US" sz="1150" dirty="0">
                <a:solidFill>
                  <a:srgbClr val="14B8A6"/>
                </a:solidFill>
                <a:latin typeface="Courier New" pitchFamily="34" charset="0"/>
                <a:ea typeface="Courier New" pitchFamily="34" charset="-122"/>
                <a:cs typeface="Courier New" pitchFamily="34" charset="-120"/>
              </a:rPr>
              <a:t>📁 labs/03-rag/</a:t>
            </a:r>
            <a:endParaRPr lang="en-US" sz="1150" dirty="0"/>
          </a:p>
          <a:p>
            <a:pPr indent="0" marL="0">
              <a:buNone/>
            </a:pPr>
            <a:r>
              <a:rPr lang="en-US" sz="1150" dirty="0">
                <a:solidFill>
                  <a:srgbClr val="F59E0B"/>
                </a:solidFill>
                <a:latin typeface="Courier New" pitchFamily="34" charset="0"/>
                <a:ea typeface="Courier New" pitchFamily="34" charset="-122"/>
                <a:cs typeface="Courier New" pitchFamily="34" charset="-120"/>
              </a:rPr>
              <a:t>⏱ ok. 45–55 min</a:t>
            </a:r>
            <a:endParaRPr lang="en-US" sz="11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960000">
            <a:off x="7498080" y="-1188720"/>
            <a:ext cx="4206240" cy="4206240"/>
          </a:xfrm>
          <a:prstGeom prst="roundRect">
            <a:avLst>
              <a:gd name="adj" fmla="val 10870"/>
            </a:avLst>
          </a:prstGeom>
          <a:solidFill>
            <a:srgbClr val="14B8A6">
              <a:alpha val="12000"/>
            </a:srgbClr>
          </a:solidFill>
          <a:ln/>
        </p:spPr>
      </p:sp>
      <p:sp>
        <p:nvSpPr>
          <p:cNvPr id="3" name="Shape 1"/>
          <p:cNvSpPr/>
          <p:nvPr/>
        </p:nvSpPr>
        <p:spPr>
          <a:xfrm>
            <a:off x="548640" y="1371600"/>
            <a:ext cx="914400" cy="914400"/>
          </a:xfrm>
          <a:prstGeom prst="roundRect">
            <a:avLst>
              <a:gd name="adj" fmla="val 20000"/>
            </a:avLst>
          </a:prstGeom>
          <a:solidFill>
            <a:srgbClr val="14B8A6"/>
          </a:solidFill>
          <a:ln/>
        </p:spPr>
      </p:sp>
      <p:pic>
        <p:nvPicPr>
          <p:cNvPr id="4" name="Image 0" descr="preencoded.png">    </p:cNvPr>
          <p:cNvPicPr>
            <a:picLocks noChangeAspect="1"/>
          </p:cNvPicPr>
          <p:nvPr/>
        </p:nvPicPr>
        <p:blipFill>
          <a:blip r:embed="rId1"/>
          <a:stretch>
            <a:fillRect/>
          </a:stretch>
        </p:blipFill>
        <p:spPr>
          <a:xfrm>
            <a:off x="749808" y="1572768"/>
            <a:ext cx="512064" cy="512064"/>
          </a:xfrm>
          <a:prstGeom prst="rect">
            <a:avLst/>
          </a:prstGeom>
        </p:spPr>
      </p:pic>
      <p:sp>
        <p:nvSpPr>
          <p:cNvPr id="5" name="Text 2"/>
          <p:cNvSpPr/>
          <p:nvPr/>
        </p:nvSpPr>
        <p:spPr>
          <a:xfrm>
            <a:off x="566928" y="640080"/>
            <a:ext cx="7315200" cy="365760"/>
          </a:xfrm>
          <a:prstGeom prst="rect">
            <a:avLst/>
          </a:prstGeom>
          <a:noFill/>
          <a:ln/>
        </p:spPr>
        <p:txBody>
          <a:bodyPr wrap="square" lIns="0" tIns="0" rIns="0" bIns="0"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DZIEŃ 2</a:t>
            </a:r>
            <a:endParaRPr lang="en-US" sz="1300" dirty="0"/>
          </a:p>
        </p:txBody>
      </p:sp>
      <p:sp>
        <p:nvSpPr>
          <p:cNvPr id="6" name="Text 3"/>
          <p:cNvSpPr/>
          <p:nvPr/>
        </p:nvSpPr>
        <p:spPr>
          <a:xfrm>
            <a:off x="548640" y="2514600"/>
            <a:ext cx="8229600" cy="1188720"/>
          </a:xfrm>
          <a:prstGeom prst="rect">
            <a:avLst/>
          </a:prstGeom>
          <a:noFill/>
          <a:ln/>
        </p:spPr>
        <p:txBody>
          <a:bodyPr wrap="square" lIns="0" tIns="0" rIns="0" bIns="0" rtlCol="0" anchor="ctr"/>
          <a:lstStyle/>
          <a:p>
            <a:pPr indent="0" marL="0">
              <a:lnSpc>
                <a:spcPct val="98000"/>
              </a:lnSpc>
              <a:buNone/>
            </a:pPr>
            <a:r>
              <a:rPr lang="en-US" sz="3300" b="1" dirty="0">
                <a:solidFill>
                  <a:srgbClr val="14B8A6"/>
                </a:solidFill>
                <a:latin typeface="Cambria" pitchFamily="34" charset="0"/>
                <a:ea typeface="Cambria" pitchFamily="34" charset="-122"/>
                <a:cs typeface="Cambria" pitchFamily="34" charset="-120"/>
              </a:rPr>
              <a:t>Sekcja 4  </a:t>
            </a:r>
            <a:pPr indent="0" marL="0">
              <a:lnSpc>
                <a:spcPct val="98000"/>
              </a:lnSpc>
              <a:buNone/>
            </a:pPr>
            <a:r>
              <a:rPr lang="en-US" sz="3300" b="1" dirty="0">
                <a:solidFill>
                  <a:srgbClr val="FFFFFF"/>
                </a:solidFill>
                <a:latin typeface="Cambria" pitchFamily="34" charset="0"/>
                <a:ea typeface="Cambria" pitchFamily="34" charset="-122"/>
                <a:cs typeface="Cambria" pitchFamily="34" charset="-120"/>
              </a:rPr>
              <a:t>AI Agents w LangChain i LangGraph</a:t>
            </a:r>
            <a:endParaRPr lang="en-US" sz="3300" dirty="0"/>
          </a:p>
        </p:txBody>
      </p:sp>
      <p:sp>
        <p:nvSpPr>
          <p:cNvPr id="7" name="Text 4"/>
          <p:cNvSpPr/>
          <p:nvPr/>
        </p:nvSpPr>
        <p:spPr>
          <a:xfrm>
            <a:off x="585216" y="3794760"/>
            <a:ext cx="8229600" cy="1097280"/>
          </a:xfrm>
          <a:prstGeom prst="rect">
            <a:avLst/>
          </a:prstGeom>
          <a:noFill/>
          <a:ln/>
        </p:spPr>
        <p:txBody>
          <a:bodyPr wrap="square" lIns="0" tIns="0" rIns="0" bIns="0" rtlCol="0" anchor="ctr"/>
          <a:lstStyle/>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Agent vs chain vs workflow, ReAct</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Narzędzia, LangGraph, pamięć</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Multi-agent, human-in-the-loop, produkcja</a:t>
            </a:r>
            <a:endParaRPr lang="en-US" sz="13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DEFINICJA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Czym właściwie jest agent</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Agent = LLM, który w pętli decyduje o kolejnym działaniu, aż osiągnie cel.</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Ma dostęp do narzędzi i sam wybiera, które i kiedy wywołać.</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Obserwuje wynik narzędzia i na tej podstawie planuje następny krok.</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Liczba kroków nie jest z góry znana — to model decyduje, kiedy skończyć.</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W skrócie: rozumowanie + działanie + obserwacja, w pętli.</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Rozumuje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Co zrobić dalej</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Działa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Woła narzędzie</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Obserwuje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Czyta wynik</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ROZRÓŻNIENIE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Chain vs Workflow vs Agent — kiedy co</a:t>
            </a:r>
            <a:endParaRPr lang="en-US" sz="30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8046720" cy="914400"/>
        </p:xfrm>
        <a:graphic>
          <a:graphicData uri="http://schemas.openxmlformats.org/drawingml/2006/table">
            <a:tbl>
              <a:tblPr/>
              <a:tblGrid>
                <a:gridCol w="1737360"/>
                <a:gridCol w="3291840"/>
                <a:gridCol w="3017520"/>
              </a:tblGrid>
              <a:tr h="310896">
                <a:tc>
                  <a:txBody>
                    <a:bodyPr/>
                    <a:lstStyle/>
                    <a:p>
                      <a:pPr algn="l" indent="0" marL="0">
                        <a:buNone/>
                      </a:pP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Kto decyduje o krokach</a:t>
                      </a: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Kiedy używać</a:t>
                      </a: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Chain</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Programista (stała ścieżka)</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Zadanie znane i powtarzalne</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Workflow</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Programista + warunki/gałęzie</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Logika rozgałęziona, ale przewidywalna</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Agent</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Model (dynamicznie, w pętli)</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Ścieżka nieznana z góry</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4617720"/>
            <a:ext cx="8046720" cy="36576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Reguła kciuka: jeśli potrafisz narysować przepływ z góry — użyj chaina/workflow, nie agenta.</a:t>
            </a:r>
            <a:endParaRPr lang="en-US" sz="1050" dirty="0"/>
          </a:p>
        </p:txBody>
      </p:sp>
      <p:sp>
        <p:nvSpPr>
          <p:cNvPr id="6" name="Text 3"/>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WZORZEC REACT</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ReAct — Reason + Act w pętli</a:t>
            </a:r>
            <a:endParaRPr lang="en-US" sz="3000" dirty="0"/>
          </a:p>
        </p:txBody>
      </p:sp>
      <p:sp>
        <p:nvSpPr>
          <p:cNvPr id="4" name="Shape 2"/>
          <p:cNvSpPr/>
          <p:nvPr/>
        </p:nvSpPr>
        <p:spPr>
          <a:xfrm>
            <a:off x="566928" y="1691640"/>
            <a:ext cx="548640" cy="548640"/>
          </a:xfrm>
          <a:prstGeom prst="oval">
            <a:avLst/>
          </a:prstGeom>
          <a:solidFill>
            <a:srgbClr val="4F46E5"/>
          </a:solidFill>
          <a:ln/>
        </p:spPr>
      </p:sp>
      <p:sp>
        <p:nvSpPr>
          <p:cNvPr id="5" name="Text 3"/>
          <p:cNvSpPr/>
          <p:nvPr/>
        </p:nvSpPr>
        <p:spPr>
          <a:xfrm>
            <a:off x="566928"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841248" y="2240280"/>
            <a:ext cx="0" cy="182880"/>
          </a:xfrm>
          <a:prstGeom prst="line">
            <a:avLst/>
          </a:prstGeom>
          <a:noFill/>
          <a:ln w="19050">
            <a:solidFill>
              <a:srgbClr val="94A3B8"/>
            </a:solidFill>
            <a:prstDash val="dash"/>
          </a:ln>
        </p:spPr>
      </p:sp>
      <p:sp>
        <p:nvSpPr>
          <p:cNvPr id="7" name="Text 5"/>
          <p:cNvSpPr/>
          <p:nvPr/>
        </p:nvSpPr>
        <p:spPr>
          <a:xfrm>
            <a:off x="1325880" y="160020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Thought — myśl</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Model rozumuje: czego potrzebuję, by odpowiedzieć?</a:t>
            </a:r>
            <a:endParaRPr lang="en-US" sz="1500" dirty="0"/>
          </a:p>
        </p:txBody>
      </p:sp>
      <p:sp>
        <p:nvSpPr>
          <p:cNvPr id="8" name="Shape 6"/>
          <p:cNvSpPr/>
          <p:nvPr/>
        </p:nvSpPr>
        <p:spPr>
          <a:xfrm>
            <a:off x="566928" y="2423160"/>
            <a:ext cx="548640" cy="548640"/>
          </a:xfrm>
          <a:prstGeom prst="oval">
            <a:avLst/>
          </a:prstGeom>
          <a:solidFill>
            <a:srgbClr val="14B8A6"/>
          </a:solidFill>
          <a:ln/>
        </p:spPr>
      </p:sp>
      <p:sp>
        <p:nvSpPr>
          <p:cNvPr id="9" name="Text 7"/>
          <p:cNvSpPr/>
          <p:nvPr/>
        </p:nvSpPr>
        <p:spPr>
          <a:xfrm>
            <a:off x="566928"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841248" y="2971800"/>
            <a:ext cx="0" cy="182880"/>
          </a:xfrm>
          <a:prstGeom prst="line">
            <a:avLst/>
          </a:prstGeom>
          <a:noFill/>
          <a:ln w="19050">
            <a:solidFill>
              <a:srgbClr val="94A3B8"/>
            </a:solidFill>
            <a:prstDash val="dash"/>
          </a:ln>
        </p:spPr>
      </p:sp>
      <p:sp>
        <p:nvSpPr>
          <p:cNvPr id="11" name="Text 9"/>
          <p:cNvSpPr/>
          <p:nvPr/>
        </p:nvSpPr>
        <p:spPr>
          <a:xfrm>
            <a:off x="1325880" y="233172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Action — działanie</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Wybiera narzędzie i argumenty.</a:t>
            </a:r>
            <a:endParaRPr lang="en-US" sz="1500" dirty="0"/>
          </a:p>
        </p:txBody>
      </p:sp>
      <p:sp>
        <p:nvSpPr>
          <p:cNvPr id="12" name="Shape 10"/>
          <p:cNvSpPr/>
          <p:nvPr/>
        </p:nvSpPr>
        <p:spPr>
          <a:xfrm>
            <a:off x="566928" y="3154680"/>
            <a:ext cx="548640" cy="548640"/>
          </a:xfrm>
          <a:prstGeom prst="oval">
            <a:avLst/>
          </a:prstGeom>
          <a:solidFill>
            <a:srgbClr val="F59E0B"/>
          </a:solidFill>
          <a:ln/>
        </p:spPr>
      </p:sp>
      <p:sp>
        <p:nvSpPr>
          <p:cNvPr id="13" name="Text 11"/>
          <p:cNvSpPr/>
          <p:nvPr/>
        </p:nvSpPr>
        <p:spPr>
          <a:xfrm>
            <a:off x="566928" y="3154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Shape 12"/>
          <p:cNvSpPr/>
          <p:nvPr/>
        </p:nvSpPr>
        <p:spPr>
          <a:xfrm>
            <a:off x="841248" y="3703320"/>
            <a:ext cx="0" cy="182880"/>
          </a:xfrm>
          <a:prstGeom prst="line">
            <a:avLst/>
          </a:prstGeom>
          <a:noFill/>
          <a:ln w="19050">
            <a:solidFill>
              <a:srgbClr val="94A3B8"/>
            </a:solidFill>
            <a:prstDash val="dash"/>
          </a:ln>
        </p:spPr>
      </p:sp>
      <p:sp>
        <p:nvSpPr>
          <p:cNvPr id="15" name="Text 13"/>
          <p:cNvSpPr/>
          <p:nvPr/>
        </p:nvSpPr>
        <p:spPr>
          <a:xfrm>
            <a:off x="1325880" y="306324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Observation — obserwacja</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Czyta wynik narzędzia.</a:t>
            </a:r>
            <a:endParaRPr lang="en-US" sz="1500" dirty="0"/>
          </a:p>
        </p:txBody>
      </p:sp>
      <p:sp>
        <p:nvSpPr>
          <p:cNvPr id="16" name="Shape 14"/>
          <p:cNvSpPr/>
          <p:nvPr/>
        </p:nvSpPr>
        <p:spPr>
          <a:xfrm>
            <a:off x="566928" y="3886200"/>
            <a:ext cx="548640" cy="548640"/>
          </a:xfrm>
          <a:prstGeom prst="oval">
            <a:avLst/>
          </a:prstGeom>
          <a:solidFill>
            <a:srgbClr val="E11D6B"/>
          </a:solidFill>
          <a:ln/>
        </p:spPr>
      </p:sp>
      <p:sp>
        <p:nvSpPr>
          <p:cNvPr id="17" name="Text 15"/>
          <p:cNvSpPr/>
          <p:nvPr/>
        </p:nvSpPr>
        <p:spPr>
          <a:xfrm>
            <a:off x="566928" y="3886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325880" y="379476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Powtórz lub odpowiedz</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Dość informacji? Odpowiedz. Jeśli nie — kolejna pętla.</a:t>
            </a:r>
            <a:endParaRPr lang="en-US" sz="1500" dirty="0"/>
          </a:p>
        </p:txBody>
      </p:sp>
      <p:sp>
        <p:nvSpPr>
          <p:cNvPr id="19" name="Text 17"/>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ARCHITEKTURA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Agent Executor — silnik pętli agenta</a:t>
            </a:r>
            <a:endParaRPr lang="en-US" sz="3000" dirty="0"/>
          </a:p>
        </p:txBody>
      </p:sp>
      <p:sp>
        <p:nvSpPr>
          <p:cNvPr id="4" name="Shape 2"/>
          <p:cNvSpPr/>
          <p:nvPr/>
        </p:nvSpPr>
        <p:spPr>
          <a:xfrm>
            <a:off x="566928"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1179576" y="2167128"/>
            <a:ext cx="566928" cy="566928"/>
          </a:xfrm>
          <a:prstGeom prst="roundRect">
            <a:avLst>
              <a:gd name="adj" fmla="val 22581"/>
            </a:avLst>
          </a:prstGeom>
          <a:solidFill>
            <a:srgbClr val="4F46E5"/>
          </a:solidFill>
          <a:ln/>
        </p:spPr>
      </p:sp>
      <p:pic>
        <p:nvPicPr>
          <p:cNvPr id="6" name="Image 0" descr="preencoded.png">    </p:cNvPr>
          <p:cNvPicPr>
            <a:picLocks noChangeAspect="1"/>
          </p:cNvPicPr>
          <p:nvPr/>
        </p:nvPicPr>
        <p:blipFill>
          <a:blip r:embed="rId1"/>
          <a:stretch>
            <a:fillRect/>
          </a:stretch>
        </p:blipFill>
        <p:spPr>
          <a:xfrm>
            <a:off x="1304300" y="2291852"/>
            <a:ext cx="317480" cy="317480"/>
          </a:xfrm>
          <a:prstGeom prst="rect">
            <a:avLst/>
          </a:prstGeom>
        </p:spPr>
      </p:pic>
      <p:sp>
        <p:nvSpPr>
          <p:cNvPr id="7" name="Text 4"/>
          <p:cNvSpPr/>
          <p:nvPr/>
        </p:nvSpPr>
        <p:spPr>
          <a:xfrm>
            <a:off x="658368"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1. Wejście</a:t>
            </a:r>
            <a:endParaRPr lang="en-US" sz="1250" dirty="0"/>
          </a:p>
        </p:txBody>
      </p:sp>
      <p:sp>
        <p:nvSpPr>
          <p:cNvPr id="8" name="Text 5"/>
          <p:cNvSpPr/>
          <p:nvPr/>
        </p:nvSpPr>
        <p:spPr>
          <a:xfrm>
            <a:off x="676656"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Cel użytkownika</a:t>
            </a:r>
            <a:endParaRPr lang="en-US" sz="950" dirty="0"/>
          </a:p>
        </p:txBody>
      </p:sp>
      <p:sp>
        <p:nvSpPr>
          <p:cNvPr id="9" name="Text 6"/>
          <p:cNvSpPr/>
          <p:nvPr/>
        </p:nvSpPr>
        <p:spPr>
          <a:xfrm>
            <a:off x="2340864"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0" name="Shape 7"/>
          <p:cNvSpPr/>
          <p:nvPr/>
        </p:nvSpPr>
        <p:spPr>
          <a:xfrm>
            <a:off x="2651760"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1" name="Shape 8"/>
          <p:cNvSpPr/>
          <p:nvPr/>
        </p:nvSpPr>
        <p:spPr>
          <a:xfrm>
            <a:off x="3264408" y="2167128"/>
            <a:ext cx="566928" cy="566928"/>
          </a:xfrm>
          <a:prstGeom prst="roundRect">
            <a:avLst>
              <a:gd name="adj" fmla="val 22581"/>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3389132" y="2291852"/>
            <a:ext cx="317480" cy="317480"/>
          </a:xfrm>
          <a:prstGeom prst="rect">
            <a:avLst/>
          </a:prstGeom>
        </p:spPr>
      </p:pic>
      <p:sp>
        <p:nvSpPr>
          <p:cNvPr id="13" name="Text 9"/>
          <p:cNvSpPr/>
          <p:nvPr/>
        </p:nvSpPr>
        <p:spPr>
          <a:xfrm>
            <a:off x="2743200"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2. LLM</a:t>
            </a:r>
            <a:endParaRPr lang="en-US" sz="1250" dirty="0"/>
          </a:p>
        </p:txBody>
      </p:sp>
      <p:sp>
        <p:nvSpPr>
          <p:cNvPr id="14" name="Text 10"/>
          <p:cNvSpPr/>
          <p:nvPr/>
        </p:nvSpPr>
        <p:spPr>
          <a:xfrm>
            <a:off x="2761488"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Decyzja: narzędzie czy koniec</a:t>
            </a:r>
            <a:endParaRPr lang="en-US" sz="950" dirty="0"/>
          </a:p>
        </p:txBody>
      </p:sp>
      <p:sp>
        <p:nvSpPr>
          <p:cNvPr id="15" name="Text 11"/>
          <p:cNvSpPr/>
          <p:nvPr/>
        </p:nvSpPr>
        <p:spPr>
          <a:xfrm>
            <a:off x="4425696"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6" name="Shape 12"/>
          <p:cNvSpPr/>
          <p:nvPr/>
        </p:nvSpPr>
        <p:spPr>
          <a:xfrm>
            <a:off x="4736592"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7" name="Shape 13"/>
          <p:cNvSpPr/>
          <p:nvPr/>
        </p:nvSpPr>
        <p:spPr>
          <a:xfrm>
            <a:off x="5349240" y="2167128"/>
            <a:ext cx="566928" cy="566928"/>
          </a:xfrm>
          <a:prstGeom prst="roundRect">
            <a:avLst>
              <a:gd name="adj" fmla="val 22581"/>
            </a:avLst>
          </a:prstGeom>
          <a:solidFill>
            <a:srgbClr val="F59E0B"/>
          </a:solidFill>
          <a:ln/>
        </p:spPr>
      </p:sp>
      <p:pic>
        <p:nvPicPr>
          <p:cNvPr id="18" name="Image 2" descr="preencoded.png">    </p:cNvPr>
          <p:cNvPicPr>
            <a:picLocks noChangeAspect="1"/>
          </p:cNvPicPr>
          <p:nvPr/>
        </p:nvPicPr>
        <p:blipFill>
          <a:blip r:embed="rId3"/>
          <a:stretch>
            <a:fillRect/>
          </a:stretch>
        </p:blipFill>
        <p:spPr>
          <a:xfrm>
            <a:off x="5473964" y="2291852"/>
            <a:ext cx="317480" cy="317480"/>
          </a:xfrm>
          <a:prstGeom prst="rect">
            <a:avLst/>
          </a:prstGeom>
        </p:spPr>
      </p:pic>
      <p:sp>
        <p:nvSpPr>
          <p:cNvPr id="19" name="Text 14"/>
          <p:cNvSpPr/>
          <p:nvPr/>
        </p:nvSpPr>
        <p:spPr>
          <a:xfrm>
            <a:off x="4828032"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3. Tool</a:t>
            </a:r>
            <a:endParaRPr lang="en-US" sz="1250" dirty="0"/>
          </a:p>
        </p:txBody>
      </p:sp>
      <p:sp>
        <p:nvSpPr>
          <p:cNvPr id="20" name="Text 15"/>
          <p:cNvSpPr/>
          <p:nvPr/>
        </p:nvSpPr>
        <p:spPr>
          <a:xfrm>
            <a:off x="4846320"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Wykonanie + wynik</a:t>
            </a:r>
            <a:endParaRPr lang="en-US" sz="950" dirty="0"/>
          </a:p>
        </p:txBody>
      </p:sp>
      <p:sp>
        <p:nvSpPr>
          <p:cNvPr id="21" name="Text 16"/>
          <p:cNvSpPr/>
          <p:nvPr/>
        </p:nvSpPr>
        <p:spPr>
          <a:xfrm>
            <a:off x="6510528"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22" name="Shape 17"/>
          <p:cNvSpPr/>
          <p:nvPr/>
        </p:nvSpPr>
        <p:spPr>
          <a:xfrm>
            <a:off x="6821424"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23" name="Shape 18"/>
          <p:cNvSpPr/>
          <p:nvPr/>
        </p:nvSpPr>
        <p:spPr>
          <a:xfrm>
            <a:off x="7434072" y="2167128"/>
            <a:ext cx="566928" cy="566928"/>
          </a:xfrm>
          <a:prstGeom prst="roundRect">
            <a:avLst>
              <a:gd name="adj" fmla="val 22581"/>
            </a:avLst>
          </a:prstGeom>
          <a:solidFill>
            <a:srgbClr val="E11D6B"/>
          </a:solidFill>
          <a:ln/>
        </p:spPr>
      </p:sp>
      <p:pic>
        <p:nvPicPr>
          <p:cNvPr id="24" name="Image 3" descr="preencoded.png">    </p:cNvPr>
          <p:cNvPicPr>
            <a:picLocks noChangeAspect="1"/>
          </p:cNvPicPr>
          <p:nvPr/>
        </p:nvPicPr>
        <p:blipFill>
          <a:blip r:embed="rId4"/>
          <a:stretch>
            <a:fillRect/>
          </a:stretch>
        </p:blipFill>
        <p:spPr>
          <a:xfrm>
            <a:off x="7558796" y="2291852"/>
            <a:ext cx="317480" cy="317480"/>
          </a:xfrm>
          <a:prstGeom prst="rect">
            <a:avLst/>
          </a:prstGeom>
        </p:spPr>
      </p:pic>
      <p:sp>
        <p:nvSpPr>
          <p:cNvPr id="25" name="Text 19"/>
          <p:cNvSpPr/>
          <p:nvPr/>
        </p:nvSpPr>
        <p:spPr>
          <a:xfrm>
            <a:off x="6912864"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4. Pętla</a:t>
            </a:r>
            <a:endParaRPr lang="en-US" sz="1250" dirty="0"/>
          </a:p>
        </p:txBody>
      </p:sp>
      <p:sp>
        <p:nvSpPr>
          <p:cNvPr id="26" name="Text 20"/>
          <p:cNvSpPr/>
          <p:nvPr/>
        </p:nvSpPr>
        <p:spPr>
          <a:xfrm>
            <a:off x="6931152"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Aż do odpowiedzi / limitu</a:t>
            </a:r>
            <a:endParaRPr lang="en-US" sz="950" dirty="0"/>
          </a:p>
        </p:txBody>
      </p:sp>
      <p:sp>
        <p:nvSpPr>
          <p:cNvPr id="27" name="Text 21"/>
          <p:cNvSpPr/>
          <p:nvPr/>
        </p:nvSpPr>
        <p:spPr>
          <a:xfrm>
            <a:off x="566928" y="4160520"/>
            <a:ext cx="8046720"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Agent Executor pilnuje pętli, limitu kroków i parsowania decyzji modelu na wywołania narzędzi.</a:t>
            </a:r>
            <a:endParaRPr lang="en-US" sz="1250" dirty="0"/>
          </a:p>
        </p:txBody>
      </p:sp>
      <p:sp>
        <p:nvSpPr>
          <p:cNvPr id="28" name="Text 2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PIERWSZY AGENT</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Agent z narzędziami w kilku linijkach</a:t>
            </a:r>
            <a:endParaRPr lang="en-US" sz="3000" dirty="0"/>
          </a:p>
        </p:txBody>
      </p:sp>
      <p:sp>
        <p:nvSpPr>
          <p:cNvPr id="4" name="Shape 2"/>
          <p:cNvSpPr/>
          <p:nvPr/>
        </p:nvSpPr>
        <p:spPr>
          <a:xfrm>
            <a:off x="566928" y="1627632"/>
            <a:ext cx="8046720" cy="2935224"/>
          </a:xfrm>
          <a:prstGeom prst="roundRect">
            <a:avLst>
              <a:gd name="adj" fmla="val 1869"/>
            </a:avLst>
          </a:prstGeom>
          <a:solidFill>
            <a:srgbClr val="0E0D24"/>
          </a:solidFill>
          <a:ln/>
          <a:effectLst>
            <a:outerShdw sx="100000" sy="100000" kx="0" ky="0" algn="bl" rotWithShape="0" blurRad="101600" dist="38100" dir="5400000">
              <a:srgbClr val="000000">
                <a:alpha val="20000"/>
              </a:srgbClr>
            </a:outerShdw>
          </a:effectLst>
        </p:spPr>
      </p:sp>
      <p:sp>
        <p:nvSpPr>
          <p:cNvPr id="5" name="Text 3"/>
          <p:cNvSpPr/>
          <p:nvPr/>
        </p:nvSpPr>
        <p:spPr>
          <a:xfrm>
            <a:off x="704088" y="1700784"/>
            <a:ext cx="777240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6" name="Text 4"/>
          <p:cNvSpPr/>
          <p:nvPr/>
        </p:nvSpPr>
        <p:spPr>
          <a:xfrm>
            <a:off x="768096" y="1920240"/>
            <a:ext cx="7680960" cy="2551176"/>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langchain.agents import create_react_agent, AgentExecutor</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langchain_openai import ChatOpenAI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llm = ChatOpenAI(model="gpt-4...", temperature=0)</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tools = [szukaj_w_bazie, kalkulator]   </a:t>
            </a: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lista narzedzi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agent = create_react_agent(llm, tools, prompt)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executor = AgentExecutor(</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agent=agent, tools=tools,</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max_iterations=6,        </a:t>
            </a: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twardy limit petli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handle_parsing_errors=True,</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wynik = executor.invoke({"input": "Ile wynosi rata?"})</a:t>
            </a:r>
            <a:endParaRPr lang="en-US" sz="1050" dirty="0"/>
          </a:p>
        </p:txBody>
      </p:sp>
      <p:sp>
        <p:nvSpPr>
          <p:cNvPr id="7" name="Shape 5"/>
          <p:cNvSpPr/>
          <p:nvPr/>
        </p:nvSpPr>
        <p:spPr>
          <a:xfrm>
            <a:off x="566928" y="4709160"/>
            <a:ext cx="8046720" cy="566928"/>
          </a:xfrm>
          <a:prstGeom prst="roundRect">
            <a:avLst>
              <a:gd name="adj" fmla="val 9677"/>
            </a:avLst>
          </a:prstGeom>
          <a:solidFill>
            <a:srgbClr val="E6FBF7"/>
          </a:solidFill>
          <a:ln/>
        </p:spPr>
      </p:sp>
      <p:sp>
        <p:nvSpPr>
          <p:cNvPr id="8" name="Text 6"/>
          <p:cNvSpPr/>
          <p:nvPr/>
        </p:nvSpPr>
        <p:spPr>
          <a:xfrm>
            <a:off x="731520" y="4709160"/>
            <a:ext cx="771753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Zauważ max_iterations i handle_parsing_errors — to nie ozdoby, to bezpieczniki produkcyjne.</a:t>
            </a:r>
            <a:endParaRPr lang="en-US" sz="1150" dirty="0"/>
          </a:p>
        </p:txBody>
      </p:sp>
      <p:sp>
        <p:nvSpPr>
          <p:cNvPr id="9" name="Text 7"/>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NARZĘDZIA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Narzędzia agenta — co może mieć w ręku</a:t>
            </a:r>
            <a:endParaRPr lang="en-US" sz="3000" dirty="0"/>
          </a:p>
        </p:txBody>
      </p:sp>
      <p:sp>
        <p:nvSpPr>
          <p:cNvPr id="4" name="Shape 2"/>
          <p:cNvSpPr/>
          <p:nvPr/>
        </p:nvSpPr>
        <p:spPr>
          <a:xfrm>
            <a:off x="566928" y="1600200"/>
            <a:ext cx="3977640" cy="841248"/>
          </a:xfrm>
          <a:prstGeom prst="roundRect">
            <a:avLst>
              <a:gd name="adj" fmla="val 8696"/>
            </a:avLst>
          </a:prstGeom>
          <a:solidFill>
            <a:srgbClr val="4F46E5"/>
          </a:solidFill>
          <a:ln/>
          <a:effectLst>
            <a:outerShdw sx="100000" sy="100000" kx="0" ky="0" algn="bl" rotWithShape="0" blurRad="101600" dist="38100" dir="5400000">
              <a:srgbClr val="000000">
                <a:alpha val="12000"/>
              </a:srgbClr>
            </a:outerShdw>
          </a:effectLst>
        </p:spPr>
      </p:sp>
      <p:sp>
        <p:nvSpPr>
          <p:cNvPr id="5" name="Shape 3"/>
          <p:cNvSpPr/>
          <p:nvPr/>
        </p:nvSpPr>
        <p:spPr>
          <a:xfrm>
            <a:off x="713232" y="1783080"/>
            <a:ext cx="475488" cy="475488"/>
          </a:xfrm>
          <a:prstGeom prst="roundRect">
            <a:avLst>
              <a:gd name="adj" fmla="val 19231"/>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817839" y="1887687"/>
            <a:ext cx="266273" cy="266273"/>
          </a:xfrm>
          <a:prstGeom prst="rect">
            <a:avLst/>
          </a:prstGeom>
        </p:spPr>
      </p:pic>
      <p:sp>
        <p:nvSpPr>
          <p:cNvPr id="7" name="Text 4"/>
          <p:cNvSpPr/>
          <p:nvPr/>
        </p:nvSpPr>
        <p:spPr>
          <a:xfrm>
            <a:off x="1316736" y="1655064"/>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Wyszukiwanie / RAG</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Baza wiedzy, dokumenty, web.</a:t>
            </a:r>
            <a:endParaRPr lang="en-US" sz="1300" dirty="0"/>
          </a:p>
        </p:txBody>
      </p:sp>
      <p:sp>
        <p:nvSpPr>
          <p:cNvPr id="8" name="Shape 5"/>
          <p:cNvSpPr/>
          <p:nvPr/>
        </p:nvSpPr>
        <p:spPr>
          <a:xfrm>
            <a:off x="566928" y="2587752"/>
            <a:ext cx="3977640" cy="841248"/>
          </a:xfrm>
          <a:prstGeom prst="roundRect">
            <a:avLst>
              <a:gd name="adj" fmla="val 8696"/>
            </a:avLst>
          </a:prstGeom>
          <a:solidFill>
            <a:srgbClr val="14B8A6"/>
          </a:solidFill>
          <a:ln/>
          <a:effectLst>
            <a:outerShdw sx="100000" sy="100000" kx="0" ky="0" algn="bl" rotWithShape="0" blurRad="101600" dist="38100" dir="5400000">
              <a:srgbClr val="000000">
                <a:alpha val="12000"/>
              </a:srgbClr>
            </a:outerShdw>
          </a:effectLst>
        </p:spPr>
      </p:sp>
      <p:sp>
        <p:nvSpPr>
          <p:cNvPr id="9" name="Shape 6"/>
          <p:cNvSpPr/>
          <p:nvPr/>
        </p:nvSpPr>
        <p:spPr>
          <a:xfrm>
            <a:off x="713232" y="2770632"/>
            <a:ext cx="475488" cy="475488"/>
          </a:xfrm>
          <a:prstGeom prst="roundRect">
            <a:avLst>
              <a:gd name="adj" fmla="val 19231"/>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817839" y="2875239"/>
            <a:ext cx="266273" cy="266273"/>
          </a:xfrm>
          <a:prstGeom prst="rect">
            <a:avLst/>
          </a:prstGeom>
        </p:spPr>
      </p:pic>
      <p:sp>
        <p:nvSpPr>
          <p:cNvPr id="11" name="Text 7"/>
          <p:cNvSpPr/>
          <p:nvPr/>
        </p:nvSpPr>
        <p:spPr>
          <a:xfrm>
            <a:off x="1316736" y="2642616"/>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Zapytania do baz</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SQL, API wewnętrzne.</a:t>
            </a:r>
            <a:endParaRPr lang="en-US" sz="1300" dirty="0"/>
          </a:p>
        </p:txBody>
      </p:sp>
      <p:sp>
        <p:nvSpPr>
          <p:cNvPr id="12" name="Shape 8"/>
          <p:cNvSpPr/>
          <p:nvPr/>
        </p:nvSpPr>
        <p:spPr>
          <a:xfrm>
            <a:off x="566928" y="3575304"/>
            <a:ext cx="3977640" cy="841248"/>
          </a:xfrm>
          <a:prstGeom prst="roundRect">
            <a:avLst>
              <a:gd name="adj" fmla="val 8696"/>
            </a:avLst>
          </a:prstGeom>
          <a:solidFill>
            <a:srgbClr val="F59E0B"/>
          </a:solidFill>
          <a:ln/>
          <a:effectLst>
            <a:outerShdw sx="100000" sy="100000" kx="0" ky="0" algn="bl" rotWithShape="0" blurRad="101600" dist="38100" dir="5400000">
              <a:srgbClr val="000000">
                <a:alpha val="12000"/>
              </a:srgbClr>
            </a:outerShdw>
          </a:effectLst>
        </p:spPr>
      </p:sp>
      <p:sp>
        <p:nvSpPr>
          <p:cNvPr id="13" name="Shape 9"/>
          <p:cNvSpPr/>
          <p:nvPr/>
        </p:nvSpPr>
        <p:spPr>
          <a:xfrm>
            <a:off x="713232" y="3758184"/>
            <a:ext cx="475488" cy="475488"/>
          </a:xfrm>
          <a:prstGeom prst="roundRect">
            <a:avLst>
              <a:gd name="adj" fmla="val 19231"/>
            </a:avLst>
          </a:prstGeom>
          <a:solidFill>
            <a:srgbClr val="FFFFFF"/>
          </a:solidFill>
          <a:ln/>
        </p:spPr>
      </p:sp>
      <p:pic>
        <p:nvPicPr>
          <p:cNvPr id="14" name="Image 2" descr="preencoded.png">    </p:cNvPr>
          <p:cNvPicPr>
            <a:picLocks noChangeAspect="1"/>
          </p:cNvPicPr>
          <p:nvPr/>
        </p:nvPicPr>
        <p:blipFill>
          <a:blip r:embed="rId3"/>
          <a:stretch>
            <a:fillRect/>
          </a:stretch>
        </p:blipFill>
        <p:spPr>
          <a:xfrm>
            <a:off x="817839" y="3862791"/>
            <a:ext cx="266273" cy="266273"/>
          </a:xfrm>
          <a:prstGeom prst="rect">
            <a:avLst/>
          </a:prstGeom>
        </p:spPr>
      </p:pic>
      <p:sp>
        <p:nvSpPr>
          <p:cNvPr id="15" name="Text 10"/>
          <p:cNvSpPr/>
          <p:nvPr/>
        </p:nvSpPr>
        <p:spPr>
          <a:xfrm>
            <a:off x="1316736" y="3630168"/>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Obliczenia</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Kalkulator, kod, analizy.</a:t>
            </a:r>
            <a:endParaRPr lang="en-US" sz="1300" dirty="0"/>
          </a:p>
        </p:txBody>
      </p:sp>
      <p:sp>
        <p:nvSpPr>
          <p:cNvPr id="16" name="Shape 11"/>
          <p:cNvSpPr/>
          <p:nvPr/>
        </p:nvSpPr>
        <p:spPr>
          <a:xfrm>
            <a:off x="4818888" y="1600200"/>
            <a:ext cx="3977640" cy="841248"/>
          </a:xfrm>
          <a:prstGeom prst="roundRect">
            <a:avLst>
              <a:gd name="adj" fmla="val 8696"/>
            </a:avLst>
          </a:prstGeom>
          <a:solidFill>
            <a:srgbClr val="E11D6B"/>
          </a:solidFill>
          <a:ln/>
          <a:effectLst>
            <a:outerShdw sx="100000" sy="100000" kx="0" ky="0" algn="bl" rotWithShape="0" blurRad="101600" dist="38100" dir="5400000">
              <a:srgbClr val="000000">
                <a:alpha val="12000"/>
              </a:srgbClr>
            </a:outerShdw>
          </a:effectLst>
        </p:spPr>
      </p:sp>
      <p:sp>
        <p:nvSpPr>
          <p:cNvPr id="17" name="Shape 12"/>
          <p:cNvSpPr/>
          <p:nvPr/>
        </p:nvSpPr>
        <p:spPr>
          <a:xfrm>
            <a:off x="4965192" y="1783080"/>
            <a:ext cx="475488" cy="475488"/>
          </a:xfrm>
          <a:prstGeom prst="roundRect">
            <a:avLst>
              <a:gd name="adj" fmla="val 19231"/>
            </a:avLst>
          </a:prstGeom>
          <a:solidFill>
            <a:srgbClr val="FFFFFF"/>
          </a:solidFill>
          <a:ln/>
        </p:spPr>
      </p:sp>
      <p:pic>
        <p:nvPicPr>
          <p:cNvPr id="18" name="Image 3" descr="preencoded.png">    </p:cNvPr>
          <p:cNvPicPr>
            <a:picLocks noChangeAspect="1"/>
          </p:cNvPicPr>
          <p:nvPr/>
        </p:nvPicPr>
        <p:blipFill>
          <a:blip r:embed="rId4"/>
          <a:stretch>
            <a:fillRect/>
          </a:stretch>
        </p:blipFill>
        <p:spPr>
          <a:xfrm>
            <a:off x="5069799" y="1887687"/>
            <a:ext cx="266273" cy="266273"/>
          </a:xfrm>
          <a:prstGeom prst="rect">
            <a:avLst/>
          </a:prstGeom>
        </p:spPr>
      </p:pic>
      <p:sp>
        <p:nvSpPr>
          <p:cNvPr id="19" name="Text 13"/>
          <p:cNvSpPr/>
          <p:nvPr/>
        </p:nvSpPr>
        <p:spPr>
          <a:xfrm>
            <a:off x="5568696" y="1655064"/>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Wykonanie kodu</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Sandbox Python.</a:t>
            </a:r>
            <a:endParaRPr lang="en-US" sz="1300" dirty="0"/>
          </a:p>
        </p:txBody>
      </p:sp>
      <p:sp>
        <p:nvSpPr>
          <p:cNvPr id="20" name="Shape 14"/>
          <p:cNvSpPr/>
          <p:nvPr/>
        </p:nvSpPr>
        <p:spPr>
          <a:xfrm>
            <a:off x="4818888" y="2587752"/>
            <a:ext cx="3977640" cy="841248"/>
          </a:xfrm>
          <a:prstGeom prst="roundRect">
            <a:avLst>
              <a:gd name="adj" fmla="val 8696"/>
            </a:avLst>
          </a:prstGeom>
          <a:solidFill>
            <a:srgbClr val="16A34A"/>
          </a:solidFill>
          <a:ln/>
          <a:effectLst>
            <a:outerShdw sx="100000" sy="100000" kx="0" ky="0" algn="bl" rotWithShape="0" blurRad="101600" dist="38100" dir="5400000">
              <a:srgbClr val="000000">
                <a:alpha val="12000"/>
              </a:srgbClr>
            </a:outerShdw>
          </a:effectLst>
        </p:spPr>
      </p:sp>
      <p:sp>
        <p:nvSpPr>
          <p:cNvPr id="21" name="Shape 15"/>
          <p:cNvSpPr/>
          <p:nvPr/>
        </p:nvSpPr>
        <p:spPr>
          <a:xfrm>
            <a:off x="4965192" y="2770632"/>
            <a:ext cx="475488" cy="475488"/>
          </a:xfrm>
          <a:prstGeom prst="roundRect">
            <a:avLst>
              <a:gd name="adj" fmla="val 19231"/>
            </a:avLst>
          </a:prstGeom>
          <a:solidFill>
            <a:srgbClr val="FFFFFF"/>
          </a:solidFill>
          <a:ln/>
        </p:spPr>
      </p:sp>
      <p:pic>
        <p:nvPicPr>
          <p:cNvPr id="22" name="Image 4" descr="preencoded.png">    </p:cNvPr>
          <p:cNvPicPr>
            <a:picLocks noChangeAspect="1"/>
          </p:cNvPicPr>
          <p:nvPr/>
        </p:nvPicPr>
        <p:blipFill>
          <a:blip r:embed="rId5"/>
          <a:stretch>
            <a:fillRect/>
          </a:stretch>
        </p:blipFill>
        <p:spPr>
          <a:xfrm>
            <a:off x="5069799" y="2875239"/>
            <a:ext cx="266273" cy="266273"/>
          </a:xfrm>
          <a:prstGeom prst="rect">
            <a:avLst/>
          </a:prstGeom>
        </p:spPr>
      </p:pic>
      <p:sp>
        <p:nvSpPr>
          <p:cNvPr id="23" name="Text 16"/>
          <p:cNvSpPr/>
          <p:nvPr/>
        </p:nvSpPr>
        <p:spPr>
          <a:xfrm>
            <a:off x="5568696" y="2642616"/>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Akcje</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Mail, ticket, zapis.</a:t>
            </a:r>
            <a:endParaRPr lang="en-US" sz="1300" dirty="0"/>
          </a:p>
        </p:txBody>
      </p:sp>
      <p:sp>
        <p:nvSpPr>
          <p:cNvPr id="24" name="Shape 17"/>
          <p:cNvSpPr/>
          <p:nvPr/>
        </p:nvSpPr>
        <p:spPr>
          <a:xfrm>
            <a:off x="4818888" y="3575304"/>
            <a:ext cx="3977640" cy="841248"/>
          </a:xfrm>
          <a:prstGeom prst="roundRect">
            <a:avLst>
              <a:gd name="adj" fmla="val 8696"/>
            </a:avLst>
          </a:prstGeom>
          <a:solidFill>
            <a:srgbClr val="4F46E5"/>
          </a:solidFill>
          <a:ln/>
          <a:effectLst>
            <a:outerShdw sx="100000" sy="100000" kx="0" ky="0" algn="bl" rotWithShape="0" blurRad="101600" dist="38100" dir="5400000">
              <a:srgbClr val="000000">
                <a:alpha val="12000"/>
              </a:srgbClr>
            </a:outerShdw>
          </a:effectLst>
        </p:spPr>
      </p:sp>
      <p:sp>
        <p:nvSpPr>
          <p:cNvPr id="25" name="Shape 18"/>
          <p:cNvSpPr/>
          <p:nvPr/>
        </p:nvSpPr>
        <p:spPr>
          <a:xfrm>
            <a:off x="4965192" y="3758184"/>
            <a:ext cx="475488" cy="475488"/>
          </a:xfrm>
          <a:prstGeom prst="roundRect">
            <a:avLst>
              <a:gd name="adj" fmla="val 19231"/>
            </a:avLst>
          </a:prstGeom>
          <a:solidFill>
            <a:srgbClr val="FFFFFF"/>
          </a:solidFill>
          <a:ln/>
        </p:spPr>
      </p:sp>
      <p:pic>
        <p:nvPicPr>
          <p:cNvPr id="26" name="Image 5" descr="preencoded.png">    </p:cNvPr>
          <p:cNvPicPr>
            <a:picLocks noChangeAspect="1"/>
          </p:cNvPicPr>
          <p:nvPr/>
        </p:nvPicPr>
        <p:blipFill>
          <a:blip r:embed="rId6"/>
          <a:stretch>
            <a:fillRect/>
          </a:stretch>
        </p:blipFill>
        <p:spPr>
          <a:xfrm>
            <a:off x="5069799" y="3862791"/>
            <a:ext cx="266273" cy="266273"/>
          </a:xfrm>
          <a:prstGeom prst="rect">
            <a:avLst/>
          </a:prstGeom>
        </p:spPr>
      </p:pic>
      <p:sp>
        <p:nvSpPr>
          <p:cNvPr id="27" name="Text 19"/>
          <p:cNvSpPr/>
          <p:nvPr/>
        </p:nvSpPr>
        <p:spPr>
          <a:xfrm>
            <a:off x="5568696" y="3630168"/>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MCP / integracje</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Zewnętrzne serwery narzędzi.</a:t>
            </a:r>
            <a:endParaRPr lang="en-US" sz="1300" dirty="0"/>
          </a:p>
        </p:txBody>
      </p:sp>
      <p:sp>
        <p:nvSpPr>
          <p:cNvPr id="28" name="Text 20"/>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WŁASNE NARZĘDZIE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Custom tool dekoratorem @tool</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Docstring = opis dla modelu</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Type hints = schemat argumentów</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Nazwa funkcji = nazwa narzędzia</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Zwracaj zwięzły, czytelny wynik</a:t>
            </a:r>
            <a:endParaRPr lang="en-US" sz="1300" dirty="0"/>
          </a:p>
        </p:txBody>
      </p:sp>
      <p:sp>
        <p:nvSpPr>
          <p:cNvPr id="5" name="Shape 3"/>
          <p:cNvSpPr/>
          <p:nvPr/>
        </p:nvSpPr>
        <p:spPr>
          <a:xfrm>
            <a:off x="4160520" y="1627632"/>
            <a:ext cx="4434840" cy="2372868"/>
          </a:xfrm>
          <a:prstGeom prst="roundRect">
            <a:avLst>
              <a:gd name="adj" fmla="val 2312"/>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7" name="Text 5"/>
          <p:cNvSpPr/>
          <p:nvPr/>
        </p:nvSpPr>
        <p:spPr>
          <a:xfrm>
            <a:off x="4361688" y="1920240"/>
            <a:ext cx="4069080" cy="1988820"/>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langchain_core.tools import tool</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@tool</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def kurs_waluty(symbol: str) -&gt; float: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"""Zwraca kurs waluty do PLN.</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Arg: symbol np. 'EUR', 'USD'."""</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dane = pobierz_kurs(symbol)</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return dane["mid"]</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narzedzie gotowe do podpiecia pod agenta</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tools = [kurs_waluty]</a:t>
            </a:r>
            <a:endParaRPr lang="en-US" sz="1050" dirty="0"/>
          </a:p>
        </p:txBody>
      </p:sp>
      <p:sp>
        <p:nvSpPr>
          <p:cNvPr id="8" name="Shape 6"/>
          <p:cNvSpPr/>
          <p:nvPr/>
        </p:nvSpPr>
        <p:spPr>
          <a:xfrm>
            <a:off x="4160520" y="4146804"/>
            <a:ext cx="4434840" cy="566928"/>
          </a:xfrm>
          <a:prstGeom prst="roundRect">
            <a:avLst>
              <a:gd name="adj" fmla="val 9677"/>
            </a:avLst>
          </a:prstGeom>
          <a:solidFill>
            <a:srgbClr val="E6FBF7"/>
          </a:solidFill>
          <a:ln/>
        </p:spPr>
      </p:sp>
      <p:sp>
        <p:nvSpPr>
          <p:cNvPr id="9" name="Text 7"/>
          <p:cNvSpPr/>
          <p:nvPr/>
        </p:nvSpPr>
        <p:spPr>
          <a:xfrm>
            <a:off x="4325112" y="4146804"/>
            <a:ext cx="410565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Model „czyta" docstring i type hints — to one są instrukcją obsługi narzędzia.</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WARIANTY NARZĘDZI</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@tool vs StructuredTool vs BaseTool</a:t>
            </a:r>
            <a:endParaRPr lang="en-US" sz="3000" dirty="0"/>
          </a:p>
        </p:txBody>
      </p:sp>
      <p:sp>
        <p:nvSpPr>
          <p:cNvPr id="4" name="Shape 2"/>
          <p:cNvSpPr/>
          <p:nvPr/>
        </p:nvSpPr>
        <p:spPr>
          <a:xfrm>
            <a:off x="56692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566928" y="1645920"/>
            <a:ext cx="3977640" cy="640080"/>
          </a:xfrm>
          <a:prstGeom prst="roundRect">
            <a:avLst>
              <a:gd name="adj" fmla="val 14286"/>
            </a:avLst>
          </a:prstGeom>
          <a:solidFill>
            <a:srgbClr val="14B8A6"/>
          </a:solidFill>
          <a:ln/>
        </p:spPr>
      </p:sp>
      <p:sp>
        <p:nvSpPr>
          <p:cNvPr id="6" name="Shape 4"/>
          <p:cNvSpPr/>
          <p:nvPr/>
        </p:nvSpPr>
        <p:spPr>
          <a:xfrm>
            <a:off x="566928" y="1965960"/>
            <a:ext cx="3977640" cy="320040"/>
          </a:xfrm>
          <a:prstGeom prst="rect">
            <a:avLst/>
          </a:prstGeom>
          <a:solidFill>
            <a:srgbClr val="14B8A6"/>
          </a:solidFill>
          <a:ln/>
        </p:spPr>
      </p:sp>
      <p:sp>
        <p:nvSpPr>
          <p:cNvPr id="7" name="Text 5"/>
          <p:cNvSpPr/>
          <p:nvPr/>
        </p:nvSpPr>
        <p:spPr>
          <a:xfrm>
            <a:off x="74980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@tool / StructuredTool</a:t>
            </a:r>
            <a:endParaRPr lang="en-US" sz="1600" dirty="0"/>
          </a:p>
        </p:txBody>
      </p:sp>
      <p:sp>
        <p:nvSpPr>
          <p:cNvPr id="8" name="Text 6"/>
          <p:cNvSpPr/>
          <p:nvPr/>
        </p:nvSpPr>
        <p:spPr>
          <a:xfrm>
            <a:off x="76809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Szybkie, deklaratywne</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Wiele argumentów ze schematem (Pydantic)</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90% przypadków</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Mało kodu, czytelne</a:t>
            </a:r>
            <a:endParaRPr lang="en-US" sz="1250" dirty="0"/>
          </a:p>
        </p:txBody>
      </p:sp>
      <p:sp>
        <p:nvSpPr>
          <p:cNvPr id="9" name="Shape 7"/>
          <p:cNvSpPr/>
          <p:nvPr/>
        </p:nvSpPr>
        <p:spPr>
          <a:xfrm>
            <a:off x="4818888" y="1645920"/>
            <a:ext cx="3977640" cy="3017520"/>
          </a:xfrm>
          <a:prstGeom prst="roundRect">
            <a:avLst>
              <a:gd name="adj" fmla="val 3030"/>
            </a:avLst>
          </a:prstGeom>
          <a:solidFill>
            <a:srgbClr val="F4F5FB"/>
          </a:solidFill>
          <a:ln/>
          <a:effectLst>
            <a:outerShdw sx="100000" sy="100000" kx="0" ky="0" algn="bl" rotWithShape="0" blurRad="101600" dist="38100" dir="5400000">
              <a:srgbClr val="000000">
                <a:alpha val="12000"/>
              </a:srgbClr>
            </a:outerShdw>
          </a:effectLst>
        </p:spPr>
      </p:sp>
      <p:sp>
        <p:nvSpPr>
          <p:cNvPr id="10" name="Shape 8"/>
          <p:cNvSpPr/>
          <p:nvPr/>
        </p:nvSpPr>
        <p:spPr>
          <a:xfrm>
            <a:off x="4818888" y="1645920"/>
            <a:ext cx="3977640" cy="640080"/>
          </a:xfrm>
          <a:prstGeom prst="roundRect">
            <a:avLst>
              <a:gd name="adj" fmla="val 14286"/>
            </a:avLst>
          </a:prstGeom>
          <a:solidFill>
            <a:srgbClr val="4F46E5"/>
          </a:solidFill>
          <a:ln/>
        </p:spPr>
      </p:sp>
      <p:sp>
        <p:nvSpPr>
          <p:cNvPr id="11" name="Shape 9"/>
          <p:cNvSpPr/>
          <p:nvPr/>
        </p:nvSpPr>
        <p:spPr>
          <a:xfrm>
            <a:off x="4818888" y="1965960"/>
            <a:ext cx="3977640" cy="320040"/>
          </a:xfrm>
          <a:prstGeom prst="rect">
            <a:avLst/>
          </a:prstGeom>
          <a:solidFill>
            <a:srgbClr val="4F46E5"/>
          </a:solidFill>
          <a:ln/>
        </p:spPr>
      </p:sp>
      <p:sp>
        <p:nvSpPr>
          <p:cNvPr id="12" name="Text 10"/>
          <p:cNvSpPr/>
          <p:nvPr/>
        </p:nvSpPr>
        <p:spPr>
          <a:xfrm>
            <a:off x="5001768" y="1645920"/>
            <a:ext cx="3611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BaseTool (klasa)</a:t>
            </a:r>
            <a:endParaRPr lang="en-US" sz="1600" dirty="0"/>
          </a:p>
        </p:txBody>
      </p:sp>
      <p:sp>
        <p:nvSpPr>
          <p:cNvPr id="13" name="Text 11"/>
          <p:cNvSpPr/>
          <p:nvPr/>
        </p:nvSpPr>
        <p:spPr>
          <a:xfrm>
            <a:off x="5020056" y="2423160"/>
            <a:ext cx="3575304" cy="21031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Pełna kontrola nad logiką</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Stan, inicjalizacja, zasoby</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Wersja sync i async</a:t>
            </a:r>
            <a:endParaRPr lang="en-US" sz="1250" dirty="0"/>
          </a:p>
          <a:p>
            <a:pPr marL="177800" indent="-1778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Złożone integracje produkcyjne</a:t>
            </a:r>
            <a:endParaRPr lang="en-US" sz="1250" dirty="0"/>
          </a:p>
        </p:txBody>
      </p:sp>
      <p:sp>
        <p:nvSpPr>
          <p:cNvPr id="14"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LANGGRAPH</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LangGraph — gdy potrzebujesz kontroli nad przepływem</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Agent jako graf: węzły (kroki) + krawędzie (przejścia) + wspólny stan.</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Krawędzie warunkowe — przepływ zależny od wyniku węzła.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Cykle — agent może wracać do wcześniejszych węzłów (pętle ReAct).</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Persistence i checkpointing — stan przeżywa restart i pauzy.</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Human-in-the-loop wbudowany — zatrzymaj graf, poczekaj na człowieka, wznów.</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Graf</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Węzły + krawędzie</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Stan</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Checkpointy</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Człowiek</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 pętli</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STATEGRAPH</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Stan grafu — wspólna pamięć przepływu</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Stan = typowany słownik (TypedDict)</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Każdy węzeł czyta i aktualizuje stan</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add_messages = dokładanie wiadomości</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To „pamięć robocza" agenta</a:t>
            </a:r>
            <a:endParaRPr lang="en-US" sz="1300" dirty="0"/>
          </a:p>
        </p:txBody>
      </p:sp>
      <p:sp>
        <p:nvSpPr>
          <p:cNvPr id="5" name="Shape 3"/>
          <p:cNvSpPr/>
          <p:nvPr/>
        </p:nvSpPr>
        <p:spPr>
          <a:xfrm>
            <a:off x="4160520" y="1627632"/>
            <a:ext cx="4434840" cy="1997964"/>
          </a:xfrm>
          <a:prstGeom prst="roundRect">
            <a:avLst>
              <a:gd name="adj" fmla="val 2746"/>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7" name="Text 5"/>
          <p:cNvSpPr/>
          <p:nvPr/>
        </p:nvSpPr>
        <p:spPr>
          <a:xfrm>
            <a:off x="4361688" y="1920240"/>
            <a:ext cx="4069080" cy="1613916"/>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typing import Annotated, TypedDict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langgraph.graph import StateGraph</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langgraph.graph.message import add_messages</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class Stan(TypedDict):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messages: Annotated[list, add_messages]</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kroki: int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graf = StateGraph(Stan)</a:t>
            </a:r>
            <a:endParaRPr lang="en-US" sz="1050" dirty="0"/>
          </a:p>
        </p:txBody>
      </p:sp>
      <p:sp>
        <p:nvSpPr>
          <p:cNvPr id="8" name="Shape 6"/>
          <p:cNvSpPr/>
          <p:nvPr/>
        </p:nvSpPr>
        <p:spPr>
          <a:xfrm>
            <a:off x="4160520" y="3771900"/>
            <a:ext cx="4434840" cy="566928"/>
          </a:xfrm>
          <a:prstGeom prst="roundRect">
            <a:avLst>
              <a:gd name="adj" fmla="val 9677"/>
            </a:avLst>
          </a:prstGeom>
          <a:solidFill>
            <a:srgbClr val="E6FBF7"/>
          </a:solidFill>
          <a:ln/>
        </p:spPr>
      </p:sp>
      <p:sp>
        <p:nvSpPr>
          <p:cNvPr id="9" name="Text 7"/>
          <p:cNvSpPr/>
          <p:nvPr/>
        </p:nvSpPr>
        <p:spPr>
          <a:xfrm>
            <a:off x="4325112" y="3771900"/>
            <a:ext cx="410565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Stan jest typowany — to dokumentacja i bezpieczeństwo w jednym.</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BUDOWA GRAFU</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Węzły, krawędzie warunkowe i kompilacja</a:t>
            </a:r>
            <a:endParaRPr lang="en-US" sz="3000" dirty="0"/>
          </a:p>
        </p:txBody>
      </p:sp>
      <p:sp>
        <p:nvSpPr>
          <p:cNvPr id="4" name="Shape 2"/>
          <p:cNvSpPr/>
          <p:nvPr/>
        </p:nvSpPr>
        <p:spPr>
          <a:xfrm>
            <a:off x="566928" y="1627632"/>
            <a:ext cx="8046720" cy="2185416"/>
          </a:xfrm>
          <a:prstGeom prst="roundRect">
            <a:avLst>
              <a:gd name="adj" fmla="val 2510"/>
            </a:avLst>
          </a:prstGeom>
          <a:solidFill>
            <a:srgbClr val="0E0D24"/>
          </a:solidFill>
          <a:ln/>
          <a:effectLst>
            <a:outerShdw sx="100000" sy="100000" kx="0" ky="0" algn="bl" rotWithShape="0" blurRad="101600" dist="38100" dir="5400000">
              <a:srgbClr val="000000">
                <a:alpha val="20000"/>
              </a:srgbClr>
            </a:outerShdw>
          </a:effectLst>
        </p:spPr>
      </p:sp>
      <p:sp>
        <p:nvSpPr>
          <p:cNvPr id="5" name="Text 3"/>
          <p:cNvSpPr/>
          <p:nvPr/>
        </p:nvSpPr>
        <p:spPr>
          <a:xfrm>
            <a:off x="704088" y="1700784"/>
            <a:ext cx="777240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6" name="Text 4"/>
          <p:cNvSpPr/>
          <p:nvPr/>
        </p:nvSpPr>
        <p:spPr>
          <a:xfrm>
            <a:off x="768096" y="1920240"/>
            <a:ext cx="7680960" cy="1801368"/>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graf.add_node("agent", wezel_agenta)</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graf.add_node("narzedzia", wezel_narzedzi)</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graf.set_entry_point("agent")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krawedz warunkowa: agent -&gt; narzedzia lub koniec</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graf.add_conditional_edges("agent", czy_uzyc_narzedzia,</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{"tak": "narzedzia", "nie": END})</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graf.add_edge("narzedzia", "agent")   # cykl ReAct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app = graf.compile(checkpointer=checkpointer)</a:t>
            </a:r>
            <a:endParaRPr lang="en-US" sz="1050" dirty="0"/>
          </a:p>
        </p:txBody>
      </p:sp>
      <p:sp>
        <p:nvSpPr>
          <p:cNvPr id="7" name="Shape 5"/>
          <p:cNvSpPr/>
          <p:nvPr/>
        </p:nvSpPr>
        <p:spPr>
          <a:xfrm>
            <a:off x="566928" y="3959352"/>
            <a:ext cx="8046720" cy="566928"/>
          </a:xfrm>
          <a:prstGeom prst="roundRect">
            <a:avLst>
              <a:gd name="adj" fmla="val 9677"/>
            </a:avLst>
          </a:prstGeom>
          <a:solidFill>
            <a:srgbClr val="E6FBF7"/>
          </a:solidFill>
          <a:ln/>
        </p:spPr>
      </p:sp>
      <p:sp>
        <p:nvSpPr>
          <p:cNvPr id="8" name="Text 6"/>
          <p:cNvSpPr/>
          <p:nvPr/>
        </p:nvSpPr>
        <p:spPr>
          <a:xfrm>
            <a:off x="731520" y="3959352"/>
            <a:ext cx="771753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Krawędź warunkowa + powrót do węzła agenta = pętla ReAct wyrażona jako graf.</a:t>
            </a:r>
            <a:endParaRPr lang="en-US" sz="1150" dirty="0"/>
          </a:p>
        </p:txBody>
      </p:sp>
      <p:sp>
        <p:nvSpPr>
          <p:cNvPr id="9" name="Text 7"/>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TRWAŁOŚĆ</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Persistence i checkpointing — stan, który przeżywa</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Checkpointer zapisuje stan grafu po każdym kroku (pamięć, SQLite, Postgres).</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thread_id identyfikuje konwersację — wiele równoległych sesji.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Restart serwera nie gubi rozmowy — wznawiasz z ostatniego checkpointu.</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Możesz „cofnąć czas" — wrócić do wcześniejszego stanu (time travel).</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Podstawa pamięci długotrwałej i human-in-the-loop.</a:t>
            </a:r>
            <a:endParaRPr lang="en-US" sz="1450" dirty="0"/>
          </a:p>
        </p:txBody>
      </p:sp>
      <p:sp>
        <p:nvSpPr>
          <p:cNvPr id="5" name="Shape 3"/>
          <p:cNvSpPr/>
          <p:nvPr/>
        </p:nvSpPr>
        <p:spPr>
          <a:xfrm>
            <a:off x="5989320" y="1627632"/>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Zapis</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Po każdym kroku</a:t>
            </a:r>
            <a:endParaRPr lang="en-US" sz="1250" dirty="0"/>
          </a:p>
        </p:txBody>
      </p:sp>
      <p:sp>
        <p:nvSpPr>
          <p:cNvPr id="9" name="Shape 6"/>
          <p:cNvSpPr/>
          <p:nvPr/>
        </p:nvSpPr>
        <p:spPr>
          <a:xfrm>
            <a:off x="5989320" y="2752344"/>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thread_id</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Sesje</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Time travel</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Cofnij stan</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CZŁOWIEK W PĘTLI</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Human-in-the-loop — agent pyta, zanim zadziała</a:t>
            </a:r>
            <a:endParaRPr lang="en-US" sz="3000" dirty="0"/>
          </a:p>
        </p:txBody>
      </p:sp>
      <p:sp>
        <p:nvSpPr>
          <p:cNvPr id="4" name="Shape 2"/>
          <p:cNvSpPr/>
          <p:nvPr/>
        </p:nvSpPr>
        <p:spPr>
          <a:xfrm>
            <a:off x="566928"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5" name="Shape 3"/>
          <p:cNvSpPr/>
          <p:nvPr/>
        </p:nvSpPr>
        <p:spPr>
          <a:xfrm>
            <a:off x="1179576" y="2167128"/>
            <a:ext cx="566928" cy="566928"/>
          </a:xfrm>
          <a:prstGeom prst="roundRect">
            <a:avLst>
              <a:gd name="adj" fmla="val 22581"/>
            </a:avLst>
          </a:prstGeom>
          <a:solidFill>
            <a:srgbClr val="4F46E5"/>
          </a:solidFill>
          <a:ln/>
        </p:spPr>
      </p:sp>
      <p:pic>
        <p:nvPicPr>
          <p:cNvPr id="6" name="Image 0" descr="preencoded.png">    </p:cNvPr>
          <p:cNvPicPr>
            <a:picLocks noChangeAspect="1"/>
          </p:cNvPicPr>
          <p:nvPr/>
        </p:nvPicPr>
        <p:blipFill>
          <a:blip r:embed="rId1"/>
          <a:stretch>
            <a:fillRect/>
          </a:stretch>
        </p:blipFill>
        <p:spPr>
          <a:xfrm>
            <a:off x="1304300" y="2291852"/>
            <a:ext cx="317480" cy="317480"/>
          </a:xfrm>
          <a:prstGeom prst="rect">
            <a:avLst/>
          </a:prstGeom>
        </p:spPr>
      </p:pic>
      <p:sp>
        <p:nvSpPr>
          <p:cNvPr id="7" name="Text 4"/>
          <p:cNvSpPr/>
          <p:nvPr/>
        </p:nvSpPr>
        <p:spPr>
          <a:xfrm>
            <a:off x="658368"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1. Agent planuje</a:t>
            </a:r>
            <a:endParaRPr lang="en-US" sz="1250" dirty="0"/>
          </a:p>
        </p:txBody>
      </p:sp>
      <p:sp>
        <p:nvSpPr>
          <p:cNvPr id="8" name="Text 5"/>
          <p:cNvSpPr/>
          <p:nvPr/>
        </p:nvSpPr>
        <p:spPr>
          <a:xfrm>
            <a:off x="676656"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Chce wykonać akcję wrażliwą</a:t>
            </a:r>
            <a:endParaRPr lang="en-US" sz="950" dirty="0"/>
          </a:p>
        </p:txBody>
      </p:sp>
      <p:sp>
        <p:nvSpPr>
          <p:cNvPr id="9" name="Text 6"/>
          <p:cNvSpPr/>
          <p:nvPr/>
        </p:nvSpPr>
        <p:spPr>
          <a:xfrm>
            <a:off x="2340864"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0" name="Shape 7"/>
          <p:cNvSpPr/>
          <p:nvPr/>
        </p:nvSpPr>
        <p:spPr>
          <a:xfrm>
            <a:off x="2651760"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1" name="Shape 8"/>
          <p:cNvSpPr/>
          <p:nvPr/>
        </p:nvSpPr>
        <p:spPr>
          <a:xfrm>
            <a:off x="3264408" y="2167128"/>
            <a:ext cx="566928" cy="566928"/>
          </a:xfrm>
          <a:prstGeom prst="roundRect">
            <a:avLst>
              <a:gd name="adj" fmla="val 22581"/>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3389132" y="2291852"/>
            <a:ext cx="317480" cy="317480"/>
          </a:xfrm>
          <a:prstGeom prst="rect">
            <a:avLst/>
          </a:prstGeom>
        </p:spPr>
      </p:pic>
      <p:sp>
        <p:nvSpPr>
          <p:cNvPr id="13" name="Text 9"/>
          <p:cNvSpPr/>
          <p:nvPr/>
        </p:nvSpPr>
        <p:spPr>
          <a:xfrm>
            <a:off x="2743200"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2. Przerwa</a:t>
            </a:r>
            <a:endParaRPr lang="en-US" sz="1250" dirty="0"/>
          </a:p>
        </p:txBody>
      </p:sp>
      <p:sp>
        <p:nvSpPr>
          <p:cNvPr id="14" name="Text 10"/>
          <p:cNvSpPr/>
          <p:nvPr/>
        </p:nvSpPr>
        <p:spPr>
          <a:xfrm>
            <a:off x="2761488"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Graf zatrzymuje się (interrupt)</a:t>
            </a:r>
            <a:endParaRPr lang="en-US" sz="950" dirty="0"/>
          </a:p>
        </p:txBody>
      </p:sp>
      <p:sp>
        <p:nvSpPr>
          <p:cNvPr id="15" name="Text 11"/>
          <p:cNvSpPr/>
          <p:nvPr/>
        </p:nvSpPr>
        <p:spPr>
          <a:xfrm>
            <a:off x="4425696"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16" name="Shape 12"/>
          <p:cNvSpPr/>
          <p:nvPr/>
        </p:nvSpPr>
        <p:spPr>
          <a:xfrm>
            <a:off x="4736592"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17" name="Shape 13"/>
          <p:cNvSpPr/>
          <p:nvPr/>
        </p:nvSpPr>
        <p:spPr>
          <a:xfrm>
            <a:off x="5349240" y="2167128"/>
            <a:ext cx="566928" cy="566928"/>
          </a:xfrm>
          <a:prstGeom prst="roundRect">
            <a:avLst>
              <a:gd name="adj" fmla="val 22581"/>
            </a:avLst>
          </a:prstGeom>
          <a:solidFill>
            <a:srgbClr val="F59E0B"/>
          </a:solidFill>
          <a:ln/>
        </p:spPr>
      </p:sp>
      <p:pic>
        <p:nvPicPr>
          <p:cNvPr id="18" name="Image 2" descr="preencoded.png">    </p:cNvPr>
          <p:cNvPicPr>
            <a:picLocks noChangeAspect="1"/>
          </p:cNvPicPr>
          <p:nvPr/>
        </p:nvPicPr>
        <p:blipFill>
          <a:blip r:embed="rId3"/>
          <a:stretch>
            <a:fillRect/>
          </a:stretch>
        </p:blipFill>
        <p:spPr>
          <a:xfrm>
            <a:off x="5473964" y="2291852"/>
            <a:ext cx="317480" cy="317480"/>
          </a:xfrm>
          <a:prstGeom prst="rect">
            <a:avLst/>
          </a:prstGeom>
        </p:spPr>
      </p:pic>
      <p:sp>
        <p:nvSpPr>
          <p:cNvPr id="19" name="Text 14"/>
          <p:cNvSpPr/>
          <p:nvPr/>
        </p:nvSpPr>
        <p:spPr>
          <a:xfrm>
            <a:off x="4828032"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3. Człowiek decyduje</a:t>
            </a:r>
            <a:endParaRPr lang="en-US" sz="1250" dirty="0"/>
          </a:p>
        </p:txBody>
      </p:sp>
      <p:sp>
        <p:nvSpPr>
          <p:cNvPr id="20" name="Text 15"/>
          <p:cNvSpPr/>
          <p:nvPr/>
        </p:nvSpPr>
        <p:spPr>
          <a:xfrm>
            <a:off x="4846320"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Zatwierdza / poprawia / odrzuca</a:t>
            </a:r>
            <a:endParaRPr lang="en-US" sz="950" dirty="0"/>
          </a:p>
        </p:txBody>
      </p:sp>
      <p:sp>
        <p:nvSpPr>
          <p:cNvPr id="21" name="Text 16"/>
          <p:cNvSpPr/>
          <p:nvPr/>
        </p:nvSpPr>
        <p:spPr>
          <a:xfrm>
            <a:off x="6510528" y="2468880"/>
            <a:ext cx="329184" cy="548640"/>
          </a:xfrm>
          <a:prstGeom prst="rect">
            <a:avLst/>
          </a:prstGeom>
          <a:noFill/>
          <a:ln/>
        </p:spPr>
        <p:txBody>
          <a:bodyPr wrap="square" lIns="0" tIns="0" rIns="0" bIns="0" rtlCol="0" anchor="ctr"/>
          <a:lstStyle/>
          <a:p>
            <a:pPr algn="ctr" indent="0" marL="0">
              <a:buNone/>
            </a:pPr>
            <a:r>
              <a:rPr lang="en-US" sz="2000" b="1" dirty="0">
                <a:solidFill>
                  <a:srgbClr val="94A3B8"/>
                </a:solidFill>
              </a:rPr>
              <a:t>→</a:t>
            </a:r>
            <a:endParaRPr lang="en-US" sz="2000" dirty="0"/>
          </a:p>
        </p:txBody>
      </p:sp>
      <p:sp>
        <p:nvSpPr>
          <p:cNvPr id="22" name="Shape 17"/>
          <p:cNvSpPr/>
          <p:nvPr/>
        </p:nvSpPr>
        <p:spPr>
          <a:xfrm>
            <a:off x="6821424" y="1965960"/>
            <a:ext cx="1792224" cy="1828800"/>
          </a:xfrm>
          <a:prstGeom prst="roundRect">
            <a:avLst>
              <a:gd name="adj" fmla="val 5102"/>
            </a:avLst>
          </a:prstGeom>
          <a:solidFill>
            <a:srgbClr val="F4F5FB"/>
          </a:solidFill>
          <a:ln/>
          <a:effectLst>
            <a:outerShdw sx="100000" sy="100000" kx="0" ky="0" algn="bl" rotWithShape="0" blurRad="101600" dist="38100" dir="5400000">
              <a:srgbClr val="000000">
                <a:alpha val="12000"/>
              </a:srgbClr>
            </a:outerShdw>
          </a:effectLst>
        </p:spPr>
      </p:sp>
      <p:sp>
        <p:nvSpPr>
          <p:cNvPr id="23" name="Shape 18"/>
          <p:cNvSpPr/>
          <p:nvPr/>
        </p:nvSpPr>
        <p:spPr>
          <a:xfrm>
            <a:off x="7434072" y="2167128"/>
            <a:ext cx="566928" cy="566928"/>
          </a:xfrm>
          <a:prstGeom prst="roundRect">
            <a:avLst>
              <a:gd name="adj" fmla="val 22581"/>
            </a:avLst>
          </a:prstGeom>
          <a:solidFill>
            <a:srgbClr val="E11D6B"/>
          </a:solidFill>
          <a:ln/>
        </p:spPr>
      </p:sp>
      <p:pic>
        <p:nvPicPr>
          <p:cNvPr id="24" name="Image 3" descr="preencoded.png">    </p:cNvPr>
          <p:cNvPicPr>
            <a:picLocks noChangeAspect="1"/>
          </p:cNvPicPr>
          <p:nvPr/>
        </p:nvPicPr>
        <p:blipFill>
          <a:blip r:embed="rId4"/>
          <a:stretch>
            <a:fillRect/>
          </a:stretch>
        </p:blipFill>
        <p:spPr>
          <a:xfrm>
            <a:off x="7558796" y="2291852"/>
            <a:ext cx="317480" cy="317480"/>
          </a:xfrm>
          <a:prstGeom prst="rect">
            <a:avLst/>
          </a:prstGeom>
        </p:spPr>
      </p:pic>
      <p:sp>
        <p:nvSpPr>
          <p:cNvPr id="25" name="Text 19"/>
          <p:cNvSpPr/>
          <p:nvPr/>
        </p:nvSpPr>
        <p:spPr>
          <a:xfrm>
            <a:off x="6912864" y="2834640"/>
            <a:ext cx="1609344" cy="411480"/>
          </a:xfrm>
          <a:prstGeom prst="rect">
            <a:avLst/>
          </a:prstGeom>
          <a:noFill/>
          <a:ln/>
        </p:spPr>
        <p:txBody>
          <a:bodyPr wrap="square" lIns="0" tIns="0" rIns="0" bIns="0" rtlCol="0" anchor="t"/>
          <a:lstStyle/>
          <a:p>
            <a:pPr algn="ctr" indent="0" marL="0">
              <a:buNone/>
            </a:pPr>
            <a:r>
              <a:rPr lang="en-US" sz="1250" b="1" dirty="0">
                <a:solidFill>
                  <a:srgbClr val="1E1B2E"/>
                </a:solidFill>
                <a:latin typeface="Calibri" pitchFamily="34" charset="0"/>
                <a:ea typeface="Calibri" pitchFamily="34" charset="-122"/>
                <a:cs typeface="Calibri" pitchFamily="34" charset="-120"/>
              </a:rPr>
              <a:t>4. Wznowienie</a:t>
            </a:r>
            <a:endParaRPr lang="en-US" sz="1250" dirty="0"/>
          </a:p>
        </p:txBody>
      </p:sp>
      <p:sp>
        <p:nvSpPr>
          <p:cNvPr id="26" name="Text 20"/>
          <p:cNvSpPr/>
          <p:nvPr/>
        </p:nvSpPr>
        <p:spPr>
          <a:xfrm>
            <a:off x="6931152" y="3209544"/>
            <a:ext cx="1572768" cy="548640"/>
          </a:xfrm>
          <a:prstGeom prst="rect">
            <a:avLst/>
          </a:prstGeom>
          <a:noFill/>
          <a:ln/>
        </p:spPr>
        <p:txBody>
          <a:bodyPr wrap="square" lIns="0" tIns="0" rIns="0" bIns="0" rtlCol="0" anchor="t"/>
          <a:lstStyle/>
          <a:p>
            <a:pPr algn="ctr" indent="0" marL="0">
              <a:lnSpc>
                <a:spcPct val="90000"/>
              </a:lnSpc>
              <a:buNone/>
            </a:pPr>
            <a:r>
              <a:rPr lang="en-US" sz="950" dirty="0">
                <a:solidFill>
                  <a:srgbClr val="64748B"/>
                </a:solidFill>
                <a:latin typeface="Calibri" pitchFamily="34" charset="0"/>
                <a:ea typeface="Calibri" pitchFamily="34" charset="-122"/>
                <a:cs typeface="Calibri" pitchFamily="34" charset="-120"/>
              </a:rPr>
              <a:t>Graf kontynuuje od checkpointu</a:t>
            </a:r>
            <a:endParaRPr lang="en-US" sz="950" dirty="0"/>
          </a:p>
        </p:txBody>
      </p:sp>
      <p:sp>
        <p:nvSpPr>
          <p:cNvPr id="27" name="Text 21"/>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PAMIĘĆ</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Typy pamięci agenta — co i jak długo pamięta</a:t>
            </a:r>
            <a:endParaRPr lang="en-US" sz="30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8046720" cy="914400"/>
        </p:xfrm>
        <a:graphic>
          <a:graphicData uri="http://schemas.openxmlformats.org/drawingml/2006/table">
            <a:tbl>
              <a:tblPr/>
              <a:tblGrid>
                <a:gridCol w="2468880"/>
                <a:gridCol w="3108960"/>
                <a:gridCol w="2468880"/>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Typ pamięci</a:t>
                      </a: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 trzyma</a:t>
                      </a: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Kiedy</a:t>
                      </a:r>
                      <a:endParaRPr lang="en-US" sz="12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F46E5"/>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Buffer</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Pełną historię rozmowy</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Krótkie sesje</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Window (k)</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Ostatnie k wiadomości</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Długie czaty, limit tokenów</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Summary</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Streszczenie + ostatnie</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Bardzo długie rozmowy</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Vector store</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Fakty wyszukiwane semantycznie</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Pamięć długotrwała</a:t>
                      </a:r>
                      <a:endParaRPr lang="en-US" sz="1150" dirty="0">
                        <a:latin typeface="Calibri" charset="0"/>
                        <a:ea typeface="Calibri" charset="0"/>
                        <a:cs typeface="Calibri"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5FB"/>
                    </a:solidFill>
                  </a:tcPr>
                </a:tc>
              </a:tr>
            </a:tbl>
          </a:graphicData>
        </a:graphic>
      </p:graphicFrame>
      <p:sp>
        <p:nvSpPr>
          <p:cNvPr id="5" name="Text 2"/>
          <p:cNvSpPr/>
          <p:nvPr/>
        </p:nvSpPr>
        <p:spPr>
          <a:xfrm>
            <a:off x="566928" y="4617720"/>
            <a:ext cx="8046720" cy="36576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Krótkotrwała = kontekst bieżącej sesji. Długotrwała = wiedza między sesjami (vector store).</a:t>
            </a:r>
            <a:endParaRPr lang="en-US" sz="1050" dirty="0"/>
          </a:p>
        </p:txBody>
      </p:sp>
      <p:sp>
        <p:nvSpPr>
          <p:cNvPr id="6" name="Text 3"/>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MULTI-AGENT</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Architektura supervisora — orkiestracja agentów</a:t>
            </a:r>
            <a:endParaRPr lang="en-US" sz="3000" dirty="0"/>
          </a:p>
        </p:txBody>
      </p:sp>
      <p:sp>
        <p:nvSpPr>
          <p:cNvPr id="4" name="Shape 2"/>
          <p:cNvSpPr/>
          <p:nvPr/>
        </p:nvSpPr>
        <p:spPr>
          <a:xfrm>
            <a:off x="566928" y="1691640"/>
            <a:ext cx="548640" cy="548640"/>
          </a:xfrm>
          <a:prstGeom prst="oval">
            <a:avLst/>
          </a:prstGeom>
          <a:solidFill>
            <a:srgbClr val="4F46E5"/>
          </a:solidFill>
          <a:ln/>
        </p:spPr>
      </p:sp>
      <p:sp>
        <p:nvSpPr>
          <p:cNvPr id="5" name="Text 3"/>
          <p:cNvSpPr/>
          <p:nvPr/>
        </p:nvSpPr>
        <p:spPr>
          <a:xfrm>
            <a:off x="566928"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841248" y="2240280"/>
            <a:ext cx="0" cy="182880"/>
          </a:xfrm>
          <a:prstGeom prst="line">
            <a:avLst/>
          </a:prstGeom>
          <a:noFill/>
          <a:ln w="19050">
            <a:solidFill>
              <a:srgbClr val="94A3B8"/>
            </a:solidFill>
            <a:prstDash val="dash"/>
          </a:ln>
        </p:spPr>
      </p:sp>
      <p:sp>
        <p:nvSpPr>
          <p:cNvPr id="7" name="Text 5"/>
          <p:cNvSpPr/>
          <p:nvPr/>
        </p:nvSpPr>
        <p:spPr>
          <a:xfrm>
            <a:off x="1325880" y="160020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Supervisor</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Agent-koordynator: rozdziela zadania, zbiera wyniki.</a:t>
            </a:r>
            <a:endParaRPr lang="en-US" sz="1500" dirty="0"/>
          </a:p>
        </p:txBody>
      </p:sp>
      <p:sp>
        <p:nvSpPr>
          <p:cNvPr id="8" name="Shape 6"/>
          <p:cNvSpPr/>
          <p:nvPr/>
        </p:nvSpPr>
        <p:spPr>
          <a:xfrm>
            <a:off x="566928" y="2423160"/>
            <a:ext cx="548640" cy="548640"/>
          </a:xfrm>
          <a:prstGeom prst="oval">
            <a:avLst/>
          </a:prstGeom>
          <a:solidFill>
            <a:srgbClr val="14B8A6"/>
          </a:solidFill>
          <a:ln/>
        </p:spPr>
      </p:sp>
      <p:sp>
        <p:nvSpPr>
          <p:cNvPr id="9" name="Text 7"/>
          <p:cNvSpPr/>
          <p:nvPr/>
        </p:nvSpPr>
        <p:spPr>
          <a:xfrm>
            <a:off x="566928"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841248" y="2971800"/>
            <a:ext cx="0" cy="182880"/>
          </a:xfrm>
          <a:prstGeom prst="line">
            <a:avLst/>
          </a:prstGeom>
          <a:noFill/>
          <a:ln w="19050">
            <a:solidFill>
              <a:srgbClr val="94A3B8"/>
            </a:solidFill>
            <a:prstDash val="dash"/>
          </a:ln>
        </p:spPr>
      </p:sp>
      <p:sp>
        <p:nvSpPr>
          <p:cNvPr id="11" name="Text 9"/>
          <p:cNvSpPr/>
          <p:nvPr/>
        </p:nvSpPr>
        <p:spPr>
          <a:xfrm>
            <a:off x="1325880" y="233172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Agent badawczy</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Wyszukuje i streszcza informacje.</a:t>
            </a:r>
            <a:endParaRPr lang="en-US" sz="1500" dirty="0"/>
          </a:p>
        </p:txBody>
      </p:sp>
      <p:sp>
        <p:nvSpPr>
          <p:cNvPr id="12" name="Shape 10"/>
          <p:cNvSpPr/>
          <p:nvPr/>
        </p:nvSpPr>
        <p:spPr>
          <a:xfrm>
            <a:off x="566928" y="3154680"/>
            <a:ext cx="548640" cy="548640"/>
          </a:xfrm>
          <a:prstGeom prst="oval">
            <a:avLst/>
          </a:prstGeom>
          <a:solidFill>
            <a:srgbClr val="F59E0B"/>
          </a:solidFill>
          <a:ln/>
        </p:spPr>
      </p:sp>
      <p:sp>
        <p:nvSpPr>
          <p:cNvPr id="13" name="Text 11"/>
          <p:cNvSpPr/>
          <p:nvPr/>
        </p:nvSpPr>
        <p:spPr>
          <a:xfrm>
            <a:off x="566928" y="3154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Shape 12"/>
          <p:cNvSpPr/>
          <p:nvPr/>
        </p:nvSpPr>
        <p:spPr>
          <a:xfrm>
            <a:off x="841248" y="3703320"/>
            <a:ext cx="0" cy="182880"/>
          </a:xfrm>
          <a:prstGeom prst="line">
            <a:avLst/>
          </a:prstGeom>
          <a:noFill/>
          <a:ln w="19050">
            <a:solidFill>
              <a:srgbClr val="94A3B8"/>
            </a:solidFill>
            <a:prstDash val="dash"/>
          </a:ln>
        </p:spPr>
      </p:sp>
      <p:sp>
        <p:nvSpPr>
          <p:cNvPr id="15" name="Text 13"/>
          <p:cNvSpPr/>
          <p:nvPr/>
        </p:nvSpPr>
        <p:spPr>
          <a:xfrm>
            <a:off x="1325880" y="306324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Agent analityczny</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Liczy, analizuje dane, generuje wnioski.</a:t>
            </a:r>
            <a:endParaRPr lang="en-US" sz="1500" dirty="0"/>
          </a:p>
        </p:txBody>
      </p:sp>
      <p:sp>
        <p:nvSpPr>
          <p:cNvPr id="16" name="Shape 14"/>
          <p:cNvSpPr/>
          <p:nvPr/>
        </p:nvSpPr>
        <p:spPr>
          <a:xfrm>
            <a:off x="566928" y="3886200"/>
            <a:ext cx="548640" cy="548640"/>
          </a:xfrm>
          <a:prstGeom prst="oval">
            <a:avLst/>
          </a:prstGeom>
          <a:solidFill>
            <a:srgbClr val="E11D6B"/>
          </a:solidFill>
          <a:ln/>
        </p:spPr>
      </p:sp>
      <p:sp>
        <p:nvSpPr>
          <p:cNvPr id="17" name="Text 15"/>
          <p:cNvSpPr/>
          <p:nvPr/>
        </p:nvSpPr>
        <p:spPr>
          <a:xfrm>
            <a:off x="566928" y="3886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325880" y="3794760"/>
            <a:ext cx="7315200" cy="731520"/>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Agent piszący</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Składa finalną odpowiedź dla użytkownika.</a:t>
            </a:r>
            <a:endParaRPr lang="en-US" sz="1500" dirty="0"/>
          </a:p>
        </p:txBody>
      </p:sp>
      <p:sp>
        <p:nvSpPr>
          <p:cNvPr id="19" name="Text 17"/>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WZORCE ZAAWANSOWANE</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Hierarchia, handoffs, plan-and-execute, refleksja</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Hierarchical — supervisorzy nad supervisorami, dla bardzo złożonych domen.</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Handoffs — agent przekazuje sterowanie innemu agentowi (jak eskalacja w call center).</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Plan-and-Execute — najpierw plan kroków, potem wykonanie; mniej błądzenia, niższy koszt.</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Reflexion / self-reflection — agent krytykuje własny wynik i poprawia go w kolejnej iteracji.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Uwaga: każdy poziom złożoności to więcej wywołań, kosztu i punktów awarii.</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Hierarchia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Warstwy</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Handoff</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Eskalacja</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Refleksja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Samokrytyka</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LANGSMITH</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Obserwowalność agenta — bez tracingu jesteś ślepy</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LangSmith pokazuje pełny ślad: każdy krok, prompt, wywołanie narzędzia, koszt i czas.</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Widzisz, dlaczego agent podjął decyzję — cały łańcuch myśli i obserwacji.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Wąskie gardła: który krok jest wolny, które narzędzie zawodzi.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Koszt per uruchomienie — ile tokenów i pieniędzy zjadł jeden request.</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Datasets i evals — uruchamiaj agenta na zestawie testowym i porównuj wersje.</a:t>
            </a:r>
            <a:endParaRPr lang="en-US" sz="1450" dirty="0"/>
          </a:p>
        </p:txBody>
      </p:sp>
      <p:sp>
        <p:nvSpPr>
          <p:cNvPr id="5" name="Shape 3"/>
          <p:cNvSpPr/>
          <p:nvPr/>
        </p:nvSpPr>
        <p:spPr>
          <a:xfrm>
            <a:off x="5989320" y="1627632"/>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Ślad</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Krok po kroku</a:t>
            </a:r>
            <a:endParaRPr lang="en-US" sz="1250" dirty="0"/>
          </a:p>
        </p:txBody>
      </p:sp>
      <p:sp>
        <p:nvSpPr>
          <p:cNvPr id="9" name="Shape 6"/>
          <p:cNvSpPr/>
          <p:nvPr/>
        </p:nvSpPr>
        <p:spPr>
          <a:xfrm>
            <a:off x="5989320" y="2752344"/>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Koszt</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Per request</a:t>
            </a:r>
            <a:endParaRPr lang="en-US" sz="1250" dirty="0"/>
          </a:p>
        </p:txBody>
      </p:sp>
      <p:sp>
        <p:nvSpPr>
          <p:cNvPr id="13" name="Shape 9"/>
          <p:cNvSpPr/>
          <p:nvPr/>
        </p:nvSpPr>
        <p:spPr>
          <a:xfrm>
            <a:off x="5989320" y="3877056"/>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Evals</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Wersjonowanie</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ODPORNOŚĆ</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Error handling — retry, fallback, limity</a:t>
            </a:r>
            <a:endParaRPr lang="en-US" sz="3000" dirty="0"/>
          </a:p>
        </p:txBody>
      </p:sp>
      <p:sp>
        <p:nvSpPr>
          <p:cNvPr id="4" name="Text 2"/>
          <p:cNvSpPr/>
          <p:nvPr/>
        </p:nvSpPr>
        <p:spPr>
          <a:xfrm>
            <a:off x="566928" y="1645920"/>
            <a:ext cx="3383280" cy="292608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334155"/>
                </a:solidFill>
                <a:latin typeface="Calibri" pitchFamily="34" charset="0"/>
                <a:ea typeface="Calibri" pitchFamily="34" charset="-122"/>
                <a:cs typeface="Calibri" pitchFamily="34" charset="-120"/>
              </a:rPr>
              <a:t>Narzędzia zawodzą — załóż to z góry</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Retry z backoffem na błędy przejściowe</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Fallback na prostszą ścieżkę</a:t>
            </a:r>
            <a:endParaRPr lang="en-US" sz="1300" dirty="0"/>
          </a:p>
          <a:p>
            <a:pPr marL="177800" indent="-177800">
              <a:spcAft>
                <a:spcPts val="800"/>
              </a:spcAft>
              <a:buSzPct val="100000"/>
              <a:buChar char="•"/>
            </a:pPr>
            <a:r>
              <a:rPr lang="en-US" sz="1300" dirty="0">
                <a:solidFill>
                  <a:srgbClr val="334155"/>
                </a:solidFill>
                <a:latin typeface="Calibri" pitchFamily="34" charset="0"/>
                <a:ea typeface="Calibri" pitchFamily="34" charset="-122"/>
                <a:cs typeface="Calibri" pitchFamily="34" charset="-120"/>
              </a:rPr>
              <a:t>Limit kroków i budżetu tokenów</a:t>
            </a:r>
            <a:endParaRPr lang="en-US" sz="1300" dirty="0"/>
          </a:p>
        </p:txBody>
      </p:sp>
      <p:sp>
        <p:nvSpPr>
          <p:cNvPr id="5" name="Shape 3"/>
          <p:cNvSpPr/>
          <p:nvPr/>
        </p:nvSpPr>
        <p:spPr>
          <a:xfrm>
            <a:off x="4160520" y="1627632"/>
            <a:ext cx="4434840" cy="2372868"/>
          </a:xfrm>
          <a:prstGeom prst="roundRect">
            <a:avLst>
              <a:gd name="adj" fmla="val 2312"/>
            </a:avLst>
          </a:prstGeom>
          <a:solidFill>
            <a:srgbClr val="0E0D24"/>
          </a:solidFill>
          <a:ln/>
          <a:effectLst>
            <a:outerShdw sx="100000" sy="100000" kx="0" ky="0" algn="bl" rotWithShape="0" blurRad="101600" dist="38100" dir="5400000">
              <a:srgbClr val="000000">
                <a:alpha val="20000"/>
              </a:srgbClr>
            </a:outerShdw>
          </a:effectLst>
        </p:spPr>
      </p:sp>
      <p:sp>
        <p:nvSpPr>
          <p:cNvPr id="6" name="Text 4"/>
          <p:cNvSpPr/>
          <p:nvPr/>
        </p:nvSpPr>
        <p:spPr>
          <a:xfrm>
            <a:off x="4297680" y="1700784"/>
            <a:ext cx="4160520" cy="201168"/>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python</a:t>
            </a:r>
            <a:endParaRPr lang="en-US" sz="900" dirty="0"/>
          </a:p>
        </p:txBody>
      </p:sp>
      <p:sp>
        <p:nvSpPr>
          <p:cNvPr id="7" name="Text 5"/>
          <p:cNvSpPr/>
          <p:nvPr/>
        </p:nvSpPr>
        <p:spPr>
          <a:xfrm>
            <a:off x="4361688" y="1920240"/>
            <a:ext cx="4069080" cy="1988820"/>
          </a:xfrm>
          <a:prstGeom prst="rect">
            <a:avLst/>
          </a:prstGeom>
          <a:noFill/>
          <a:ln/>
        </p:spPr>
        <p:txBody>
          <a:bodyPr wrap="square" lIns="0" tIns="0" rIns="0" bIns="0" rtlCol="0" anchor="t"/>
          <a:lstStyle/>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from tenacity import retry, wait_exponential</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@tool</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@retry(wait=wait_exponential(min=1, max=10),</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stop=stop_after_attempt(3))</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def pobierz_dane(id: str) -&gt; dict:</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odp = api.get(id, timeout=5)</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odp.raise_for_status()</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return odp.json()</a:t>
            </a:r>
            <a:endParaRPr lang="en-US" sz="1050" dirty="0"/>
          </a:p>
          <a:p>
            <a:pPr indent="0" marL="0">
              <a:lnSpc>
                <a:spcPct val="100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pPr indent="0" marL="0">
              <a:lnSpc>
                <a:spcPct val="100000"/>
              </a:lnSpc>
              <a:buNone/>
            </a:pPr>
            <a:r>
              <a:rPr lang="en-US" sz="1050" i="1" dirty="0">
                <a:solidFill>
                  <a:srgbClr val="6B7280"/>
                </a:solidFill>
                <a:latin typeface="Courier New" pitchFamily="34" charset="0"/>
                <a:ea typeface="Courier New" pitchFamily="34" charset="-122"/>
                <a:cs typeface="Courier New" pitchFamily="34" charset="-120"/>
              </a:rPr>
              <a:t># w executorze: max_iterations + max_execution_time</a:t>
            </a:r>
            <a:endParaRPr lang="en-US" sz="1050" dirty="0"/>
          </a:p>
        </p:txBody>
      </p:sp>
      <p:sp>
        <p:nvSpPr>
          <p:cNvPr id="8" name="Shape 6"/>
          <p:cNvSpPr/>
          <p:nvPr/>
        </p:nvSpPr>
        <p:spPr>
          <a:xfrm>
            <a:off x="4160520" y="4146804"/>
            <a:ext cx="4434840" cy="566928"/>
          </a:xfrm>
          <a:prstGeom prst="roundRect">
            <a:avLst>
              <a:gd name="adj" fmla="val 9677"/>
            </a:avLst>
          </a:prstGeom>
          <a:solidFill>
            <a:srgbClr val="E6FBF7"/>
          </a:solidFill>
          <a:ln/>
        </p:spPr>
      </p:sp>
      <p:sp>
        <p:nvSpPr>
          <p:cNvPr id="9" name="Text 7"/>
          <p:cNvSpPr/>
          <p:nvPr/>
        </p:nvSpPr>
        <p:spPr>
          <a:xfrm>
            <a:off x="4325112" y="4146804"/>
            <a:ext cx="4105656" cy="56692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  </a:t>
            </a:r>
            <a:pPr indent="0" marL="0">
              <a:buNone/>
            </a:pPr>
            <a:r>
              <a:rPr lang="en-US" sz="1150" dirty="0">
                <a:solidFill>
                  <a:srgbClr val="1E1B2E"/>
                </a:solidFill>
                <a:latin typeface="Calibri" pitchFamily="34" charset="0"/>
                <a:ea typeface="Calibri" pitchFamily="34" charset="-122"/>
                <a:cs typeface="Calibri" pitchFamily="34" charset="-120"/>
              </a:rPr>
              <a:t>Agent jest tak niezawodny, jak jego najsłabsze narzędzie — projektuj na awarię.</a:t>
            </a:r>
            <a:endParaRPr lang="en-US" sz="1150" dirty="0"/>
          </a:p>
        </p:txBody>
      </p:sp>
      <p:sp>
        <p:nvSpPr>
          <p:cNvPr id="10" name="Text 8"/>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CASE STUDIES</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Agenci w praktyce — cztery realne zastosowania</a:t>
            </a:r>
            <a:endParaRPr lang="en-US" sz="3000" dirty="0"/>
          </a:p>
        </p:txBody>
      </p:sp>
      <p:sp>
        <p:nvSpPr>
          <p:cNvPr id="4" name="Shape 2"/>
          <p:cNvSpPr/>
          <p:nvPr/>
        </p:nvSpPr>
        <p:spPr>
          <a:xfrm>
            <a:off x="566928" y="1600200"/>
            <a:ext cx="3977640" cy="841248"/>
          </a:xfrm>
          <a:prstGeom prst="roundRect">
            <a:avLst>
              <a:gd name="adj" fmla="val 8696"/>
            </a:avLst>
          </a:prstGeom>
          <a:solidFill>
            <a:srgbClr val="4F46E5"/>
          </a:solidFill>
          <a:ln/>
          <a:effectLst>
            <a:outerShdw sx="100000" sy="100000" kx="0" ky="0" algn="bl" rotWithShape="0" blurRad="101600" dist="38100" dir="5400000">
              <a:srgbClr val="000000">
                <a:alpha val="12000"/>
              </a:srgbClr>
            </a:outerShdw>
          </a:effectLst>
        </p:spPr>
      </p:sp>
      <p:sp>
        <p:nvSpPr>
          <p:cNvPr id="5" name="Shape 3"/>
          <p:cNvSpPr/>
          <p:nvPr/>
        </p:nvSpPr>
        <p:spPr>
          <a:xfrm>
            <a:off x="713232" y="1783080"/>
            <a:ext cx="475488" cy="475488"/>
          </a:xfrm>
          <a:prstGeom prst="roundRect">
            <a:avLst>
              <a:gd name="adj" fmla="val 19231"/>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817839" y="1887687"/>
            <a:ext cx="266273" cy="266273"/>
          </a:xfrm>
          <a:prstGeom prst="rect">
            <a:avLst/>
          </a:prstGeom>
        </p:spPr>
      </p:pic>
      <p:sp>
        <p:nvSpPr>
          <p:cNvPr id="7" name="Text 4"/>
          <p:cNvSpPr/>
          <p:nvPr/>
        </p:nvSpPr>
        <p:spPr>
          <a:xfrm>
            <a:off x="1316736" y="1655064"/>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Research Assistant</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Wyszukuje, streszcza, syntetyzuje raport ze źródłami.</a:t>
            </a:r>
            <a:endParaRPr lang="en-US" sz="1300" dirty="0"/>
          </a:p>
        </p:txBody>
      </p:sp>
      <p:sp>
        <p:nvSpPr>
          <p:cNvPr id="8" name="Shape 5"/>
          <p:cNvSpPr/>
          <p:nvPr/>
        </p:nvSpPr>
        <p:spPr>
          <a:xfrm>
            <a:off x="566928" y="2587752"/>
            <a:ext cx="3977640" cy="841248"/>
          </a:xfrm>
          <a:prstGeom prst="roundRect">
            <a:avLst>
              <a:gd name="adj" fmla="val 8696"/>
            </a:avLst>
          </a:prstGeom>
          <a:solidFill>
            <a:srgbClr val="14B8A6"/>
          </a:solidFill>
          <a:ln/>
          <a:effectLst>
            <a:outerShdw sx="100000" sy="100000" kx="0" ky="0" algn="bl" rotWithShape="0" blurRad="101600" dist="38100" dir="5400000">
              <a:srgbClr val="000000">
                <a:alpha val="12000"/>
              </a:srgbClr>
            </a:outerShdw>
          </a:effectLst>
        </p:spPr>
      </p:sp>
      <p:sp>
        <p:nvSpPr>
          <p:cNvPr id="9" name="Shape 6"/>
          <p:cNvSpPr/>
          <p:nvPr/>
        </p:nvSpPr>
        <p:spPr>
          <a:xfrm>
            <a:off x="713232" y="2770632"/>
            <a:ext cx="475488" cy="475488"/>
          </a:xfrm>
          <a:prstGeom prst="roundRect">
            <a:avLst>
              <a:gd name="adj" fmla="val 19231"/>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817839" y="2875239"/>
            <a:ext cx="266273" cy="266273"/>
          </a:xfrm>
          <a:prstGeom prst="rect">
            <a:avLst/>
          </a:prstGeom>
        </p:spPr>
      </p:pic>
      <p:sp>
        <p:nvSpPr>
          <p:cNvPr id="11" name="Text 7"/>
          <p:cNvSpPr/>
          <p:nvPr/>
        </p:nvSpPr>
        <p:spPr>
          <a:xfrm>
            <a:off x="1316736" y="2642616"/>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Data Analysis</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Pisze i wykonuje kod, analizuje dane, wyciąga wnioski.</a:t>
            </a:r>
            <a:endParaRPr lang="en-US" sz="1300" dirty="0"/>
          </a:p>
        </p:txBody>
      </p:sp>
      <p:sp>
        <p:nvSpPr>
          <p:cNvPr id="12" name="Shape 8"/>
          <p:cNvSpPr/>
          <p:nvPr/>
        </p:nvSpPr>
        <p:spPr>
          <a:xfrm>
            <a:off x="4818888" y="1600200"/>
            <a:ext cx="3977640" cy="841248"/>
          </a:xfrm>
          <a:prstGeom prst="roundRect">
            <a:avLst>
              <a:gd name="adj" fmla="val 8696"/>
            </a:avLst>
          </a:prstGeom>
          <a:solidFill>
            <a:srgbClr val="F59E0B"/>
          </a:solidFill>
          <a:ln/>
          <a:effectLst>
            <a:outerShdw sx="100000" sy="100000" kx="0" ky="0" algn="bl" rotWithShape="0" blurRad="101600" dist="38100" dir="5400000">
              <a:srgbClr val="000000">
                <a:alpha val="12000"/>
              </a:srgbClr>
            </a:outerShdw>
          </a:effectLst>
        </p:spPr>
      </p:sp>
      <p:sp>
        <p:nvSpPr>
          <p:cNvPr id="13" name="Shape 9"/>
          <p:cNvSpPr/>
          <p:nvPr/>
        </p:nvSpPr>
        <p:spPr>
          <a:xfrm>
            <a:off x="4965192" y="1783080"/>
            <a:ext cx="475488" cy="475488"/>
          </a:xfrm>
          <a:prstGeom prst="roundRect">
            <a:avLst>
              <a:gd name="adj" fmla="val 19231"/>
            </a:avLst>
          </a:prstGeom>
          <a:solidFill>
            <a:srgbClr val="FFFFFF"/>
          </a:solidFill>
          <a:ln/>
        </p:spPr>
      </p:sp>
      <p:pic>
        <p:nvPicPr>
          <p:cNvPr id="14" name="Image 2" descr="preencoded.png">    </p:cNvPr>
          <p:cNvPicPr>
            <a:picLocks noChangeAspect="1"/>
          </p:cNvPicPr>
          <p:nvPr/>
        </p:nvPicPr>
        <p:blipFill>
          <a:blip r:embed="rId3"/>
          <a:stretch>
            <a:fillRect/>
          </a:stretch>
        </p:blipFill>
        <p:spPr>
          <a:xfrm>
            <a:off x="5069799" y="1887687"/>
            <a:ext cx="266273" cy="266273"/>
          </a:xfrm>
          <a:prstGeom prst="rect">
            <a:avLst/>
          </a:prstGeom>
        </p:spPr>
      </p:pic>
      <p:sp>
        <p:nvSpPr>
          <p:cNvPr id="15" name="Text 10"/>
          <p:cNvSpPr/>
          <p:nvPr/>
        </p:nvSpPr>
        <p:spPr>
          <a:xfrm>
            <a:off x="5568696" y="1655064"/>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Customer Service</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Odpowiada, sięga do systemów, eskaluje do człowieka.</a:t>
            </a:r>
            <a:endParaRPr lang="en-US" sz="1300" dirty="0"/>
          </a:p>
        </p:txBody>
      </p:sp>
      <p:sp>
        <p:nvSpPr>
          <p:cNvPr id="16" name="Shape 11"/>
          <p:cNvSpPr/>
          <p:nvPr/>
        </p:nvSpPr>
        <p:spPr>
          <a:xfrm>
            <a:off x="4818888" y="2587752"/>
            <a:ext cx="3977640" cy="841248"/>
          </a:xfrm>
          <a:prstGeom prst="roundRect">
            <a:avLst>
              <a:gd name="adj" fmla="val 8696"/>
            </a:avLst>
          </a:prstGeom>
          <a:solidFill>
            <a:srgbClr val="E11D6B"/>
          </a:solidFill>
          <a:ln/>
          <a:effectLst>
            <a:outerShdw sx="100000" sy="100000" kx="0" ky="0" algn="bl" rotWithShape="0" blurRad="101600" dist="38100" dir="5400000">
              <a:srgbClr val="000000">
                <a:alpha val="12000"/>
              </a:srgbClr>
            </a:outerShdw>
          </a:effectLst>
        </p:spPr>
      </p:sp>
      <p:sp>
        <p:nvSpPr>
          <p:cNvPr id="17" name="Shape 12"/>
          <p:cNvSpPr/>
          <p:nvPr/>
        </p:nvSpPr>
        <p:spPr>
          <a:xfrm>
            <a:off x="4965192" y="2770632"/>
            <a:ext cx="475488" cy="475488"/>
          </a:xfrm>
          <a:prstGeom prst="roundRect">
            <a:avLst>
              <a:gd name="adj" fmla="val 19231"/>
            </a:avLst>
          </a:prstGeom>
          <a:solidFill>
            <a:srgbClr val="FFFFFF"/>
          </a:solidFill>
          <a:ln/>
        </p:spPr>
      </p:sp>
      <p:pic>
        <p:nvPicPr>
          <p:cNvPr id="18" name="Image 3" descr="preencoded.png">    </p:cNvPr>
          <p:cNvPicPr>
            <a:picLocks noChangeAspect="1"/>
          </p:cNvPicPr>
          <p:nvPr/>
        </p:nvPicPr>
        <p:blipFill>
          <a:blip r:embed="rId4"/>
          <a:stretch>
            <a:fillRect/>
          </a:stretch>
        </p:blipFill>
        <p:spPr>
          <a:xfrm>
            <a:off x="5069799" y="2875239"/>
            <a:ext cx="266273" cy="266273"/>
          </a:xfrm>
          <a:prstGeom prst="rect">
            <a:avLst/>
          </a:prstGeom>
        </p:spPr>
      </p:pic>
      <p:sp>
        <p:nvSpPr>
          <p:cNvPr id="19" name="Text 13"/>
          <p:cNvSpPr/>
          <p:nvPr/>
        </p:nvSpPr>
        <p:spPr>
          <a:xfrm>
            <a:off x="5568696" y="2642616"/>
            <a:ext cx="3081528" cy="731520"/>
          </a:xfrm>
          <a:prstGeom prst="rect">
            <a:avLst/>
          </a:prstGeom>
          <a:noFill/>
          <a:ln/>
        </p:spPr>
        <p:txBody>
          <a:bodyPr wrap="square" lIns="0" tIns="0" rIns="0" bIns="0" rtlCol="0" anchor="ctr"/>
          <a:lstStyle/>
          <a:p>
            <a:pPr indent="0" marL="0">
              <a:lnSpc>
                <a:spcPct val="92000"/>
              </a:lnSpc>
              <a:buNone/>
            </a:pPr>
            <a:r>
              <a:rPr lang="en-US" sz="1300" b="1" dirty="0">
                <a:solidFill>
                  <a:srgbClr val="1E1B2E"/>
                </a:solidFill>
                <a:latin typeface="Calibri" pitchFamily="34" charset="0"/>
                <a:ea typeface="Calibri" pitchFamily="34" charset="-122"/>
                <a:cs typeface="Calibri" pitchFamily="34" charset="-120"/>
              </a:rPr>
              <a:t>Code Generation</a:t>
            </a:r>
            <a:endParaRPr lang="en-US" sz="1300" dirty="0"/>
          </a:p>
          <a:p>
            <a:pPr indent="0" marL="0">
              <a:lnSpc>
                <a:spcPct val="92000"/>
              </a:lnSpc>
              <a:buNone/>
            </a:pPr>
            <a:r>
              <a:rPr lang="en-US" sz="1050" dirty="0">
                <a:solidFill>
                  <a:srgbClr val="64748B"/>
                </a:solidFill>
                <a:latin typeface="Calibri" pitchFamily="34" charset="0"/>
                <a:ea typeface="Calibri" pitchFamily="34" charset="-122"/>
                <a:cs typeface="Calibri" pitchFamily="34" charset="-120"/>
              </a:rPr>
              <a:t>Generuje, uruchamia, naprawia kod w pętli.</a:t>
            </a:r>
            <a:endParaRPr lang="en-US" sz="1300" dirty="0"/>
          </a:p>
        </p:txBody>
      </p:sp>
      <p:sp>
        <p:nvSpPr>
          <p:cNvPr id="20" name="Text 14"/>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PRODUKCJA</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Wdrożenie agenta — stateful, skalowanie, integracja</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Stateful vs stateless: stan trzymaj poza procesem (Postgres/Redis), nie w pamięci.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Skalowanie poziome: bezstanowe workery + współdzielony checkpointer i kolejka.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Asynchroniczność: długie zadania przez kolejkę zadań, nie synchroniczny request.</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Integracja: REST API dla zapytań, kolejki dla zadań w tle, MCP dla narzędzi.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Limity per użytkownik: budżet tokenów, rate limiting, timeouty.</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Stan</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Poza procesem</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Kolejka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Zadania w tle</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MCP</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Narzędzia</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E11D6B"/>
                </a:solidFill>
                <a:latin typeface="Calibri" pitchFamily="34" charset="0"/>
                <a:ea typeface="Calibri" pitchFamily="34" charset="-122"/>
                <a:cs typeface="Calibri" pitchFamily="34" charset="-120"/>
              </a:rPr>
              <a:t>BEZPIECZEŃSTWO AGENTÓW</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Guardrails — bo agent działa, nie tylko mówi</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Zasada najmniejszych uprawnień: agent dostaje tylko narzędzia, których naprawdę potrzebuje.</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Akcje nieodwracalne za zgodą człowieka (human-in-the-loop).</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Walidacja argumentów narzędzi — agent może podać błędne lub złośliwe wartości.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Sandbox dla wykonania kodu — izolacja, brak dostępu do sieci/plików.</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Filtrowanie wejścia i wyjścia — prompt injection, dane wrażliwe, PII.</a:t>
            </a:r>
            <a:endParaRPr lang="en-US" sz="1450" dirty="0"/>
          </a:p>
        </p:txBody>
      </p:sp>
      <p:sp>
        <p:nvSpPr>
          <p:cNvPr id="5" name="Shape 3"/>
          <p:cNvSpPr/>
          <p:nvPr/>
        </p:nvSpPr>
        <p:spPr>
          <a:xfrm>
            <a:off x="5989320" y="1627632"/>
            <a:ext cx="2651760" cy="960120"/>
          </a:xfrm>
          <a:prstGeom prst="roundRect">
            <a:avLst>
              <a:gd name="adj" fmla="val 7619"/>
            </a:avLst>
          </a:prstGeom>
          <a:solidFill>
            <a:srgbClr val="E11D6B"/>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Least priv.</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Wąski zakres</a:t>
            </a:r>
            <a:endParaRPr lang="en-US" sz="1250" dirty="0"/>
          </a:p>
        </p:txBody>
      </p:sp>
      <p:sp>
        <p:nvSpPr>
          <p:cNvPr id="9" name="Shape 6"/>
          <p:cNvSpPr/>
          <p:nvPr/>
        </p:nvSpPr>
        <p:spPr>
          <a:xfrm>
            <a:off x="5989320" y="2752344"/>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Zgoda</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Na akcje</a:t>
            </a:r>
            <a:endParaRPr lang="en-US" sz="1250" dirty="0"/>
          </a:p>
        </p:txBody>
      </p:sp>
      <p:sp>
        <p:nvSpPr>
          <p:cNvPr id="13" name="Shape 9"/>
          <p:cNvSpPr/>
          <p:nvPr/>
        </p:nvSpPr>
        <p:spPr>
          <a:xfrm>
            <a:off x="5989320" y="3877056"/>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Sandbox</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Izolacja</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840000">
            <a:off x="7680960" y="-1097280"/>
            <a:ext cx="4023360" cy="4023360"/>
          </a:xfrm>
          <a:prstGeom prst="roundRect">
            <a:avLst>
              <a:gd name="adj" fmla="val 11364"/>
            </a:avLst>
          </a:prstGeom>
          <a:solidFill>
            <a:srgbClr val="F59E0B">
              <a:alpha val="10000"/>
            </a:srgbClr>
          </a:solidFill>
          <a:ln/>
        </p:spPr>
      </p:sp>
      <p:sp>
        <p:nvSpPr>
          <p:cNvPr id="3" name="Shape 1"/>
          <p:cNvSpPr/>
          <p:nvPr/>
        </p:nvSpPr>
        <p:spPr>
          <a:xfrm>
            <a:off x="548640" y="566928"/>
            <a:ext cx="822960" cy="822960"/>
          </a:xfrm>
          <a:prstGeom prst="roundRect">
            <a:avLst>
              <a:gd name="adj" fmla="val 20000"/>
            </a:avLst>
          </a:prstGeom>
          <a:solidFill>
            <a:srgbClr val="F59E0B"/>
          </a:solidFill>
          <a:ln/>
        </p:spPr>
      </p:sp>
      <p:pic>
        <p:nvPicPr>
          <p:cNvPr id="4" name="Image 0" descr="preencoded.png">    </p:cNvPr>
          <p:cNvPicPr>
            <a:picLocks noChangeAspect="1"/>
          </p:cNvPicPr>
          <p:nvPr/>
        </p:nvPicPr>
        <p:blipFill>
          <a:blip r:embed="rId1"/>
          <a:stretch>
            <a:fillRect/>
          </a:stretch>
        </p:blipFill>
        <p:spPr>
          <a:xfrm>
            <a:off x="729691" y="747979"/>
            <a:ext cx="460858" cy="460858"/>
          </a:xfrm>
          <a:prstGeom prst="rect">
            <a:avLst/>
          </a:prstGeom>
        </p:spPr>
      </p:pic>
      <p:sp>
        <p:nvSpPr>
          <p:cNvPr id="5" name="Text 2"/>
          <p:cNvSpPr/>
          <p:nvPr/>
        </p:nvSpPr>
        <p:spPr>
          <a:xfrm>
            <a:off x="1554480" y="548640"/>
            <a:ext cx="5486400" cy="411480"/>
          </a:xfrm>
          <a:prstGeom prst="rect">
            <a:avLst/>
          </a:prstGeom>
          <a:noFill/>
          <a:ln/>
        </p:spPr>
        <p:txBody>
          <a:bodyPr wrap="square" lIns="0" tIns="0" rIns="0" bIns="0" rtlCol="0" anchor="ctr"/>
          <a:lstStyle/>
          <a:p>
            <a:pPr indent="0" marL="0">
              <a:buNone/>
            </a:pPr>
            <a:r>
              <a:rPr lang="en-US" sz="1400" b="1" spc="200" kern="0" dirty="0">
                <a:solidFill>
                  <a:srgbClr val="F59E0B"/>
                </a:solidFill>
                <a:latin typeface="Calibri" pitchFamily="34" charset="0"/>
                <a:ea typeface="Calibri" pitchFamily="34" charset="-122"/>
                <a:cs typeface="Calibri" pitchFamily="34" charset="-120"/>
              </a:rPr>
              <a:t>LAB 4</a:t>
            </a:r>
            <a:endParaRPr lang="en-US" sz="1400" dirty="0"/>
          </a:p>
        </p:txBody>
      </p:sp>
      <p:sp>
        <p:nvSpPr>
          <p:cNvPr id="6" name="Text 3"/>
          <p:cNvSpPr/>
          <p:nvPr/>
        </p:nvSpPr>
        <p:spPr>
          <a:xfrm>
            <a:off x="1554480" y="932688"/>
            <a:ext cx="694944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Agent w LangGraph z narzędziami i pamięcią</a:t>
            </a:r>
            <a:endParaRPr lang="en-US" sz="2400" dirty="0"/>
          </a:p>
        </p:txBody>
      </p:sp>
      <p:sp>
        <p:nvSpPr>
          <p:cNvPr id="7" name="Shape 4"/>
          <p:cNvSpPr/>
          <p:nvPr/>
        </p:nvSpPr>
        <p:spPr>
          <a:xfrm>
            <a:off x="548640" y="1783080"/>
            <a:ext cx="8046720" cy="713232"/>
          </a:xfrm>
          <a:prstGeom prst="roundRect">
            <a:avLst>
              <a:gd name="adj" fmla="val 10256"/>
            </a:avLst>
          </a:prstGeom>
          <a:solidFill>
            <a:srgbClr val="1F1D45"/>
          </a:solidFill>
          <a:ln/>
        </p:spPr>
      </p:sp>
      <p:sp>
        <p:nvSpPr>
          <p:cNvPr id="8" name="Text 5"/>
          <p:cNvSpPr/>
          <p:nvPr/>
        </p:nvSpPr>
        <p:spPr>
          <a:xfrm>
            <a:off x="731520" y="1783080"/>
            <a:ext cx="7680960" cy="713232"/>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Cel:  </a:t>
            </a:r>
            <a:pPr indent="0" marL="0">
              <a:buNone/>
            </a:pPr>
            <a:r>
              <a:rPr lang="en-US" sz="1300" dirty="0">
                <a:solidFill>
                  <a:srgbClr val="FFFFFF"/>
                </a:solidFill>
                <a:latin typeface="Calibri" pitchFamily="34" charset="0"/>
                <a:ea typeface="Calibri" pitchFamily="34" charset="-122"/>
                <a:cs typeface="Calibri" pitchFamily="34" charset="-120"/>
              </a:rPr>
              <a:t>Zbuduj agenta LangGraph, który łączy RAG, kalkulator i pamięć rozmowy, z human-in-the-loop na akcję wrażliwą.</a:t>
            </a:r>
            <a:endParaRPr lang="en-US" sz="1300" dirty="0"/>
          </a:p>
        </p:txBody>
      </p:sp>
      <p:sp>
        <p:nvSpPr>
          <p:cNvPr id="9" name="Text 6"/>
          <p:cNvSpPr/>
          <p:nvPr/>
        </p:nvSpPr>
        <p:spPr>
          <a:xfrm>
            <a:off x="566928" y="2670048"/>
            <a:ext cx="7315200" cy="320040"/>
          </a:xfrm>
          <a:prstGeom prst="rect">
            <a:avLst/>
          </a:prstGeom>
          <a:noFill/>
          <a:ln/>
        </p:spPr>
        <p:txBody>
          <a:bodyPr wrap="square" lIns="0" tIns="0" rIns="0" bIns="0"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Zadania:</a:t>
            </a:r>
            <a:endParaRPr lang="en-US" sz="1300" dirty="0"/>
          </a:p>
        </p:txBody>
      </p:sp>
      <p:sp>
        <p:nvSpPr>
          <p:cNvPr id="10" name="Text 7"/>
          <p:cNvSpPr/>
          <p:nvPr/>
        </p:nvSpPr>
        <p:spPr>
          <a:xfrm>
            <a:off x="603504" y="2999232"/>
            <a:ext cx="7955280" cy="1371600"/>
          </a:xfrm>
          <a:prstGeom prst="rect">
            <a:avLst/>
          </a:prstGeom>
          <a:noFill/>
          <a:ln/>
        </p:spPr>
        <p:txBody>
          <a:bodyPr wrap="square" lIns="0" tIns="0" rIns="0" bIns="0" rtlCol="0" anchor="t"/>
          <a:lstStyle/>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Zdefiniuj stan (TypedDict z add_messages) i dwa narzędzia: retriever RAG + kalkulator.</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Zbuduj graf: węzeł agenta, węzeł narzędzi, krawędź warunkowa i cykl.</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Dodaj checkpointer (pamięć rozmowy) i thread_id dla sesji.</a:t>
            </a:r>
            <a:endParaRPr lang="en-US" sz="1250" dirty="0"/>
          </a:p>
          <a:p>
            <a:pPr marL="203200" indent="-203200">
              <a:spcAft>
                <a:spcPts val="600"/>
              </a:spcAft>
              <a:buSzPct val="100000"/>
              <a:buFont typeface="+mj-lt"/>
              <a:buAutoNum type="arabicPeriod" startAt="1"/>
            </a:pPr>
            <a:r>
              <a:rPr lang="en-US" sz="1250" dirty="0">
                <a:solidFill>
                  <a:srgbClr val="D7DBEC"/>
                </a:solidFill>
                <a:latin typeface="Calibri" pitchFamily="34" charset="0"/>
                <a:ea typeface="Calibri" pitchFamily="34" charset="-122"/>
                <a:cs typeface="Calibri" pitchFamily="34" charset="-120"/>
              </a:rPr>
              <a:t>Dodaj interrupt przed akcją wrażliwą i wznów po zatwierdzeniu.</a:t>
            </a:r>
            <a:endParaRPr lang="en-US" sz="1250" dirty="0"/>
          </a:p>
        </p:txBody>
      </p:sp>
      <p:sp>
        <p:nvSpPr>
          <p:cNvPr id="11" name="Text 8"/>
          <p:cNvSpPr/>
          <p:nvPr/>
        </p:nvSpPr>
        <p:spPr>
          <a:xfrm>
            <a:off x="566928" y="4526280"/>
            <a:ext cx="8046720" cy="457200"/>
          </a:xfrm>
          <a:prstGeom prst="rect">
            <a:avLst/>
          </a:prstGeom>
          <a:noFill/>
          <a:ln/>
        </p:spPr>
        <p:txBody>
          <a:bodyPr wrap="square" lIns="0" tIns="0" rIns="0" bIns="0" rtlCol="0" anchor="ctr"/>
          <a:lstStyle/>
          <a:p>
            <a:pPr indent="0" marL="0">
              <a:buNone/>
            </a:pPr>
            <a:r>
              <a:rPr lang="en-US" sz="1150" dirty="0">
                <a:solidFill>
                  <a:srgbClr val="14B8A6"/>
                </a:solidFill>
                <a:latin typeface="Courier New" pitchFamily="34" charset="0"/>
                <a:ea typeface="Courier New" pitchFamily="34" charset="-122"/>
                <a:cs typeface="Courier New" pitchFamily="34" charset="-120"/>
              </a:rPr>
              <a:t>📁 labs/04-agents-langgraph/</a:t>
            </a:r>
            <a:endParaRPr lang="en-US" sz="1150" dirty="0"/>
          </a:p>
          <a:p>
            <a:pPr indent="0" marL="0">
              <a:buNone/>
            </a:pPr>
            <a:r>
              <a:rPr lang="en-US" sz="1150" dirty="0">
                <a:solidFill>
                  <a:srgbClr val="F59E0B"/>
                </a:solidFill>
                <a:latin typeface="Courier New" pitchFamily="34" charset="0"/>
                <a:ea typeface="Courier New" pitchFamily="34" charset="-122"/>
                <a:cs typeface="Courier New" pitchFamily="34" charset="-120"/>
              </a:rPr>
              <a:t>⏱ ok. 55–70 min</a:t>
            </a:r>
            <a:endParaRPr lang="en-US" sz="11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960000">
            <a:off x="7498080" y="-1188720"/>
            <a:ext cx="4206240" cy="4206240"/>
          </a:xfrm>
          <a:prstGeom prst="roundRect">
            <a:avLst>
              <a:gd name="adj" fmla="val 10870"/>
            </a:avLst>
          </a:prstGeom>
          <a:solidFill>
            <a:srgbClr val="14B8A6">
              <a:alpha val="12000"/>
            </a:srgbClr>
          </a:solidFill>
          <a:ln/>
        </p:spPr>
      </p:sp>
      <p:sp>
        <p:nvSpPr>
          <p:cNvPr id="3" name="Shape 1"/>
          <p:cNvSpPr/>
          <p:nvPr/>
        </p:nvSpPr>
        <p:spPr>
          <a:xfrm>
            <a:off x="548640" y="1371600"/>
            <a:ext cx="914400" cy="914400"/>
          </a:xfrm>
          <a:prstGeom prst="roundRect">
            <a:avLst>
              <a:gd name="adj" fmla="val 20000"/>
            </a:avLst>
          </a:prstGeom>
          <a:solidFill>
            <a:srgbClr val="14B8A6"/>
          </a:solidFill>
          <a:ln/>
        </p:spPr>
      </p:sp>
      <p:pic>
        <p:nvPicPr>
          <p:cNvPr id="4" name="Image 0" descr="preencoded.png">    </p:cNvPr>
          <p:cNvPicPr>
            <a:picLocks noChangeAspect="1"/>
          </p:cNvPicPr>
          <p:nvPr/>
        </p:nvPicPr>
        <p:blipFill>
          <a:blip r:embed="rId1"/>
          <a:stretch>
            <a:fillRect/>
          </a:stretch>
        </p:blipFill>
        <p:spPr>
          <a:xfrm>
            <a:off x="749808" y="1572768"/>
            <a:ext cx="512064" cy="512064"/>
          </a:xfrm>
          <a:prstGeom prst="rect">
            <a:avLst/>
          </a:prstGeom>
        </p:spPr>
      </p:pic>
      <p:sp>
        <p:nvSpPr>
          <p:cNvPr id="5" name="Text 2"/>
          <p:cNvSpPr/>
          <p:nvPr/>
        </p:nvSpPr>
        <p:spPr>
          <a:xfrm>
            <a:off x="566928" y="640080"/>
            <a:ext cx="7315200" cy="365760"/>
          </a:xfrm>
          <a:prstGeom prst="rect">
            <a:avLst/>
          </a:prstGeom>
          <a:noFill/>
          <a:ln/>
        </p:spPr>
        <p:txBody>
          <a:bodyPr wrap="square" lIns="0" tIns="0" rIns="0" bIns="0"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DZIEŃ 2</a:t>
            </a:r>
            <a:endParaRPr lang="en-US" sz="1300" dirty="0"/>
          </a:p>
        </p:txBody>
      </p:sp>
      <p:sp>
        <p:nvSpPr>
          <p:cNvPr id="6" name="Text 3"/>
          <p:cNvSpPr/>
          <p:nvPr/>
        </p:nvSpPr>
        <p:spPr>
          <a:xfrm>
            <a:off x="548640" y="2514600"/>
            <a:ext cx="8229600" cy="1188720"/>
          </a:xfrm>
          <a:prstGeom prst="rect">
            <a:avLst/>
          </a:prstGeom>
          <a:noFill/>
          <a:ln/>
        </p:spPr>
        <p:txBody>
          <a:bodyPr wrap="square" lIns="0" tIns="0" rIns="0" bIns="0" rtlCol="0" anchor="ctr"/>
          <a:lstStyle/>
          <a:p>
            <a:pPr indent="0" marL="0">
              <a:lnSpc>
                <a:spcPct val="98000"/>
              </a:lnSpc>
              <a:buNone/>
            </a:pPr>
            <a:r>
              <a:rPr lang="en-US" sz="3300" b="1" dirty="0">
                <a:solidFill>
                  <a:srgbClr val="14B8A6"/>
                </a:solidFill>
                <a:latin typeface="Cambria" pitchFamily="34" charset="0"/>
                <a:ea typeface="Cambria" pitchFamily="34" charset="-122"/>
                <a:cs typeface="Cambria" pitchFamily="34" charset="-120"/>
              </a:rPr>
              <a:t>Sekcja 5  </a:t>
            </a:r>
            <a:pPr indent="0" marL="0">
              <a:lnSpc>
                <a:spcPct val="98000"/>
              </a:lnSpc>
              <a:buNone/>
            </a:pPr>
            <a:r>
              <a:rPr lang="en-US" sz="3300" b="1" dirty="0">
                <a:solidFill>
                  <a:srgbClr val="FFFFFF"/>
                </a:solidFill>
                <a:latin typeface="Cambria" pitchFamily="34" charset="0"/>
                <a:ea typeface="Cambria" pitchFamily="34" charset="-122"/>
                <a:cs typeface="Cambria" pitchFamily="34" charset="-120"/>
              </a:rPr>
              <a:t>Aspekty produkcyjne aplikacji AI</a:t>
            </a:r>
            <a:endParaRPr lang="en-US" sz="3300" dirty="0"/>
          </a:p>
        </p:txBody>
      </p:sp>
      <p:sp>
        <p:nvSpPr>
          <p:cNvPr id="7" name="Text 4"/>
          <p:cNvSpPr/>
          <p:nvPr/>
        </p:nvSpPr>
        <p:spPr>
          <a:xfrm>
            <a:off x="585216" y="3794760"/>
            <a:ext cx="8229600" cy="1097280"/>
          </a:xfrm>
          <a:prstGeom prst="rect">
            <a:avLst/>
          </a:prstGeom>
          <a:noFill/>
          <a:ln/>
        </p:spPr>
        <p:txBody>
          <a:bodyPr wrap="square" lIns="0" tIns="0" rIns="0" bIns="0" rtlCol="0" anchor="ctr"/>
          <a:lstStyle/>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Monitoring i obserwowalność</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Koszty i optymalizacja</a:t>
            </a:r>
            <a:endParaRPr lang="en-US" sz="1350" dirty="0"/>
          </a:p>
          <a:p>
            <a:pPr marL="177800" indent="-177800">
              <a:spcAft>
                <a:spcPts val="400"/>
              </a:spcAft>
              <a:buSzPct val="100000"/>
              <a:buChar char="•"/>
            </a:pPr>
            <a:r>
              <a:rPr lang="en-US" sz="1350" dirty="0">
                <a:solidFill>
                  <a:srgbClr val="94A3B8"/>
                </a:solidFill>
                <a:latin typeface="Calibri" pitchFamily="34" charset="0"/>
                <a:ea typeface="Calibri" pitchFamily="34" charset="-122"/>
                <a:cs typeface="Calibri" pitchFamily="34" charset="-120"/>
              </a:rPr>
              <a:t>Bezpieczeństwo i wdrożenie mikroserwisu</a:t>
            </a:r>
            <a:endParaRPr lang="en-US" sz="13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OBSERWOWALNOŚĆ</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Co monitorować w aplikacji LLM</a:t>
            </a:r>
            <a:endParaRPr lang="en-US" sz="3000" dirty="0"/>
          </a:p>
        </p:txBody>
      </p:sp>
      <p:sp>
        <p:nvSpPr>
          <p:cNvPr id="4" name="Shape 2"/>
          <p:cNvSpPr/>
          <p:nvPr/>
        </p:nvSpPr>
        <p:spPr>
          <a:xfrm>
            <a:off x="566928" y="1704213"/>
            <a:ext cx="603504" cy="603504"/>
          </a:xfrm>
          <a:prstGeom prst="roundRect">
            <a:avLst>
              <a:gd name="adj" fmla="val 18182"/>
            </a:avLst>
          </a:prstGeom>
          <a:solidFill>
            <a:srgbClr val="EEF2FF"/>
          </a:solidFill>
          <a:ln/>
        </p:spPr>
      </p:sp>
      <p:pic>
        <p:nvPicPr>
          <p:cNvPr id="5" name="Image 0" descr="preencoded.png">    </p:cNvPr>
          <p:cNvPicPr>
            <a:picLocks noChangeAspect="1"/>
          </p:cNvPicPr>
          <p:nvPr/>
        </p:nvPicPr>
        <p:blipFill>
          <a:blip r:embed="rId1"/>
          <a:stretch>
            <a:fillRect/>
          </a:stretch>
        </p:blipFill>
        <p:spPr>
          <a:xfrm>
            <a:off x="699699" y="1836984"/>
            <a:ext cx="337962" cy="337962"/>
          </a:xfrm>
          <a:prstGeom prst="rect">
            <a:avLst/>
          </a:prstGeom>
        </p:spPr>
      </p:pic>
      <p:sp>
        <p:nvSpPr>
          <p:cNvPr id="6" name="Text 3"/>
          <p:cNvSpPr/>
          <p:nvPr/>
        </p:nvSpPr>
        <p:spPr>
          <a:xfrm>
            <a:off x="1371600" y="164592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Ślady i logi (tracing)</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Pełny przebieg requestu: prompty, narzędzia, czasy — LangSmith, W&amp;B.</a:t>
            </a:r>
            <a:endParaRPr lang="en-US" sz="1550" dirty="0"/>
          </a:p>
        </p:txBody>
      </p:sp>
      <p:sp>
        <p:nvSpPr>
          <p:cNvPr id="7" name="Shape 4"/>
          <p:cNvSpPr/>
          <p:nvPr/>
        </p:nvSpPr>
        <p:spPr>
          <a:xfrm>
            <a:off x="566928" y="2424303"/>
            <a:ext cx="603504" cy="603504"/>
          </a:xfrm>
          <a:prstGeom prst="roundRect">
            <a:avLst>
              <a:gd name="adj" fmla="val 18182"/>
            </a:avLst>
          </a:prstGeom>
          <a:solidFill>
            <a:srgbClr val="FEF3E2"/>
          </a:solidFill>
          <a:ln/>
        </p:spPr>
      </p:sp>
      <p:pic>
        <p:nvPicPr>
          <p:cNvPr id="8" name="Image 1" descr="preencoded.png">    </p:cNvPr>
          <p:cNvPicPr>
            <a:picLocks noChangeAspect="1"/>
          </p:cNvPicPr>
          <p:nvPr/>
        </p:nvPicPr>
        <p:blipFill>
          <a:blip r:embed="rId2"/>
          <a:stretch>
            <a:fillRect/>
          </a:stretch>
        </p:blipFill>
        <p:spPr>
          <a:xfrm>
            <a:off x="699699" y="2557074"/>
            <a:ext cx="337962" cy="337962"/>
          </a:xfrm>
          <a:prstGeom prst="rect">
            <a:avLst/>
          </a:prstGeom>
        </p:spPr>
      </p:pic>
      <p:sp>
        <p:nvSpPr>
          <p:cNvPr id="9" name="Text 5"/>
          <p:cNvSpPr/>
          <p:nvPr/>
        </p:nvSpPr>
        <p:spPr>
          <a:xfrm>
            <a:off x="1371600" y="236601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Koszt i tokeny</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Zużycie per request, użytkownik, endpoint — alerty na anomalie.</a:t>
            </a:r>
            <a:endParaRPr lang="en-US" sz="1550" dirty="0"/>
          </a:p>
        </p:txBody>
      </p:sp>
      <p:sp>
        <p:nvSpPr>
          <p:cNvPr id="10" name="Shape 6"/>
          <p:cNvSpPr/>
          <p:nvPr/>
        </p:nvSpPr>
        <p:spPr>
          <a:xfrm>
            <a:off x="566928" y="3144393"/>
            <a:ext cx="603504" cy="603504"/>
          </a:xfrm>
          <a:prstGeom prst="roundRect">
            <a:avLst>
              <a:gd name="adj" fmla="val 18182"/>
            </a:avLst>
          </a:prstGeom>
          <a:solidFill>
            <a:srgbClr val="E6FBF7"/>
          </a:solidFill>
          <a:ln/>
        </p:spPr>
      </p:sp>
      <p:pic>
        <p:nvPicPr>
          <p:cNvPr id="11" name="Image 2" descr="preencoded.png">    </p:cNvPr>
          <p:cNvPicPr>
            <a:picLocks noChangeAspect="1"/>
          </p:cNvPicPr>
          <p:nvPr/>
        </p:nvPicPr>
        <p:blipFill>
          <a:blip r:embed="rId3"/>
          <a:stretch>
            <a:fillRect/>
          </a:stretch>
        </p:blipFill>
        <p:spPr>
          <a:xfrm>
            <a:off x="699699" y="3277164"/>
            <a:ext cx="337962" cy="337962"/>
          </a:xfrm>
          <a:prstGeom prst="rect">
            <a:avLst/>
          </a:prstGeom>
        </p:spPr>
      </p:pic>
      <p:sp>
        <p:nvSpPr>
          <p:cNvPr id="12" name="Text 7"/>
          <p:cNvSpPr/>
          <p:nvPr/>
        </p:nvSpPr>
        <p:spPr>
          <a:xfrm>
            <a:off x="1371600" y="308610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Latencja i błędy</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p50/p95, rate błędów narzędzi i modelu, timeouty.</a:t>
            </a:r>
            <a:endParaRPr lang="en-US" sz="1550" dirty="0"/>
          </a:p>
        </p:txBody>
      </p:sp>
      <p:sp>
        <p:nvSpPr>
          <p:cNvPr id="13" name="Shape 8"/>
          <p:cNvSpPr/>
          <p:nvPr/>
        </p:nvSpPr>
        <p:spPr>
          <a:xfrm>
            <a:off x="566928" y="3864483"/>
            <a:ext cx="603504" cy="603504"/>
          </a:xfrm>
          <a:prstGeom prst="roundRect">
            <a:avLst>
              <a:gd name="adj" fmla="val 18182"/>
            </a:avLst>
          </a:prstGeom>
          <a:solidFill>
            <a:srgbClr val="FCE7F0"/>
          </a:solidFill>
          <a:ln/>
        </p:spPr>
      </p:sp>
      <p:pic>
        <p:nvPicPr>
          <p:cNvPr id="14" name="Image 3" descr="preencoded.png">    </p:cNvPr>
          <p:cNvPicPr>
            <a:picLocks noChangeAspect="1"/>
          </p:cNvPicPr>
          <p:nvPr/>
        </p:nvPicPr>
        <p:blipFill>
          <a:blip r:embed="rId4"/>
          <a:stretch>
            <a:fillRect/>
          </a:stretch>
        </p:blipFill>
        <p:spPr>
          <a:xfrm>
            <a:off x="699699" y="3997254"/>
            <a:ext cx="337962" cy="337962"/>
          </a:xfrm>
          <a:prstGeom prst="rect">
            <a:avLst/>
          </a:prstGeom>
        </p:spPr>
      </p:pic>
      <p:sp>
        <p:nvSpPr>
          <p:cNvPr id="15" name="Text 9"/>
          <p:cNvSpPr/>
          <p:nvPr/>
        </p:nvSpPr>
        <p:spPr>
          <a:xfrm>
            <a:off x="1371600" y="380619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Jakość odpowiedzi</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Feedback użytkowników, evals offline, dryf jakości w czasie.</a:t>
            </a:r>
            <a:endParaRPr lang="en-US" sz="1550" dirty="0"/>
          </a:p>
        </p:txBody>
      </p:sp>
      <p:sp>
        <p:nvSpPr>
          <p:cNvPr id="16" name="Text 10"/>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KOSZTY</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Optymalizacja kosztów — gdzie naprawdę uciekają pieniądze</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Dobierz model do zadania — routing: tani model do prostego, mocny do trudnego.</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Prompt caching — powtarzalny kontekst (instrukcje, dokumenty) cache'uj.</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Skracaj kontekst — RAG zamiast wrzucania całej bazy do promptu.</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Ograniczaj wyjście — max_tokens i prośba o zwięzłość; output bywa droższy.</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Batching i limity pętli agenta — najczęstsze źródło niespodzianek na fakturze.</a:t>
            </a:r>
            <a:endParaRPr lang="en-US" sz="1450" dirty="0"/>
          </a:p>
        </p:txBody>
      </p:sp>
      <p:sp>
        <p:nvSpPr>
          <p:cNvPr id="5" name="Shape 3"/>
          <p:cNvSpPr/>
          <p:nvPr/>
        </p:nvSpPr>
        <p:spPr>
          <a:xfrm>
            <a:off x="5989320" y="1627632"/>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Routing</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Model do zadania</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Cache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Kontekst</a:t>
            </a:r>
            <a:endParaRPr lang="en-US" sz="1250" dirty="0"/>
          </a:p>
        </p:txBody>
      </p:sp>
      <p:sp>
        <p:nvSpPr>
          <p:cNvPr id="13" name="Shape 9"/>
          <p:cNvSpPr/>
          <p:nvPr/>
        </p:nvSpPr>
        <p:spPr>
          <a:xfrm>
            <a:off x="5989320" y="3877056"/>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Skracaj</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Wejście/wyjście</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E11D6B"/>
                </a:solidFill>
                <a:latin typeface="Calibri" pitchFamily="34" charset="0"/>
                <a:ea typeface="Calibri" pitchFamily="34" charset="-122"/>
                <a:cs typeface="Calibri" pitchFamily="34" charset="-120"/>
              </a:rPr>
              <a:t>BEZPIECZEŃSTWO</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Prompt injection — atak numer jeden na aplikacje LLM</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Prompt injection: złośliwe instrukcje w danych wejściowych przejmują zachowanie modelu.</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Bezpośredni: użytkownik wpisuje „zignoruj instrukcje 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Pośredni: instrukcja ukryta w dokumencie, mailu, na stronie, którą model czyta.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Skutki przy agentach: nieautoryzowane akcje, wyciek danych, eksfiltracja.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Obrona: oddziel instrukcje od danych, waliduj, ograniczaj uprawnienia, nie ufaj treści z zewnątrz.</a:t>
            </a:r>
            <a:endParaRPr lang="en-US" sz="1450" dirty="0"/>
          </a:p>
        </p:txBody>
      </p:sp>
      <p:sp>
        <p:nvSpPr>
          <p:cNvPr id="5" name="Shape 3"/>
          <p:cNvSpPr/>
          <p:nvPr/>
        </p:nvSpPr>
        <p:spPr>
          <a:xfrm>
            <a:off x="5989320" y="1627632"/>
            <a:ext cx="2651760" cy="960120"/>
          </a:xfrm>
          <a:prstGeom prst="roundRect">
            <a:avLst>
              <a:gd name="adj" fmla="val 7619"/>
            </a:avLst>
          </a:prstGeom>
          <a:solidFill>
            <a:srgbClr val="E11D6B"/>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Injection</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 danych</a:t>
            </a:r>
            <a:endParaRPr lang="en-US" sz="1250" dirty="0"/>
          </a:p>
        </p:txBody>
      </p:sp>
      <p:sp>
        <p:nvSpPr>
          <p:cNvPr id="9" name="Shape 6"/>
          <p:cNvSpPr/>
          <p:nvPr/>
        </p:nvSpPr>
        <p:spPr>
          <a:xfrm>
            <a:off x="5989320" y="2752344"/>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Pośredni</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 dokumencie</a:t>
            </a:r>
            <a:endParaRPr lang="en-US" sz="1250" dirty="0"/>
          </a:p>
        </p:txBody>
      </p:sp>
      <p:sp>
        <p:nvSpPr>
          <p:cNvPr id="13" name="Shape 9"/>
          <p:cNvSpPr/>
          <p:nvPr/>
        </p:nvSpPr>
        <p:spPr>
          <a:xfrm>
            <a:off x="5989320" y="3877056"/>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Nie ufaj</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Treści z zewnątrz</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BEZPIECZEŃSTWO</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Higiena: klucze, dane wrażliwe, sanityzacja</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Klucze API tylko w zmiennych środowiskowych / sekret managerze — nigdy w kodzie ani repo.</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Rotacja kluczy i osobne klucze per środowisko (dev/test/prod).</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Maskowanie PII przed wysłaniem do modelu — anonimizuj dane osobowe.</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Sanityzacja wejścia i wyjścia — usuwaj/escapuj to, co trafia do narzędzi i UI.</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Logi bez sekretów i bez danych wrażliwych — uważaj, co zapisujesz w tracingu.</a:t>
            </a:r>
            <a:endParaRPr lang="en-US" sz="1450" dirty="0"/>
          </a:p>
        </p:txBody>
      </p:sp>
      <p:sp>
        <p:nvSpPr>
          <p:cNvPr id="5" name="Shape 3"/>
          <p:cNvSpPr/>
          <p:nvPr/>
        </p:nvSpPr>
        <p:spPr>
          <a:xfrm>
            <a:off x="5989320" y="1627632"/>
            <a:ext cx="2651760" cy="960120"/>
          </a:xfrm>
          <a:prstGeom prst="roundRect">
            <a:avLst>
              <a:gd name="adj" fmla="val 7619"/>
            </a:avLst>
          </a:prstGeom>
          <a:solidFill>
            <a:srgbClr val="4F46E5"/>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Klucze</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Sekret manager</a:t>
            </a:r>
            <a:endParaRPr lang="en-US" sz="1250" dirty="0"/>
          </a:p>
        </p:txBody>
      </p:sp>
      <p:sp>
        <p:nvSpPr>
          <p:cNvPr id="9" name="Shape 6"/>
          <p:cNvSpPr/>
          <p:nvPr/>
        </p:nvSpPr>
        <p:spPr>
          <a:xfrm>
            <a:off x="5989320" y="2752344"/>
            <a:ext cx="2651760" cy="960120"/>
          </a:xfrm>
          <a:prstGeom prst="roundRect">
            <a:avLst>
              <a:gd name="adj" fmla="val 7619"/>
            </a:avLst>
          </a:prstGeom>
          <a:solidFill>
            <a:srgbClr val="14B8A6"/>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PII</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Maskuj</a:t>
            </a:r>
            <a:endParaRPr lang="en-US" sz="1250" dirty="0"/>
          </a:p>
        </p:txBody>
      </p:sp>
      <p:sp>
        <p:nvSpPr>
          <p:cNvPr id="13" name="Shape 9"/>
          <p:cNvSpPr/>
          <p:nvPr/>
        </p:nvSpPr>
        <p:spPr>
          <a:xfrm>
            <a:off x="5989320" y="3877056"/>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Sanityzuj</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Wej/wyj</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102</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MIKROSERWIS</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Od pomysłu do produkcji — ścieżka wdrożenia</a:t>
            </a:r>
            <a:endParaRPr lang="en-US" sz="3000" dirty="0"/>
          </a:p>
        </p:txBody>
      </p:sp>
      <p:sp>
        <p:nvSpPr>
          <p:cNvPr id="4" name="Shape 2"/>
          <p:cNvSpPr/>
          <p:nvPr/>
        </p:nvSpPr>
        <p:spPr>
          <a:xfrm>
            <a:off x="566928" y="1618488"/>
            <a:ext cx="548640" cy="548640"/>
          </a:xfrm>
          <a:prstGeom prst="oval">
            <a:avLst/>
          </a:prstGeom>
          <a:solidFill>
            <a:srgbClr val="4F46E5"/>
          </a:solidFill>
          <a:ln/>
        </p:spPr>
      </p:sp>
      <p:sp>
        <p:nvSpPr>
          <p:cNvPr id="5" name="Text 3"/>
          <p:cNvSpPr/>
          <p:nvPr/>
        </p:nvSpPr>
        <p:spPr>
          <a:xfrm>
            <a:off x="566928" y="161848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841248" y="2167128"/>
            <a:ext cx="0" cy="36576"/>
          </a:xfrm>
          <a:prstGeom prst="line">
            <a:avLst/>
          </a:prstGeom>
          <a:noFill/>
          <a:ln w="19050">
            <a:solidFill>
              <a:srgbClr val="94A3B8"/>
            </a:solidFill>
            <a:prstDash val="dash"/>
          </a:ln>
        </p:spPr>
      </p:sp>
      <p:sp>
        <p:nvSpPr>
          <p:cNvPr id="7" name="Text 5"/>
          <p:cNvSpPr/>
          <p:nvPr/>
        </p:nvSpPr>
        <p:spPr>
          <a:xfrm>
            <a:off x="1325880" y="1600200"/>
            <a:ext cx="7315200" cy="585216"/>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Prototyp</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Notebook / skrypt — udowodnij, że działa na danych.</a:t>
            </a:r>
            <a:endParaRPr lang="en-US" sz="1500" dirty="0"/>
          </a:p>
        </p:txBody>
      </p:sp>
      <p:sp>
        <p:nvSpPr>
          <p:cNvPr id="8" name="Shape 6"/>
          <p:cNvSpPr/>
          <p:nvPr/>
        </p:nvSpPr>
        <p:spPr>
          <a:xfrm>
            <a:off x="566928" y="2203704"/>
            <a:ext cx="548640" cy="548640"/>
          </a:xfrm>
          <a:prstGeom prst="oval">
            <a:avLst/>
          </a:prstGeom>
          <a:solidFill>
            <a:srgbClr val="14B8A6"/>
          </a:solidFill>
          <a:ln/>
        </p:spPr>
      </p:sp>
      <p:sp>
        <p:nvSpPr>
          <p:cNvPr id="9" name="Text 7"/>
          <p:cNvSpPr/>
          <p:nvPr/>
        </p:nvSpPr>
        <p:spPr>
          <a:xfrm>
            <a:off x="566928" y="22037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841248" y="2752344"/>
            <a:ext cx="0" cy="36576"/>
          </a:xfrm>
          <a:prstGeom prst="line">
            <a:avLst/>
          </a:prstGeom>
          <a:noFill/>
          <a:ln w="19050">
            <a:solidFill>
              <a:srgbClr val="94A3B8"/>
            </a:solidFill>
            <a:prstDash val="dash"/>
          </a:ln>
        </p:spPr>
      </p:sp>
      <p:sp>
        <p:nvSpPr>
          <p:cNvPr id="11" name="Text 9"/>
          <p:cNvSpPr/>
          <p:nvPr/>
        </p:nvSpPr>
        <p:spPr>
          <a:xfrm>
            <a:off x="1325880" y="2185416"/>
            <a:ext cx="7315200" cy="585216"/>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Usługa (FastAPI)</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Endpoint, walidacja, obsługa błędów, konfiguracja.</a:t>
            </a:r>
            <a:endParaRPr lang="en-US" sz="1500" dirty="0"/>
          </a:p>
        </p:txBody>
      </p:sp>
      <p:sp>
        <p:nvSpPr>
          <p:cNvPr id="12" name="Shape 10"/>
          <p:cNvSpPr/>
          <p:nvPr/>
        </p:nvSpPr>
        <p:spPr>
          <a:xfrm>
            <a:off x="566928" y="2788920"/>
            <a:ext cx="548640" cy="548640"/>
          </a:xfrm>
          <a:prstGeom prst="oval">
            <a:avLst/>
          </a:prstGeom>
          <a:solidFill>
            <a:srgbClr val="F59E0B"/>
          </a:solidFill>
          <a:ln/>
        </p:spPr>
      </p:sp>
      <p:sp>
        <p:nvSpPr>
          <p:cNvPr id="13" name="Text 11"/>
          <p:cNvSpPr/>
          <p:nvPr/>
        </p:nvSpPr>
        <p:spPr>
          <a:xfrm>
            <a:off x="566928" y="2788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Shape 12"/>
          <p:cNvSpPr/>
          <p:nvPr/>
        </p:nvSpPr>
        <p:spPr>
          <a:xfrm>
            <a:off x="841248" y="3337560"/>
            <a:ext cx="0" cy="36576"/>
          </a:xfrm>
          <a:prstGeom prst="line">
            <a:avLst/>
          </a:prstGeom>
          <a:noFill/>
          <a:ln w="19050">
            <a:solidFill>
              <a:srgbClr val="94A3B8"/>
            </a:solidFill>
            <a:prstDash val="dash"/>
          </a:ln>
        </p:spPr>
      </p:sp>
      <p:sp>
        <p:nvSpPr>
          <p:cNvPr id="15" name="Text 13"/>
          <p:cNvSpPr/>
          <p:nvPr/>
        </p:nvSpPr>
        <p:spPr>
          <a:xfrm>
            <a:off x="1325880" y="2770632"/>
            <a:ext cx="7315200" cy="585216"/>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Hardening</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Limity, retry, guardrails, sekrety, logowanie.</a:t>
            </a:r>
            <a:endParaRPr lang="en-US" sz="1500" dirty="0"/>
          </a:p>
        </p:txBody>
      </p:sp>
      <p:sp>
        <p:nvSpPr>
          <p:cNvPr id="16" name="Shape 14"/>
          <p:cNvSpPr/>
          <p:nvPr/>
        </p:nvSpPr>
        <p:spPr>
          <a:xfrm>
            <a:off x="566928" y="3374136"/>
            <a:ext cx="548640" cy="548640"/>
          </a:xfrm>
          <a:prstGeom prst="oval">
            <a:avLst/>
          </a:prstGeom>
          <a:solidFill>
            <a:srgbClr val="E11D6B"/>
          </a:solidFill>
          <a:ln/>
        </p:spPr>
      </p:sp>
      <p:sp>
        <p:nvSpPr>
          <p:cNvPr id="17" name="Text 15"/>
          <p:cNvSpPr/>
          <p:nvPr/>
        </p:nvSpPr>
        <p:spPr>
          <a:xfrm>
            <a:off x="566928" y="337413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Shape 16"/>
          <p:cNvSpPr/>
          <p:nvPr/>
        </p:nvSpPr>
        <p:spPr>
          <a:xfrm>
            <a:off x="841248" y="3922776"/>
            <a:ext cx="0" cy="36576"/>
          </a:xfrm>
          <a:prstGeom prst="line">
            <a:avLst/>
          </a:prstGeom>
          <a:noFill/>
          <a:ln w="19050">
            <a:solidFill>
              <a:srgbClr val="94A3B8"/>
            </a:solidFill>
            <a:prstDash val="dash"/>
          </a:ln>
        </p:spPr>
      </p:sp>
      <p:sp>
        <p:nvSpPr>
          <p:cNvPr id="19" name="Text 17"/>
          <p:cNvSpPr/>
          <p:nvPr/>
        </p:nvSpPr>
        <p:spPr>
          <a:xfrm>
            <a:off x="1325880" y="3355848"/>
            <a:ext cx="7315200" cy="585216"/>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Konteneryzacja</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Docker, zmienne środowiskowe, health-check.</a:t>
            </a:r>
            <a:endParaRPr lang="en-US" sz="1500" dirty="0"/>
          </a:p>
        </p:txBody>
      </p:sp>
      <p:sp>
        <p:nvSpPr>
          <p:cNvPr id="20" name="Shape 18"/>
          <p:cNvSpPr/>
          <p:nvPr/>
        </p:nvSpPr>
        <p:spPr>
          <a:xfrm>
            <a:off x="566928" y="3959352"/>
            <a:ext cx="548640" cy="548640"/>
          </a:xfrm>
          <a:prstGeom prst="oval">
            <a:avLst/>
          </a:prstGeom>
          <a:solidFill>
            <a:srgbClr val="16A34A"/>
          </a:solidFill>
          <a:ln/>
        </p:spPr>
      </p:sp>
      <p:sp>
        <p:nvSpPr>
          <p:cNvPr id="21" name="Text 19"/>
          <p:cNvSpPr/>
          <p:nvPr/>
        </p:nvSpPr>
        <p:spPr>
          <a:xfrm>
            <a:off x="566928" y="39593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2" name="Text 20"/>
          <p:cNvSpPr/>
          <p:nvPr/>
        </p:nvSpPr>
        <p:spPr>
          <a:xfrm>
            <a:off x="1325880" y="3941064"/>
            <a:ext cx="7315200" cy="585216"/>
          </a:xfrm>
          <a:prstGeom prst="rect">
            <a:avLst/>
          </a:prstGeom>
          <a:noFill/>
          <a:ln/>
        </p:spPr>
        <p:txBody>
          <a:bodyPr wrap="square" lIns="0" tIns="0" rIns="0" bIns="0" rtlCol="0" anchor="ctr"/>
          <a:lstStyle/>
          <a:p>
            <a:pPr indent="0" marL="0">
              <a:lnSpc>
                <a:spcPct val="98000"/>
              </a:lnSpc>
              <a:buNone/>
            </a:pPr>
            <a:r>
              <a:rPr lang="en-US" sz="1500" b="1" dirty="0">
                <a:solidFill>
                  <a:srgbClr val="1E1B2E"/>
                </a:solidFill>
                <a:latin typeface="Calibri" pitchFamily="34" charset="0"/>
                <a:ea typeface="Calibri" pitchFamily="34" charset="-122"/>
                <a:cs typeface="Calibri" pitchFamily="34" charset="-120"/>
              </a:rPr>
              <a:t>Deploy + monitoring</a:t>
            </a:r>
            <a:endParaRPr lang="en-US" sz="1500" dirty="0"/>
          </a:p>
          <a:p>
            <a:pPr indent="0" marL="0">
              <a:lnSpc>
                <a:spcPct val="98000"/>
              </a:lnSpc>
              <a:buNone/>
            </a:pPr>
            <a:r>
              <a:rPr lang="en-US" sz="1200" dirty="0">
                <a:solidFill>
                  <a:srgbClr val="64748B"/>
                </a:solidFill>
                <a:latin typeface="Calibri" pitchFamily="34" charset="0"/>
                <a:ea typeface="Calibri" pitchFamily="34" charset="-122"/>
                <a:cs typeface="Calibri" pitchFamily="34" charset="-120"/>
              </a:rPr>
              <a:t>Wdrożenie, tracing, koszty, alerty, evals.</a:t>
            </a:r>
            <a:endParaRPr lang="en-US" sz="1500" dirty="0"/>
          </a:p>
        </p:txBody>
      </p:sp>
      <p:sp>
        <p:nvSpPr>
          <p:cNvPr id="23" name="Text 21"/>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6A34A"/>
                </a:solidFill>
                <a:latin typeface="Calibri" pitchFamily="34" charset="0"/>
                <a:ea typeface="Calibri" pitchFamily="34" charset="-122"/>
                <a:cs typeface="Calibri" pitchFamily="34" charset="-120"/>
              </a:rPr>
              <a:t>CHECKLIST</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Produkcyjny checklist — zanim klikniesz deploy</a:t>
            </a:r>
            <a:endParaRPr lang="en-US" sz="3000" dirty="0"/>
          </a:p>
        </p:txBody>
      </p:sp>
      <p:sp>
        <p:nvSpPr>
          <p:cNvPr id="4" name="Text 2"/>
          <p:cNvSpPr/>
          <p:nvPr/>
        </p:nvSpPr>
        <p:spPr>
          <a:xfrm>
            <a:off x="566928" y="1600200"/>
            <a:ext cx="804672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Sekrety poza kodem, klucze per środowisko, rotacja zapięta.</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Limity: max_tokens, max_iterations, timeouty, rate limiting per użytkownik.</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Retry + fallback na każdym wywołaniu zewnętrznym; graceful degradation.</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Tracing, logi (bez PII), metryki kosztu i latencji, alerty na anomalie.</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Guardrails: walidacja I/O, sandbox, human-in-the-loop na akcje wrażliwe.</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Złoty zestaw ewaluacyjny i plan re-ewaluacji po zmianach modelu.</a:t>
            </a:r>
            <a:endParaRPr lang="en-US" sz="1450" dirty="0"/>
          </a:p>
        </p:txBody>
      </p:sp>
      <p:sp>
        <p:nvSpPr>
          <p:cNvPr id="5" name="Text 3"/>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4F46E5"/>
                </a:solidFill>
                <a:latin typeface="Calibri" pitchFamily="34" charset="0"/>
                <a:ea typeface="Calibri" pitchFamily="34" charset="-122"/>
                <a:cs typeface="Calibri" pitchFamily="34" charset="-120"/>
              </a:rPr>
              <a:t>CO DALEJ</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Ścieżka rozwoju po warsztatach</a:t>
            </a:r>
            <a:endParaRPr lang="en-US" sz="3000" dirty="0"/>
          </a:p>
        </p:txBody>
      </p:sp>
      <p:sp>
        <p:nvSpPr>
          <p:cNvPr id="4" name="Shape 2"/>
          <p:cNvSpPr/>
          <p:nvPr/>
        </p:nvSpPr>
        <p:spPr>
          <a:xfrm>
            <a:off x="566928" y="1704213"/>
            <a:ext cx="603504" cy="603504"/>
          </a:xfrm>
          <a:prstGeom prst="roundRect">
            <a:avLst>
              <a:gd name="adj" fmla="val 18182"/>
            </a:avLst>
          </a:prstGeom>
          <a:solidFill>
            <a:srgbClr val="E7F6EC"/>
          </a:solidFill>
          <a:ln/>
        </p:spPr>
      </p:sp>
      <p:pic>
        <p:nvPicPr>
          <p:cNvPr id="5" name="Image 0" descr="preencoded.png">    </p:cNvPr>
          <p:cNvPicPr>
            <a:picLocks noChangeAspect="1"/>
          </p:cNvPicPr>
          <p:nvPr/>
        </p:nvPicPr>
        <p:blipFill>
          <a:blip r:embed="rId1"/>
          <a:stretch>
            <a:fillRect/>
          </a:stretch>
        </p:blipFill>
        <p:spPr>
          <a:xfrm>
            <a:off x="699699" y="1836984"/>
            <a:ext cx="337962" cy="337962"/>
          </a:xfrm>
          <a:prstGeom prst="rect">
            <a:avLst/>
          </a:prstGeom>
        </p:spPr>
      </p:pic>
      <p:sp>
        <p:nvSpPr>
          <p:cNvPr id="6" name="Text 3"/>
          <p:cNvSpPr/>
          <p:nvPr/>
        </p:nvSpPr>
        <p:spPr>
          <a:xfrm>
            <a:off x="1371600" y="164592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Zbuduj jeden realny projekt</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Najlepiej z Twojej pracy — RAG nad firmowymi dokumentami albo agent do konkretnego procesu.</a:t>
            </a:r>
            <a:endParaRPr lang="en-US" sz="1550" dirty="0"/>
          </a:p>
        </p:txBody>
      </p:sp>
      <p:sp>
        <p:nvSpPr>
          <p:cNvPr id="7" name="Shape 4"/>
          <p:cNvSpPr/>
          <p:nvPr/>
        </p:nvSpPr>
        <p:spPr>
          <a:xfrm>
            <a:off x="566928" y="2424303"/>
            <a:ext cx="603504" cy="603504"/>
          </a:xfrm>
          <a:prstGeom prst="roundRect">
            <a:avLst>
              <a:gd name="adj" fmla="val 18182"/>
            </a:avLst>
          </a:prstGeom>
          <a:solidFill>
            <a:srgbClr val="EEF2FF"/>
          </a:solidFill>
          <a:ln/>
        </p:spPr>
      </p:sp>
      <p:pic>
        <p:nvPicPr>
          <p:cNvPr id="8" name="Image 1" descr="preencoded.png">    </p:cNvPr>
          <p:cNvPicPr>
            <a:picLocks noChangeAspect="1"/>
          </p:cNvPicPr>
          <p:nvPr/>
        </p:nvPicPr>
        <p:blipFill>
          <a:blip r:embed="rId2"/>
          <a:stretch>
            <a:fillRect/>
          </a:stretch>
        </p:blipFill>
        <p:spPr>
          <a:xfrm>
            <a:off x="699699" y="2557074"/>
            <a:ext cx="337962" cy="337962"/>
          </a:xfrm>
          <a:prstGeom prst="rect">
            <a:avLst/>
          </a:prstGeom>
        </p:spPr>
      </p:pic>
      <p:sp>
        <p:nvSpPr>
          <p:cNvPr id="9" name="Text 5"/>
          <p:cNvSpPr/>
          <p:nvPr/>
        </p:nvSpPr>
        <p:spPr>
          <a:xfrm>
            <a:off x="1371600" y="236601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Pogłęb LangGraph i ewaluację</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To dwa obszary, które najszybciej odróżnią Cię od entuzjasty.</a:t>
            </a:r>
            <a:endParaRPr lang="en-US" sz="1550" dirty="0"/>
          </a:p>
        </p:txBody>
      </p:sp>
      <p:sp>
        <p:nvSpPr>
          <p:cNvPr id="10" name="Shape 6"/>
          <p:cNvSpPr/>
          <p:nvPr/>
        </p:nvSpPr>
        <p:spPr>
          <a:xfrm>
            <a:off x="566928" y="3144393"/>
            <a:ext cx="603504" cy="603504"/>
          </a:xfrm>
          <a:prstGeom prst="roundRect">
            <a:avLst>
              <a:gd name="adj" fmla="val 18182"/>
            </a:avLst>
          </a:prstGeom>
          <a:solidFill>
            <a:srgbClr val="FCE7F0"/>
          </a:solidFill>
          <a:ln/>
        </p:spPr>
      </p:sp>
      <p:pic>
        <p:nvPicPr>
          <p:cNvPr id="11" name="Image 2" descr="preencoded.png">    </p:cNvPr>
          <p:cNvPicPr>
            <a:picLocks noChangeAspect="1"/>
          </p:cNvPicPr>
          <p:nvPr/>
        </p:nvPicPr>
        <p:blipFill>
          <a:blip r:embed="rId3"/>
          <a:stretch>
            <a:fillRect/>
          </a:stretch>
        </p:blipFill>
        <p:spPr>
          <a:xfrm>
            <a:off x="699699" y="3277164"/>
            <a:ext cx="337962" cy="337962"/>
          </a:xfrm>
          <a:prstGeom prst="rect">
            <a:avLst/>
          </a:prstGeom>
        </p:spPr>
      </p:pic>
      <p:sp>
        <p:nvSpPr>
          <p:cNvPr id="12" name="Text 7"/>
          <p:cNvSpPr/>
          <p:nvPr/>
        </p:nvSpPr>
        <p:spPr>
          <a:xfrm>
            <a:off x="1371600" y="308610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Wejdź w bezpieczeństwo i MCP</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Prompt injection, guardrails, Model Context Protocol — rosnące pole.</a:t>
            </a:r>
            <a:endParaRPr lang="en-US" sz="1550" dirty="0"/>
          </a:p>
        </p:txBody>
      </p:sp>
      <p:sp>
        <p:nvSpPr>
          <p:cNvPr id="13" name="Shape 8"/>
          <p:cNvSpPr/>
          <p:nvPr/>
        </p:nvSpPr>
        <p:spPr>
          <a:xfrm>
            <a:off x="566928" y="3864483"/>
            <a:ext cx="603504" cy="603504"/>
          </a:xfrm>
          <a:prstGeom prst="roundRect">
            <a:avLst>
              <a:gd name="adj" fmla="val 18182"/>
            </a:avLst>
          </a:prstGeom>
          <a:solidFill>
            <a:srgbClr val="FEF3E2"/>
          </a:solidFill>
          <a:ln/>
        </p:spPr>
      </p:sp>
      <p:pic>
        <p:nvPicPr>
          <p:cNvPr id="14" name="Image 3" descr="preencoded.png">    </p:cNvPr>
          <p:cNvPicPr>
            <a:picLocks noChangeAspect="1"/>
          </p:cNvPicPr>
          <p:nvPr/>
        </p:nvPicPr>
        <p:blipFill>
          <a:blip r:embed="rId4"/>
          <a:stretch>
            <a:fillRect/>
          </a:stretch>
        </p:blipFill>
        <p:spPr>
          <a:xfrm>
            <a:off x="699699" y="3997254"/>
            <a:ext cx="337962" cy="337962"/>
          </a:xfrm>
          <a:prstGeom prst="rect">
            <a:avLst/>
          </a:prstGeom>
        </p:spPr>
      </p:pic>
      <p:sp>
        <p:nvSpPr>
          <p:cNvPr id="15" name="Text 9"/>
          <p:cNvSpPr/>
          <p:nvPr/>
        </p:nvSpPr>
        <p:spPr>
          <a:xfrm>
            <a:off x="1371600" y="3806190"/>
            <a:ext cx="7315200" cy="720090"/>
          </a:xfrm>
          <a:prstGeom prst="rect">
            <a:avLst/>
          </a:prstGeom>
          <a:noFill/>
          <a:ln/>
        </p:spPr>
        <p:txBody>
          <a:bodyPr wrap="square" lIns="0" tIns="0" rIns="0" bIns="0" rtlCol="0" anchor="ctr"/>
          <a:lstStyle/>
          <a:p>
            <a:pPr indent="0" marL="0">
              <a:lnSpc>
                <a:spcPct val="98000"/>
              </a:lnSpc>
              <a:buNone/>
            </a:pPr>
            <a:r>
              <a:rPr lang="en-US" sz="1550" b="1" dirty="0">
                <a:solidFill>
                  <a:srgbClr val="1E1B2E"/>
                </a:solidFill>
                <a:latin typeface="Calibri" pitchFamily="34" charset="0"/>
                <a:ea typeface="Calibri" pitchFamily="34" charset="-122"/>
                <a:cs typeface="Calibri" pitchFamily="34" charset="-120"/>
              </a:rPr>
              <a:t>Ucz się w społeczności</a:t>
            </a:r>
            <a:endParaRPr lang="en-US" sz="1550" dirty="0"/>
          </a:p>
          <a:p>
            <a:pPr indent="0" marL="0">
              <a:lnSpc>
                <a:spcPct val="98000"/>
              </a:lnSpc>
              <a:buNone/>
            </a:pPr>
            <a:r>
              <a:rPr lang="en-US" sz="1250" dirty="0">
                <a:solidFill>
                  <a:srgbClr val="64748B"/>
                </a:solidFill>
                <a:latin typeface="Calibri" pitchFamily="34" charset="0"/>
                <a:ea typeface="Calibri" pitchFamily="34" charset="-122"/>
                <a:cs typeface="Calibri" pitchFamily="34" charset="-120"/>
              </a:rPr>
              <a:t>Dziel się, czytaj cudzy kod, śledź zmiany — ten obszar zmienia się co miesiąc.</a:t>
            </a:r>
            <a:endParaRPr lang="en-US" sz="1550" dirty="0"/>
          </a:p>
        </p:txBody>
      </p:sp>
      <p:sp>
        <p:nvSpPr>
          <p:cNvPr id="16" name="Text 10"/>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indent="0" marL="0">
              <a:buNone/>
            </a:pPr>
            <a:r>
              <a:rPr lang="en-US" sz="1100" b="1" spc="200" kern="0" dirty="0">
                <a:solidFill>
                  <a:srgbClr val="14B8A6"/>
                </a:solidFill>
                <a:latin typeface="Calibri" pitchFamily="34" charset="0"/>
                <a:ea typeface="Calibri" pitchFamily="34" charset="-122"/>
                <a:cs typeface="Calibri" pitchFamily="34" charset="-120"/>
              </a:rPr>
              <a:t>ZASOBY</a:t>
            </a:r>
            <a:endParaRPr lang="en-US" sz="1100" dirty="0"/>
          </a:p>
        </p:txBody>
      </p:sp>
      <p:sp>
        <p:nvSpPr>
          <p:cNvPr id="3" name="Text 1"/>
          <p:cNvSpPr/>
          <p:nvPr/>
        </p:nvSpPr>
        <p:spPr>
          <a:xfrm>
            <a:off x="548640" y="676656"/>
            <a:ext cx="8046720" cy="731520"/>
          </a:xfrm>
          <a:prstGeom prst="rect">
            <a:avLst/>
          </a:prstGeom>
          <a:noFill/>
          <a:ln/>
        </p:spPr>
        <p:txBody>
          <a:bodyPr wrap="square" lIns="0" tIns="0" rIns="0" bIns="0" rtlCol="0" anchor="ctr"/>
          <a:lstStyle/>
          <a:p>
            <a:pPr indent="0" marL="0">
              <a:lnSpc>
                <a:spcPct val="95000"/>
              </a:lnSpc>
              <a:buNone/>
            </a:pPr>
            <a:r>
              <a:rPr lang="en-US" sz="3000" b="1" dirty="0">
                <a:solidFill>
                  <a:srgbClr val="1E1B2E"/>
                </a:solidFill>
                <a:latin typeface="Cambria" pitchFamily="34" charset="0"/>
                <a:ea typeface="Cambria" pitchFamily="34" charset="-122"/>
                <a:cs typeface="Cambria" pitchFamily="34" charset="-120"/>
              </a:rPr>
              <a:t>Repozytorium i materiały do dalszej pracy</a:t>
            </a:r>
            <a:endParaRPr lang="en-US" sz="3000" dirty="0"/>
          </a:p>
        </p:txBody>
      </p:sp>
      <p:sp>
        <p:nvSpPr>
          <p:cNvPr id="4" name="Text 2"/>
          <p:cNvSpPr/>
          <p:nvPr/>
        </p:nvSpPr>
        <p:spPr>
          <a:xfrm>
            <a:off x="566928" y="1600200"/>
            <a:ext cx="5212080" cy="2926080"/>
          </a:xfrm>
          <a:prstGeom prst="rect">
            <a:avLst/>
          </a:prstGeom>
          <a:noFill/>
          <a:ln/>
        </p:spPr>
        <p:txBody>
          <a:bodyPr wrap="square" lIns="0" tIns="0" rIns="0" bIns="0" rtlCol="0" anchor="t"/>
          <a:lstStyle/>
          <a:p>
            <a:pPr marL="203200" indent="-203200">
              <a:lnSpc>
                <a:spcPct val="100000"/>
              </a:lnSpc>
              <a:spcAft>
                <a:spcPts val="900"/>
              </a:spcAft>
              <a:buSzPct val="100000"/>
              <a:buChar char="•"/>
            </a:pPr>
            <a:r>
              <a:rPr lang="en-US" sz="1450" b="1" dirty="0">
                <a:solidFill>
                  <a:srgbClr val="1E1B2E"/>
                </a:solidFill>
                <a:latin typeface="Calibri" pitchFamily="34" charset="0"/>
                <a:ea typeface="Calibri" pitchFamily="34" charset="-122"/>
                <a:cs typeface="Calibri" pitchFamily="34" charset="-120"/>
              </a:rPr>
              <a:t>Repozytorium warsztatowe — wszystkie laby z rozwiązaniami i README po polsku.</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labs/01-prompt-engineering — ekstrakcja danych do JSON ze schematem.</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labs/02-function-calling — mini-agent z narzędziami w czystym SDK.</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labs/03-rag — Q&amp;A nad dokumentami z cytowaniem źródeł.</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labs/04-agents-langgraph — pełny agent z pamięcią i human-in-the-loop.</a:t>
            </a:r>
            <a:endParaRPr lang="en-US" sz="1450" dirty="0"/>
          </a:p>
          <a:p>
            <a:pPr marL="203200" indent="-203200">
              <a:lnSpc>
                <a:spcPct val="100000"/>
              </a:lnSpc>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Dokumentacja: LangChain, LangGraph, LangSmith — oraz ten deck jako referencja.</a:t>
            </a:r>
            <a:endParaRPr lang="en-US" sz="1450" dirty="0"/>
          </a:p>
        </p:txBody>
      </p:sp>
      <p:sp>
        <p:nvSpPr>
          <p:cNvPr id="5" name="Shape 3"/>
          <p:cNvSpPr/>
          <p:nvPr/>
        </p:nvSpPr>
        <p:spPr>
          <a:xfrm>
            <a:off x="5989320" y="1627632"/>
            <a:ext cx="2651760" cy="960120"/>
          </a:xfrm>
          <a:prstGeom prst="roundRect">
            <a:avLst>
              <a:gd name="adj" fmla="val 7619"/>
            </a:avLst>
          </a:prstGeom>
          <a:solidFill>
            <a:srgbClr val="1E1B2E"/>
          </a:solidFill>
          <a:ln/>
          <a:effectLst>
            <a:outerShdw sx="100000" sy="100000" kx="0" ky="0" algn="bl" rotWithShape="0" blurRad="101600" dist="38100" dir="5400000">
              <a:srgbClr val="000000">
                <a:alpha val="12000"/>
              </a:srgbClr>
            </a:outerShdw>
          </a:effectLst>
        </p:spPr>
      </p:sp>
      <p:sp>
        <p:nvSpPr>
          <p:cNvPr id="6" name="Shape 4"/>
          <p:cNvSpPr/>
          <p:nvPr/>
        </p:nvSpPr>
        <p:spPr>
          <a:xfrm>
            <a:off x="6135624" y="1879092"/>
            <a:ext cx="457200" cy="457200"/>
          </a:xfrm>
          <a:prstGeom prst="roundRect">
            <a:avLst>
              <a:gd name="adj" fmla="val 20000"/>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36208" y="1979676"/>
            <a:ext cx="256032" cy="256032"/>
          </a:xfrm>
          <a:prstGeom prst="rect">
            <a:avLst/>
          </a:prstGeom>
        </p:spPr>
      </p:pic>
      <p:sp>
        <p:nvSpPr>
          <p:cNvPr id="8" name="Text 5"/>
          <p:cNvSpPr/>
          <p:nvPr/>
        </p:nvSpPr>
        <p:spPr>
          <a:xfrm>
            <a:off x="6702552" y="1700784"/>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Repo</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Kod + README</a:t>
            </a:r>
            <a:endParaRPr lang="en-US" sz="1250" dirty="0"/>
          </a:p>
        </p:txBody>
      </p:sp>
      <p:sp>
        <p:nvSpPr>
          <p:cNvPr id="9" name="Shape 6"/>
          <p:cNvSpPr/>
          <p:nvPr/>
        </p:nvSpPr>
        <p:spPr>
          <a:xfrm>
            <a:off x="5989320" y="2752344"/>
            <a:ext cx="2651760" cy="960120"/>
          </a:xfrm>
          <a:prstGeom prst="roundRect">
            <a:avLst>
              <a:gd name="adj" fmla="val 7619"/>
            </a:avLst>
          </a:prstGeom>
          <a:solidFill>
            <a:srgbClr val="F59E0B"/>
          </a:solidFill>
          <a:ln/>
          <a:effectLst>
            <a:outerShdw sx="100000" sy="100000" kx="0" ky="0" algn="bl" rotWithShape="0" blurRad="101600" dist="38100" dir="5400000">
              <a:srgbClr val="000000">
                <a:alpha val="12000"/>
              </a:srgbClr>
            </a:outerShdw>
          </a:effectLst>
        </p:spPr>
      </p:sp>
      <p:sp>
        <p:nvSpPr>
          <p:cNvPr id="10" name="Shape 7"/>
          <p:cNvSpPr/>
          <p:nvPr/>
        </p:nvSpPr>
        <p:spPr>
          <a:xfrm>
            <a:off x="6135624" y="3003804"/>
            <a:ext cx="457200" cy="457200"/>
          </a:xfrm>
          <a:prstGeom prst="roundRect">
            <a:avLst>
              <a:gd name="adj" fmla="val 20000"/>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236208" y="3104388"/>
            <a:ext cx="256032" cy="256032"/>
          </a:xfrm>
          <a:prstGeom prst="rect">
            <a:avLst/>
          </a:prstGeom>
        </p:spPr>
      </p:pic>
      <p:sp>
        <p:nvSpPr>
          <p:cNvPr id="12" name="Text 8"/>
          <p:cNvSpPr/>
          <p:nvPr/>
        </p:nvSpPr>
        <p:spPr>
          <a:xfrm>
            <a:off x="6702552" y="2825496"/>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4 laby</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Z rozwiązaniami</a:t>
            </a:r>
            <a:endParaRPr lang="en-US" sz="1250" dirty="0"/>
          </a:p>
        </p:txBody>
      </p:sp>
      <p:sp>
        <p:nvSpPr>
          <p:cNvPr id="13" name="Shape 9"/>
          <p:cNvSpPr/>
          <p:nvPr/>
        </p:nvSpPr>
        <p:spPr>
          <a:xfrm>
            <a:off x="5989320" y="3877056"/>
            <a:ext cx="2651760" cy="960120"/>
          </a:xfrm>
          <a:prstGeom prst="roundRect">
            <a:avLst>
              <a:gd name="adj" fmla="val 7619"/>
            </a:avLst>
          </a:prstGeom>
          <a:solidFill>
            <a:srgbClr val="E11D6B"/>
          </a:solidFill>
          <a:ln/>
          <a:effectLst>
            <a:outerShdw sx="100000" sy="100000" kx="0" ky="0" algn="bl" rotWithShape="0" blurRad="101600" dist="38100" dir="5400000">
              <a:srgbClr val="000000">
                <a:alpha val="12000"/>
              </a:srgbClr>
            </a:outerShdw>
          </a:effectLst>
        </p:spPr>
      </p:sp>
      <p:sp>
        <p:nvSpPr>
          <p:cNvPr id="14" name="Shape 10"/>
          <p:cNvSpPr/>
          <p:nvPr/>
        </p:nvSpPr>
        <p:spPr>
          <a:xfrm>
            <a:off x="6135624" y="4128516"/>
            <a:ext cx="457200" cy="457200"/>
          </a:xfrm>
          <a:prstGeom prst="roundRect">
            <a:avLst>
              <a:gd name="adj" fmla="val 20000"/>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6236208" y="4229100"/>
            <a:ext cx="256032" cy="256032"/>
          </a:xfrm>
          <a:prstGeom prst="rect">
            <a:avLst/>
          </a:prstGeom>
        </p:spPr>
      </p:pic>
      <p:sp>
        <p:nvSpPr>
          <p:cNvPr id="16" name="Text 11"/>
          <p:cNvSpPr/>
          <p:nvPr/>
        </p:nvSpPr>
        <p:spPr>
          <a:xfrm>
            <a:off x="6702552" y="3950208"/>
            <a:ext cx="1810512" cy="813816"/>
          </a:xfrm>
          <a:prstGeom prst="rect">
            <a:avLst/>
          </a:prstGeom>
          <a:noFill/>
          <a:ln/>
        </p:spPr>
        <p:txBody>
          <a:bodyPr wrap="square" lIns="0" tIns="0" rIns="0" bIns="0" rtlCol="0" anchor="ctr"/>
          <a:lstStyle/>
          <a:p>
            <a:pPr indent="0" marL="0">
              <a:lnSpc>
                <a:spcPct val="95000"/>
              </a:lnSpc>
              <a:buNone/>
            </a:pPr>
            <a:r>
              <a:rPr lang="en-US" sz="1250" b="1" dirty="0">
                <a:solidFill>
                  <a:srgbClr val="1E1B2E"/>
                </a:solidFill>
                <a:latin typeface="Calibri" pitchFamily="34" charset="0"/>
                <a:ea typeface="Calibri" pitchFamily="34" charset="-122"/>
                <a:cs typeface="Calibri" pitchFamily="34" charset="-120"/>
              </a:rPr>
              <a:t>Slajdy</a:t>
            </a:r>
            <a:endParaRPr lang="en-US" sz="1250" dirty="0"/>
          </a:p>
          <a:p>
            <a:pPr indent="0" marL="0">
              <a:lnSpc>
                <a:spcPct val="95000"/>
              </a:lnSpc>
              <a:buNone/>
            </a:pPr>
            <a:r>
              <a:rPr lang="en-US" sz="1000" dirty="0">
                <a:solidFill>
                  <a:srgbClr val="64748B"/>
                </a:solidFill>
                <a:latin typeface="Calibri" pitchFamily="34" charset="0"/>
                <a:ea typeface="Calibri" pitchFamily="34" charset="-122"/>
                <a:cs typeface="Calibri" pitchFamily="34" charset="-120"/>
              </a:rPr>
              <a:t>Referencja</a:t>
            </a:r>
            <a:endParaRPr lang="en-US" sz="1250" dirty="0"/>
          </a:p>
        </p:txBody>
      </p:sp>
      <p:sp>
        <p:nvSpPr>
          <p:cNvPr id="17" name="Text 12"/>
          <p:cNvSpPr/>
          <p:nvPr/>
        </p:nvSpPr>
        <p:spPr>
          <a:xfrm>
            <a:off x="8549640" y="473659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41330"/>
        </a:solidFill>
      </p:bgPr>
    </p:bg>
    <p:spTree>
      <p:nvGrpSpPr>
        <p:cNvPr id="1" name=""/>
        <p:cNvGrpSpPr/>
        <p:nvPr/>
      </p:nvGrpSpPr>
      <p:grpSpPr>
        <a:xfrm>
          <a:off x="0" y="0"/>
          <a:ext cx="0" cy="0"/>
          <a:chOff x="0" y="0"/>
          <a:chExt cx="0" cy="0"/>
        </a:xfrm>
      </p:grpSpPr>
      <p:sp>
        <p:nvSpPr>
          <p:cNvPr id="2" name="Shape 0"/>
          <p:cNvSpPr/>
          <p:nvPr/>
        </p:nvSpPr>
        <p:spPr>
          <a:xfrm rot="1080000">
            <a:off x="7040880" y="-1005840"/>
            <a:ext cx="3840480" cy="3840480"/>
          </a:xfrm>
          <a:prstGeom prst="roundRect">
            <a:avLst>
              <a:gd name="adj" fmla="val 9524"/>
            </a:avLst>
          </a:prstGeom>
          <a:solidFill>
            <a:srgbClr val="4F46E5">
              <a:alpha val="14000"/>
            </a:srgbClr>
          </a:solidFill>
          <a:ln/>
        </p:spPr>
      </p:sp>
      <p:sp>
        <p:nvSpPr>
          <p:cNvPr id="3" name="Shape 1"/>
          <p:cNvSpPr/>
          <p:nvPr/>
        </p:nvSpPr>
        <p:spPr>
          <a:xfrm rot="720000">
            <a:off x="7955280" y="2468880"/>
            <a:ext cx="3108960" cy="3108960"/>
          </a:xfrm>
          <a:prstGeom prst="roundRect">
            <a:avLst>
              <a:gd name="adj" fmla="val 11765"/>
            </a:avLst>
          </a:prstGeom>
          <a:solidFill>
            <a:srgbClr val="14B8A6">
              <a:alpha val="12000"/>
            </a:srgbClr>
          </a:solidFill>
          <a:ln/>
        </p:spPr>
      </p:sp>
      <p:sp>
        <p:nvSpPr>
          <p:cNvPr id="4" name="Shape 2"/>
          <p:cNvSpPr/>
          <p:nvPr/>
        </p:nvSpPr>
        <p:spPr>
          <a:xfrm>
            <a:off x="548640" y="566928"/>
            <a:ext cx="822960" cy="822960"/>
          </a:xfrm>
          <a:prstGeom prst="roundRect">
            <a:avLst>
              <a:gd name="adj" fmla="val 20000"/>
            </a:avLst>
          </a:prstGeom>
          <a:solidFill>
            <a:srgbClr val="4F46E5"/>
          </a:solidFill>
          <a:ln/>
        </p:spPr>
      </p:sp>
      <p:pic>
        <p:nvPicPr>
          <p:cNvPr id="5" name="Image 0" descr="preencoded.png">    </p:cNvPr>
          <p:cNvPicPr>
            <a:picLocks noChangeAspect="1"/>
          </p:cNvPicPr>
          <p:nvPr/>
        </p:nvPicPr>
        <p:blipFill>
          <a:blip r:embed="rId1"/>
          <a:stretch>
            <a:fillRect/>
          </a:stretch>
        </p:blipFill>
        <p:spPr>
          <a:xfrm>
            <a:off x="729691" y="747979"/>
            <a:ext cx="460858" cy="460858"/>
          </a:xfrm>
          <a:prstGeom prst="rect">
            <a:avLst/>
          </a:prstGeom>
        </p:spPr>
      </p:pic>
      <p:sp>
        <p:nvSpPr>
          <p:cNvPr id="6" name="Text 3"/>
          <p:cNvSpPr/>
          <p:nvPr/>
        </p:nvSpPr>
        <p:spPr>
          <a:xfrm>
            <a:off x="1554480" y="713232"/>
            <a:ext cx="6400800" cy="457200"/>
          </a:xfrm>
          <a:prstGeom prst="rect">
            <a:avLst/>
          </a:prstGeom>
          <a:noFill/>
          <a:ln/>
        </p:spPr>
        <p:txBody>
          <a:bodyPr wrap="square" lIns="0" tIns="0" rIns="0" bIns="0" rtlCol="0" anchor="ctr"/>
          <a:lstStyle/>
          <a:p>
            <a:pPr indent="0" marL="0">
              <a:buNone/>
            </a:pPr>
            <a:r>
              <a:rPr lang="en-US" sz="1300" b="1" spc="200" kern="0" dirty="0">
                <a:solidFill>
                  <a:srgbClr val="14B8A6"/>
                </a:solidFill>
                <a:latin typeface="Calibri" pitchFamily="34" charset="0"/>
                <a:ea typeface="Calibri" pitchFamily="34" charset="-122"/>
                <a:cs typeface="Calibri" pitchFamily="34" charset="-120"/>
              </a:rPr>
              <a:t>DZIĘKUJĘ</a:t>
            </a:r>
            <a:endParaRPr lang="en-US" sz="1300" dirty="0"/>
          </a:p>
        </p:txBody>
      </p:sp>
      <p:sp>
        <p:nvSpPr>
          <p:cNvPr id="7" name="Text 4"/>
          <p:cNvSpPr/>
          <p:nvPr/>
        </p:nvSpPr>
        <p:spPr>
          <a:xfrm>
            <a:off x="548640" y="1783080"/>
            <a:ext cx="8595360" cy="1737360"/>
          </a:xfrm>
          <a:prstGeom prst="rect">
            <a:avLst/>
          </a:prstGeom>
          <a:noFill/>
          <a:ln/>
        </p:spPr>
        <p:txBody>
          <a:bodyPr wrap="square" lIns="0" tIns="0" rIns="0" bIns="0" rtlCol="0" anchor="ctr"/>
          <a:lstStyle/>
          <a:p>
            <a:pPr indent="0" marL="0">
              <a:lnSpc>
                <a:spcPct val="98000"/>
              </a:lnSpc>
              <a:buNone/>
            </a:pPr>
            <a:r>
              <a:rPr lang="en-US" sz="4400" b="1" dirty="0">
                <a:solidFill>
                  <a:srgbClr val="FFFFFF"/>
                </a:solidFill>
                <a:latin typeface="Cambria" pitchFamily="34" charset="0"/>
                <a:ea typeface="Cambria" pitchFamily="34" charset="-122"/>
                <a:cs typeface="Cambria" pitchFamily="34" charset="-120"/>
              </a:rPr>
              <a:t>Dziękuję za te dwa dni!</a:t>
            </a:r>
            <a:endParaRPr lang="en-US" sz="4400" dirty="0"/>
          </a:p>
        </p:txBody>
      </p:sp>
      <p:sp>
        <p:nvSpPr>
          <p:cNvPr id="8" name="Text 5"/>
          <p:cNvSpPr/>
          <p:nvPr/>
        </p:nvSpPr>
        <p:spPr>
          <a:xfrm>
            <a:off x="566928" y="3611880"/>
            <a:ext cx="8046720" cy="73152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Pytania, konsultacje, współpraca — piszcie śmiało. Powodzenia w budowaniu aplikacji AI!</a:t>
            </a:r>
            <a:endParaRPr lang="en-US" sz="1700" dirty="0"/>
          </a:p>
        </p:txBody>
      </p:sp>
      <p:sp>
        <p:nvSpPr>
          <p:cNvPr id="9" name="Text 6"/>
          <p:cNvSpPr/>
          <p:nvPr/>
        </p:nvSpPr>
        <p:spPr>
          <a:xfrm>
            <a:off x="566928" y="4572000"/>
            <a:ext cx="804672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Jakub Gajda · kubus.pospolitos@gmail.com · linkedin.com/in/jakub-g-5823b54/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107</Slides>
  <Notes>107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107</vt:i4>
      </vt:variant>
    </vt:vector>
  </HeadingPairs>
  <TitlesOfParts>
    <vt:vector size="11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Inżynieria Aplikacji AI i Agentów LLM</dc:title>
  <dc:subject>PptxGenJS Presentation</dc:subject>
  <dc:creator>Jakub Gajda</dc:creator>
  <cp:lastModifiedBy>Jakub Gajda</cp:lastModifiedBy>
  <cp:revision>1</cp:revision>
  <dcterms:created xsi:type="dcterms:W3CDTF">2026-06-16T12:41:15Z</dcterms:created>
  <dcterms:modified xsi:type="dcterms:W3CDTF">2026-06-16T12:41:15Z</dcterms:modified>
</cp:coreProperties>
</file>